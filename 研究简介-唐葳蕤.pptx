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
  </p:notesMasterIdLst>
  <p:sldIdLst>
    <p:sldId id="440" r:id="rId2"/>
  </p:sldIdLst>
  <p:sldSz cx="12192000" cy="6858000"/>
  <p:notesSz cx="6858000" cy="9144000"/>
  <p:custDataLst>
    <p:tags r:id="rId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85"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E3F0"/>
    <a:srgbClr val="0071BD"/>
    <a:srgbClr val="1C4885"/>
    <a:srgbClr val="20B3A1"/>
    <a:srgbClr val="D642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中度样式 3 - 强调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238"/>
    <p:restoredTop sz="94685"/>
  </p:normalViewPr>
  <p:slideViewPr>
    <p:cSldViewPr snapToGrid="0">
      <p:cViewPr varScale="1">
        <p:scale>
          <a:sx n="112" d="100"/>
          <a:sy n="112" d="100"/>
        </p:scale>
        <p:origin x="96" y="196"/>
      </p:cViewPr>
      <p:guideLst>
        <p:guide orient="horz" pos="1185"/>
        <p:guide pos="3863"/>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8B725A-BFDD-44D0-A8D3-61766B07B7F1}" type="datetimeFigureOut">
              <a:rPr lang="zh-CN" altLang="en-US" smtClean="0"/>
              <a:t>2026/6/20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BCC932-0C1F-4C94-8B9A-3944ABBB4E30}" type="slidenum">
              <a:rPr lang="zh-CN" altLang="en-US" smtClean="0"/>
              <a:t>‹#›</a:t>
            </a:fld>
            <a:endParaRPr lang="zh-CN" altLang="en-US"/>
          </a:p>
        </p:txBody>
      </p:sp>
    </p:spTree>
    <p:extLst>
      <p:ext uri="{BB962C8B-B14F-4D97-AF65-F5344CB8AC3E}">
        <p14:creationId xmlns:p14="http://schemas.microsoft.com/office/powerpoint/2010/main" val="2947105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A7933-9FAE-227C-BB03-C0930E0B11A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4088233-F69A-3620-8C51-99A2A295534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4D2D688-B04E-01A6-3B4E-A545FE36B5C9}"/>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C0786AC9-5910-8D1F-44CD-E141BCFDD32F}"/>
              </a:ext>
            </a:extLst>
          </p:cNvPr>
          <p:cNvSpPr>
            <a:spLocks noGrp="1"/>
          </p:cNvSpPr>
          <p:nvPr>
            <p:ph type="sldNum" sz="quarter" idx="10"/>
          </p:nvPr>
        </p:nvSpPr>
        <p:spPr/>
        <p:txBody>
          <a:bodyPr/>
          <a:lstStyle/>
          <a:p>
            <a:fld id="{B9BCC932-0C1F-4C94-8B9A-3944ABBB4E30}" type="slidenum">
              <a:rPr lang="zh-CN" altLang="en-US" smtClean="0"/>
              <a:t>1</a:t>
            </a:fld>
            <a:endParaRPr lang="zh-CN" altLang="en-US"/>
          </a:p>
        </p:txBody>
      </p:sp>
    </p:spTree>
    <p:extLst>
      <p:ext uri="{BB962C8B-B14F-4D97-AF65-F5344CB8AC3E}">
        <p14:creationId xmlns:p14="http://schemas.microsoft.com/office/powerpoint/2010/main" val="15828213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a:xfrm>
            <a:off x="0" y="6492875"/>
            <a:ext cx="2743200" cy="365125"/>
          </a:xfrm>
        </p:spPr>
        <p:txBody>
          <a:bodyPr/>
          <a:lstStyle/>
          <a:p>
            <a:fld id="{C41B1F88-EAB1-E443-BF0A-2F418D313027}" type="datetime1">
              <a:rPr lang="zh-CN" altLang="en-US" smtClean="0"/>
              <a:t>2026/6/20</a:t>
            </a:fld>
            <a:endParaRPr lang="zh-CN" altLang="en-US"/>
          </a:p>
        </p:txBody>
      </p:sp>
      <p:sp>
        <p:nvSpPr>
          <p:cNvPr id="5" name="页脚占位符 4"/>
          <p:cNvSpPr>
            <a:spLocks noGrp="1"/>
          </p:cNvSpPr>
          <p:nvPr>
            <p:ph type="ftr" sz="quarter" idx="11"/>
          </p:nvPr>
        </p:nvSpPr>
        <p:spPr>
          <a:xfrm>
            <a:off x="4038600" y="6492874"/>
            <a:ext cx="4114800" cy="365125"/>
          </a:xfrm>
        </p:spPr>
        <p:txBody>
          <a:bodyPr/>
          <a:lstStyle/>
          <a:p>
            <a:endParaRPr lang="zh-CN" altLang="en-US"/>
          </a:p>
        </p:txBody>
      </p:sp>
      <p:sp>
        <p:nvSpPr>
          <p:cNvPr id="6" name="灯片编号占位符 5"/>
          <p:cNvSpPr>
            <a:spLocks noGrp="1"/>
          </p:cNvSpPr>
          <p:nvPr>
            <p:ph type="sldNum" sz="quarter" idx="12"/>
          </p:nvPr>
        </p:nvSpPr>
        <p:spPr/>
        <p:txBody>
          <a:bodyPr/>
          <a:lstStyle/>
          <a:p>
            <a:fld id="{F46799FB-52B8-4698-BECF-01ADD9E846BE}" type="slidenum">
              <a:rPr lang="zh-CN" altLang="en-US" smtClean="0"/>
              <a:t>‹#›</a:t>
            </a:fld>
            <a:endParaRPr lang="zh-CN" altLang="en-US"/>
          </a:p>
        </p:txBody>
      </p:sp>
    </p:spTree>
    <p:extLst>
      <p:ext uri="{BB962C8B-B14F-4D97-AF65-F5344CB8AC3E}">
        <p14:creationId xmlns:p14="http://schemas.microsoft.com/office/powerpoint/2010/main" val="2155440255"/>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36EA45E4-1365-8B70-2EC7-17DA64EEBC73}"/>
              </a:ext>
            </a:extLst>
          </p:cNvPr>
          <p:cNvSpPr/>
          <p:nvPr userDrawn="1"/>
        </p:nvSpPr>
        <p:spPr>
          <a:xfrm>
            <a:off x="0" y="0"/>
            <a:ext cx="12192000" cy="622810"/>
          </a:xfrm>
          <a:prstGeom prst="rect">
            <a:avLst/>
          </a:prstGeom>
          <a:solidFill>
            <a:srgbClr val="0071BD"/>
          </a:solidFill>
          <a:ln w="762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2" name="标题 1"/>
          <p:cNvSpPr>
            <a:spLocks noGrp="1"/>
          </p:cNvSpPr>
          <p:nvPr>
            <p:ph type="title"/>
          </p:nvPr>
        </p:nvSpPr>
        <p:spPr>
          <a:xfrm>
            <a:off x="304800" y="15299"/>
            <a:ext cx="9445727" cy="604800"/>
          </a:xfrm>
          <a:solidFill>
            <a:srgbClr val="0071BD"/>
          </a:solidFill>
          <a:ln>
            <a:noFill/>
          </a:ln>
        </p:spPr>
        <p:txBody>
          <a:bodyPr wrap="square" rtlCol="0" anchor="ctr" anchorCtr="0">
            <a:noAutofit/>
          </a:bodyPr>
          <a:lstStyle>
            <a:lvl1pPr>
              <a:defRPr lang="zh-CN" altLang="en-US" sz="2400" b="1" dirty="0">
                <a:solidFill>
                  <a:schemeClr val="bg1"/>
                </a:solidFill>
                <a:latin typeface="+mj-ea"/>
                <a:cs typeface="+mn-ea"/>
              </a:defRPr>
            </a:lvl1pPr>
          </a:lstStyle>
          <a:p>
            <a:pPr marL="0" lvl="0"/>
            <a:r>
              <a:rPr lang="zh-CN" altLang="en-US" dirty="0"/>
              <a:t>单击此处编辑母版标题样式</a:t>
            </a:r>
          </a:p>
        </p:txBody>
      </p:sp>
      <p:sp>
        <p:nvSpPr>
          <p:cNvPr id="3" name="内容占位符 2"/>
          <p:cNvSpPr>
            <a:spLocks noGrp="1"/>
          </p:cNvSpPr>
          <p:nvPr>
            <p:ph idx="1"/>
          </p:nvPr>
        </p:nvSpPr>
        <p:spPr>
          <a:xfrm>
            <a:off x="304800" y="804544"/>
            <a:ext cx="11541760" cy="5545456"/>
          </a:xfrm>
        </p:spPr>
        <p:txBody>
          <a:bodyPr/>
          <a:lstStyle>
            <a:lvl1pPr>
              <a:lnSpc>
                <a:spcPct val="120000"/>
              </a:lnSpc>
              <a:defRPr sz="2000" b="1">
                <a:solidFill>
                  <a:schemeClr val="accent5"/>
                </a:solidFill>
              </a:defRPr>
            </a:lvl1pPr>
            <a:lvl2pPr>
              <a:lnSpc>
                <a:spcPct val="120000"/>
              </a:lnSpc>
              <a:defRPr sz="1800"/>
            </a:lvl2pPr>
            <a:lvl3pPr>
              <a:lnSpc>
                <a:spcPct val="120000"/>
              </a:lnSpc>
              <a:defRPr sz="1800"/>
            </a:lvl3pPr>
            <a:lvl4pPr>
              <a:lnSpc>
                <a:spcPct val="120000"/>
              </a:lnSpc>
              <a:defRPr sz="1800"/>
            </a:lvl4pPr>
            <a:lvl5pPr>
              <a:lnSpc>
                <a:spcPct val="120000"/>
              </a:lnSpc>
              <a:defRPr sz="1800"/>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pic>
        <p:nvPicPr>
          <p:cNvPr id="12" name="图片 11" descr="图层 5">
            <a:extLst>
              <a:ext uri="{FF2B5EF4-FFF2-40B4-BE49-F238E27FC236}">
                <a16:creationId xmlns:a16="http://schemas.microsoft.com/office/drawing/2014/main" id="{160A6D67-4EB2-14A5-3AA0-976718FF2CCE}"/>
              </a:ext>
            </a:extLst>
          </p:cNvPr>
          <p:cNvPicPr>
            <a:picLocks noChangeAspect="1"/>
          </p:cNvPicPr>
          <p:nvPr userDrawn="1"/>
        </p:nvPicPr>
        <p:blipFill>
          <a:blip r:embed="rId2"/>
          <a:stretch>
            <a:fillRect/>
          </a:stretch>
        </p:blipFill>
        <p:spPr>
          <a:xfrm>
            <a:off x="10820400" y="0"/>
            <a:ext cx="1302304" cy="559081"/>
          </a:xfrm>
          <a:prstGeom prst="rect">
            <a:avLst/>
          </a:prstGeom>
          <a:effectLst>
            <a:outerShdw blurRad="50800" dist="38100" dir="2700000" algn="tl" rotWithShape="0">
              <a:prstClr val="black">
                <a:alpha val="40000"/>
              </a:prstClr>
            </a:outerShdw>
          </a:effectLst>
        </p:spPr>
      </p:pic>
      <p:pic>
        <p:nvPicPr>
          <p:cNvPr id="13" name="Picture 5" descr="ices logo">
            <a:extLst>
              <a:ext uri="{FF2B5EF4-FFF2-40B4-BE49-F238E27FC236}">
                <a16:creationId xmlns:a16="http://schemas.microsoft.com/office/drawing/2014/main" id="{7FCB4CF6-D269-87B7-3010-F322D62BEC27}"/>
              </a:ext>
            </a:extLst>
          </p:cNvPr>
          <p:cNvPicPr>
            <a:picLocks noChangeAspect="1" noChangeArrowheads="1"/>
          </p:cNvPicPr>
          <p:nvPr userDrawn="1"/>
        </p:nvPicPr>
        <p:blipFill>
          <a:blip r:embed="rId3">
            <a:alphaModFix/>
            <a:extLst>
              <a:ext uri="{28A0092B-C50C-407E-A947-70E740481C1C}">
                <a14:useLocalDpi xmlns:a14="http://schemas.microsoft.com/office/drawing/2010/main" val="0"/>
              </a:ext>
            </a:extLst>
          </a:blip>
          <a:srcRect/>
          <a:stretch>
            <a:fillRect/>
          </a:stretch>
        </p:blipFill>
        <p:spPr bwMode="auto">
          <a:xfrm>
            <a:off x="10699085" y="6053456"/>
            <a:ext cx="1544934" cy="791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51981102"/>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46116130-67BC-AD45-939C-7E14CA10CD52}" type="datetime1">
              <a:rPr lang="zh-CN" altLang="en-US" smtClean="0"/>
              <a:t>2026/6/20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46799FB-52B8-4698-BECF-01ADD9E846BE}" type="slidenum">
              <a:rPr lang="zh-CN" altLang="en-US" smtClean="0"/>
              <a:t>‹#›</a:t>
            </a:fld>
            <a:endParaRPr lang="zh-CN" altLang="en-US"/>
          </a:p>
        </p:txBody>
      </p:sp>
    </p:spTree>
    <p:extLst>
      <p:ext uri="{BB962C8B-B14F-4D97-AF65-F5344CB8AC3E}">
        <p14:creationId xmlns:p14="http://schemas.microsoft.com/office/powerpoint/2010/main" val="2496556029"/>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A8FD7F0B-A96C-9F49-B58D-FD3FD239C21F}" type="datetime1">
              <a:rPr lang="zh-CN" altLang="en-US" smtClean="0"/>
              <a:t>2026/6/20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46799FB-52B8-4698-BECF-01ADD9E846BE}" type="slidenum">
              <a:rPr lang="zh-CN" altLang="en-US" smtClean="0"/>
              <a:t>‹#›</a:t>
            </a:fld>
            <a:endParaRPr lang="zh-CN" altLang="en-US"/>
          </a:p>
        </p:txBody>
      </p:sp>
    </p:spTree>
    <p:extLst>
      <p:ext uri="{BB962C8B-B14F-4D97-AF65-F5344CB8AC3E}">
        <p14:creationId xmlns:p14="http://schemas.microsoft.com/office/powerpoint/2010/main" val="300992857"/>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1" name="矩形 10"/>
          <p:cNvSpPr/>
          <p:nvPr userDrawn="1"/>
        </p:nvSpPr>
        <p:spPr>
          <a:xfrm>
            <a:off x="8325228" y="4544096"/>
            <a:ext cx="775136" cy="230832"/>
          </a:xfrm>
          <a:prstGeom prst="rect">
            <a:avLst/>
          </a:prstGeom>
        </p:spPr>
        <p:txBody>
          <a:bodyPr wrap="square">
            <a:spAutoFit/>
          </a:bodyPr>
          <a:lstStyle/>
          <a:p>
            <a:r>
              <a:rPr lang="en-US" altLang="zh-CN" sz="100">
                <a:solidFill>
                  <a:prstClr val="white"/>
                </a:solidFill>
                <a:latin typeface="Calibri"/>
                <a:ea typeface="宋体"/>
              </a:rPr>
              <a:t>PPT</a:t>
            </a:r>
            <a:r>
              <a:rPr lang="zh-CN" altLang="en-US" sz="100">
                <a:solidFill>
                  <a:prstClr val="white"/>
                </a:solidFill>
                <a:latin typeface="Calibri"/>
                <a:ea typeface="宋体"/>
              </a:rPr>
              <a:t>模板下载：</a:t>
            </a:r>
            <a:r>
              <a:rPr lang="en-US" altLang="zh-CN" sz="100">
                <a:solidFill>
                  <a:prstClr val="white"/>
                </a:solidFill>
                <a:latin typeface="Calibri"/>
                <a:ea typeface="宋体"/>
              </a:rPr>
              <a:t>www.1ppt.com/moban/          </a:t>
            </a:r>
            <a:r>
              <a:rPr lang="zh-CN" altLang="en-US" sz="100">
                <a:solidFill>
                  <a:prstClr val="white"/>
                </a:solidFill>
                <a:latin typeface="Calibri"/>
                <a:ea typeface="宋体"/>
              </a:rPr>
              <a:t>行业</a:t>
            </a:r>
            <a:r>
              <a:rPr lang="en-US" altLang="zh-CN" sz="100">
                <a:solidFill>
                  <a:prstClr val="white"/>
                </a:solidFill>
                <a:latin typeface="Calibri"/>
                <a:ea typeface="宋体"/>
              </a:rPr>
              <a:t>PPT</a:t>
            </a:r>
            <a:r>
              <a:rPr lang="zh-CN" altLang="en-US" sz="100">
                <a:solidFill>
                  <a:prstClr val="white"/>
                </a:solidFill>
                <a:latin typeface="Calibri"/>
                <a:ea typeface="宋体"/>
              </a:rPr>
              <a:t>模板：</a:t>
            </a:r>
            <a:r>
              <a:rPr lang="en-US" altLang="zh-CN" sz="100">
                <a:solidFill>
                  <a:prstClr val="white"/>
                </a:solidFill>
                <a:latin typeface="Calibri"/>
                <a:ea typeface="宋体"/>
              </a:rPr>
              <a:t>www.1ppt.com/hangye/ </a:t>
            </a:r>
          </a:p>
          <a:p>
            <a:r>
              <a:rPr lang="zh-CN" altLang="en-US" sz="100">
                <a:solidFill>
                  <a:prstClr val="white"/>
                </a:solidFill>
                <a:latin typeface="Calibri"/>
                <a:ea typeface="宋体"/>
              </a:rPr>
              <a:t>节日</a:t>
            </a:r>
            <a:r>
              <a:rPr lang="en-US" altLang="zh-CN" sz="100">
                <a:solidFill>
                  <a:prstClr val="white"/>
                </a:solidFill>
                <a:latin typeface="Calibri"/>
                <a:ea typeface="宋体"/>
              </a:rPr>
              <a:t>PPT</a:t>
            </a:r>
            <a:r>
              <a:rPr lang="zh-CN" altLang="en-US" sz="100">
                <a:solidFill>
                  <a:prstClr val="white"/>
                </a:solidFill>
                <a:latin typeface="Calibri"/>
                <a:ea typeface="宋体"/>
              </a:rPr>
              <a:t>模板：</a:t>
            </a:r>
            <a:r>
              <a:rPr lang="en-US" altLang="zh-CN" sz="100">
                <a:solidFill>
                  <a:prstClr val="white"/>
                </a:solidFill>
                <a:latin typeface="Calibri"/>
                <a:ea typeface="宋体"/>
              </a:rPr>
              <a:t>www.1ppt.com/jieri/          PPT</a:t>
            </a:r>
            <a:r>
              <a:rPr lang="zh-CN" altLang="en-US" sz="100">
                <a:solidFill>
                  <a:prstClr val="white"/>
                </a:solidFill>
                <a:latin typeface="Calibri"/>
                <a:ea typeface="宋体"/>
              </a:rPr>
              <a:t>素材：</a:t>
            </a:r>
            <a:r>
              <a:rPr lang="en-US" altLang="zh-CN" sz="100">
                <a:solidFill>
                  <a:prstClr val="white"/>
                </a:solidFill>
                <a:latin typeface="Calibri"/>
                <a:ea typeface="宋体"/>
              </a:rPr>
              <a:t>www.1ppt.com/sucai/</a:t>
            </a:r>
          </a:p>
          <a:p>
            <a:r>
              <a:rPr lang="en-US" altLang="zh-CN" sz="100">
                <a:solidFill>
                  <a:prstClr val="white"/>
                </a:solidFill>
                <a:latin typeface="Calibri"/>
                <a:ea typeface="宋体"/>
              </a:rPr>
              <a:t>PPT</a:t>
            </a:r>
            <a:r>
              <a:rPr lang="zh-CN" altLang="en-US" sz="100">
                <a:solidFill>
                  <a:prstClr val="white"/>
                </a:solidFill>
                <a:latin typeface="Calibri"/>
                <a:ea typeface="宋体"/>
              </a:rPr>
              <a:t>背景图片：</a:t>
            </a:r>
            <a:r>
              <a:rPr lang="en-US" altLang="zh-CN" sz="100">
                <a:solidFill>
                  <a:prstClr val="white"/>
                </a:solidFill>
                <a:latin typeface="Calibri"/>
                <a:ea typeface="宋体"/>
              </a:rPr>
              <a:t>www.1ppt.com/beijing/        PPT</a:t>
            </a:r>
            <a:r>
              <a:rPr lang="zh-CN" altLang="en-US" sz="100">
                <a:solidFill>
                  <a:prstClr val="white"/>
                </a:solidFill>
                <a:latin typeface="Calibri"/>
                <a:ea typeface="宋体"/>
              </a:rPr>
              <a:t>图表：</a:t>
            </a:r>
            <a:r>
              <a:rPr lang="en-US" altLang="zh-CN" sz="100">
                <a:solidFill>
                  <a:prstClr val="white"/>
                </a:solidFill>
                <a:latin typeface="Calibri"/>
                <a:ea typeface="宋体"/>
              </a:rPr>
              <a:t>www.1ppt.com/tubiao/      </a:t>
            </a:r>
          </a:p>
          <a:p>
            <a:r>
              <a:rPr lang="zh-CN" altLang="en-US" sz="100">
                <a:solidFill>
                  <a:prstClr val="white"/>
                </a:solidFill>
                <a:latin typeface="Calibri"/>
                <a:ea typeface="宋体"/>
              </a:rPr>
              <a:t>精美</a:t>
            </a:r>
            <a:r>
              <a:rPr lang="en-US" altLang="zh-CN" sz="100">
                <a:solidFill>
                  <a:prstClr val="white"/>
                </a:solidFill>
                <a:latin typeface="Calibri"/>
                <a:ea typeface="宋体"/>
              </a:rPr>
              <a:t>PPT</a:t>
            </a:r>
            <a:r>
              <a:rPr lang="zh-CN" altLang="en-US" sz="100">
                <a:solidFill>
                  <a:prstClr val="white"/>
                </a:solidFill>
                <a:latin typeface="Calibri"/>
                <a:ea typeface="宋体"/>
              </a:rPr>
              <a:t>下载：</a:t>
            </a:r>
            <a:r>
              <a:rPr lang="en-US" altLang="zh-CN" sz="100">
                <a:solidFill>
                  <a:prstClr val="white"/>
                </a:solidFill>
                <a:latin typeface="Calibri"/>
                <a:ea typeface="宋体"/>
              </a:rPr>
              <a:t>www.1ppt.com/xiazai/         PPT</a:t>
            </a:r>
            <a:r>
              <a:rPr lang="zh-CN" altLang="en-US" sz="100">
                <a:solidFill>
                  <a:prstClr val="white"/>
                </a:solidFill>
                <a:latin typeface="Calibri"/>
                <a:ea typeface="宋体"/>
              </a:rPr>
              <a:t>教程： </a:t>
            </a:r>
            <a:r>
              <a:rPr lang="en-US" altLang="zh-CN" sz="100">
                <a:solidFill>
                  <a:prstClr val="white"/>
                </a:solidFill>
                <a:latin typeface="Calibri"/>
                <a:ea typeface="宋体"/>
              </a:rPr>
              <a:t>www.1ppt.com/powerpoint/      </a:t>
            </a:r>
          </a:p>
          <a:p>
            <a:r>
              <a:rPr lang="en-US" altLang="zh-CN" sz="100">
                <a:solidFill>
                  <a:prstClr val="white"/>
                </a:solidFill>
                <a:latin typeface="Calibri"/>
                <a:ea typeface="宋体"/>
              </a:rPr>
              <a:t>PPT</a:t>
            </a:r>
            <a:r>
              <a:rPr lang="zh-CN" altLang="en-US" sz="100">
                <a:solidFill>
                  <a:prstClr val="white"/>
                </a:solidFill>
                <a:latin typeface="Calibri"/>
                <a:ea typeface="宋体"/>
              </a:rPr>
              <a:t>课件：</a:t>
            </a:r>
            <a:r>
              <a:rPr lang="en-US" altLang="zh-CN" sz="100">
                <a:solidFill>
                  <a:prstClr val="white"/>
                </a:solidFill>
                <a:latin typeface="Calibri"/>
                <a:ea typeface="宋体"/>
              </a:rPr>
              <a:t>www.1ppt.com/kejian/             </a:t>
            </a:r>
            <a:r>
              <a:rPr lang="zh-CN" altLang="en-US" sz="100">
                <a:solidFill>
                  <a:prstClr val="white"/>
                </a:solidFill>
                <a:latin typeface="Calibri"/>
                <a:ea typeface="宋体"/>
              </a:rPr>
              <a:t>字体下载：</a:t>
            </a:r>
            <a:r>
              <a:rPr lang="en-US" altLang="zh-CN" sz="100">
                <a:solidFill>
                  <a:prstClr val="white"/>
                </a:solidFill>
                <a:latin typeface="Calibri"/>
                <a:ea typeface="宋体"/>
              </a:rPr>
              <a:t>www.1ppt.com/ziti/</a:t>
            </a:r>
          </a:p>
          <a:p>
            <a:r>
              <a:rPr lang="zh-CN" altLang="en-US" sz="100">
                <a:solidFill>
                  <a:prstClr val="white"/>
                </a:solidFill>
                <a:latin typeface="Calibri"/>
                <a:ea typeface="宋体"/>
              </a:rPr>
              <a:t>工作总结</a:t>
            </a:r>
            <a:r>
              <a:rPr lang="en-US" altLang="zh-CN" sz="100">
                <a:solidFill>
                  <a:prstClr val="white"/>
                </a:solidFill>
                <a:latin typeface="Calibri"/>
                <a:ea typeface="宋体"/>
              </a:rPr>
              <a:t>PPT</a:t>
            </a:r>
            <a:r>
              <a:rPr lang="zh-CN" altLang="en-US" sz="100">
                <a:solidFill>
                  <a:prstClr val="white"/>
                </a:solidFill>
                <a:latin typeface="Calibri"/>
                <a:ea typeface="宋体"/>
              </a:rPr>
              <a:t>：</a:t>
            </a:r>
            <a:r>
              <a:rPr lang="en-US" altLang="zh-CN" sz="100">
                <a:solidFill>
                  <a:prstClr val="white"/>
                </a:solidFill>
                <a:latin typeface="Calibri"/>
                <a:ea typeface="宋体"/>
              </a:rPr>
              <a:t>www.1ppt.com/xiazai/zongjie/ </a:t>
            </a:r>
            <a:r>
              <a:rPr lang="zh-CN" altLang="en-US" sz="100">
                <a:solidFill>
                  <a:prstClr val="white"/>
                </a:solidFill>
                <a:latin typeface="Calibri"/>
                <a:ea typeface="宋体"/>
              </a:rPr>
              <a:t>工作计划：</a:t>
            </a:r>
            <a:r>
              <a:rPr lang="en-US" altLang="zh-CN" sz="100">
                <a:solidFill>
                  <a:prstClr val="white"/>
                </a:solidFill>
                <a:latin typeface="Calibri"/>
                <a:ea typeface="宋体"/>
              </a:rPr>
              <a:t>www.1ppt.com/xiazai/jihua/</a:t>
            </a:r>
          </a:p>
          <a:p>
            <a:r>
              <a:rPr lang="zh-CN" altLang="en-US" sz="100">
                <a:solidFill>
                  <a:prstClr val="white"/>
                </a:solidFill>
                <a:latin typeface="Calibri"/>
                <a:ea typeface="宋体"/>
              </a:rPr>
              <a:t>商务</a:t>
            </a:r>
            <a:r>
              <a:rPr lang="en-US" altLang="zh-CN" sz="100">
                <a:solidFill>
                  <a:prstClr val="white"/>
                </a:solidFill>
                <a:latin typeface="Calibri"/>
                <a:ea typeface="宋体"/>
              </a:rPr>
              <a:t>PPT</a:t>
            </a:r>
            <a:r>
              <a:rPr lang="zh-CN" altLang="en-US" sz="100">
                <a:solidFill>
                  <a:prstClr val="white"/>
                </a:solidFill>
                <a:latin typeface="Calibri"/>
                <a:ea typeface="宋体"/>
              </a:rPr>
              <a:t>模板：</a:t>
            </a:r>
            <a:r>
              <a:rPr lang="en-US" altLang="zh-CN" sz="100">
                <a:solidFill>
                  <a:prstClr val="white"/>
                </a:solidFill>
                <a:latin typeface="Calibri"/>
                <a:ea typeface="宋体"/>
              </a:rPr>
              <a:t>www.1ppt.com/moban/shangwu/  </a:t>
            </a:r>
            <a:r>
              <a:rPr lang="zh-CN" altLang="en-US" sz="100">
                <a:solidFill>
                  <a:prstClr val="white"/>
                </a:solidFill>
                <a:latin typeface="Calibri"/>
                <a:ea typeface="宋体"/>
              </a:rPr>
              <a:t>个人简历</a:t>
            </a:r>
            <a:r>
              <a:rPr lang="en-US" altLang="zh-CN" sz="100">
                <a:solidFill>
                  <a:prstClr val="white"/>
                </a:solidFill>
                <a:latin typeface="Calibri"/>
                <a:ea typeface="宋体"/>
              </a:rPr>
              <a:t>PPT</a:t>
            </a:r>
            <a:r>
              <a:rPr lang="zh-CN" altLang="en-US" sz="100">
                <a:solidFill>
                  <a:prstClr val="white"/>
                </a:solidFill>
                <a:latin typeface="Calibri"/>
                <a:ea typeface="宋体"/>
              </a:rPr>
              <a:t>：</a:t>
            </a:r>
            <a:r>
              <a:rPr lang="en-US" altLang="zh-CN" sz="100">
                <a:solidFill>
                  <a:prstClr val="white"/>
                </a:solidFill>
                <a:latin typeface="Calibri"/>
                <a:ea typeface="宋体"/>
              </a:rPr>
              <a:t>www.1ppt.com/xiazai/jianli/  </a:t>
            </a:r>
          </a:p>
          <a:p>
            <a:r>
              <a:rPr lang="zh-CN" altLang="en-US" sz="100">
                <a:solidFill>
                  <a:prstClr val="white"/>
                </a:solidFill>
                <a:latin typeface="Calibri"/>
                <a:ea typeface="宋体"/>
              </a:rPr>
              <a:t>毕业答辩</a:t>
            </a:r>
            <a:r>
              <a:rPr lang="en-US" altLang="zh-CN" sz="100">
                <a:solidFill>
                  <a:prstClr val="white"/>
                </a:solidFill>
                <a:latin typeface="Calibri"/>
                <a:ea typeface="宋体"/>
              </a:rPr>
              <a:t>PPT</a:t>
            </a:r>
            <a:r>
              <a:rPr lang="zh-CN" altLang="en-US" sz="100">
                <a:solidFill>
                  <a:prstClr val="white"/>
                </a:solidFill>
                <a:latin typeface="Calibri"/>
                <a:ea typeface="宋体"/>
              </a:rPr>
              <a:t>：</a:t>
            </a:r>
            <a:r>
              <a:rPr lang="en-US" altLang="zh-CN" sz="100">
                <a:solidFill>
                  <a:prstClr val="white"/>
                </a:solidFill>
                <a:latin typeface="Calibri"/>
                <a:ea typeface="宋体"/>
              </a:rPr>
              <a:t>www.1ppt.com/xiazai/dabian/  </a:t>
            </a:r>
            <a:r>
              <a:rPr lang="zh-CN" altLang="en-US" sz="100">
                <a:solidFill>
                  <a:prstClr val="white"/>
                </a:solidFill>
                <a:latin typeface="Calibri"/>
                <a:ea typeface="宋体"/>
              </a:rPr>
              <a:t>工作汇报</a:t>
            </a:r>
            <a:r>
              <a:rPr lang="en-US" altLang="zh-CN" sz="100">
                <a:solidFill>
                  <a:prstClr val="white"/>
                </a:solidFill>
                <a:latin typeface="Calibri"/>
                <a:ea typeface="宋体"/>
              </a:rPr>
              <a:t>PPT</a:t>
            </a:r>
            <a:r>
              <a:rPr lang="zh-CN" altLang="en-US" sz="100">
                <a:solidFill>
                  <a:prstClr val="white"/>
                </a:solidFill>
                <a:latin typeface="Calibri"/>
                <a:ea typeface="宋体"/>
              </a:rPr>
              <a:t>：</a:t>
            </a:r>
            <a:r>
              <a:rPr lang="en-US" altLang="zh-CN" sz="100">
                <a:solidFill>
                  <a:prstClr val="white"/>
                </a:solidFill>
                <a:latin typeface="Calibri"/>
                <a:ea typeface="宋体"/>
              </a:rPr>
              <a:t>www.1ppt.com/xiazai/huibao/    </a:t>
            </a:r>
          </a:p>
          <a:p>
            <a:r>
              <a:rPr lang="en-US" altLang="zh-CN" sz="100">
                <a:solidFill>
                  <a:prstClr val="white"/>
                </a:solidFill>
                <a:latin typeface="Calibri"/>
                <a:ea typeface="宋体"/>
              </a:rPr>
              <a:t> </a:t>
            </a:r>
          </a:p>
        </p:txBody>
      </p:sp>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904BC61-538F-E446-9358-E5E15226B7A7}" type="datetime1">
              <a:rPr lang="zh-CN" altLang="en-US" smtClean="0"/>
              <a:t>2026/6/20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46799FB-52B8-4698-BECF-01ADD9E846BE}" type="slidenum">
              <a:rPr lang="zh-CN" altLang="en-US" smtClean="0"/>
              <a:t>‹#›</a:t>
            </a:fld>
            <a:endParaRPr lang="zh-CN" altLang="en-US"/>
          </a:p>
        </p:txBody>
      </p:sp>
    </p:spTree>
    <p:extLst>
      <p:ext uri="{BB962C8B-B14F-4D97-AF65-F5344CB8AC3E}">
        <p14:creationId xmlns:p14="http://schemas.microsoft.com/office/powerpoint/2010/main" val="3696548795"/>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BC43DB7-D1D0-6740-AD98-0F0196548009}" type="datetime1">
              <a:rPr lang="zh-CN" altLang="en-US" smtClean="0"/>
              <a:t>2026/6/20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46799FB-52B8-4698-BECF-01ADD9E846BE}" type="slidenum">
              <a:rPr lang="zh-CN" altLang="en-US" smtClean="0"/>
              <a:t>‹#›</a:t>
            </a:fld>
            <a:endParaRPr lang="zh-CN" altLang="en-US"/>
          </a:p>
        </p:txBody>
      </p:sp>
    </p:spTree>
    <p:extLst>
      <p:ext uri="{BB962C8B-B14F-4D97-AF65-F5344CB8AC3E}">
        <p14:creationId xmlns:p14="http://schemas.microsoft.com/office/powerpoint/2010/main" val="3987785369"/>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E704C9-C000-0D40-B0BC-7EE1C6658164}" type="datetime1">
              <a:rPr lang="zh-CN" altLang="en-US" smtClean="0"/>
              <a:t>2026/6/20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46799FB-52B8-4698-BECF-01ADD9E846BE}" type="slidenum">
              <a:rPr lang="zh-CN" altLang="en-US" smtClean="0"/>
              <a:t>‹#›</a:t>
            </a:fld>
            <a:endParaRPr lang="zh-CN" altLang="en-US"/>
          </a:p>
        </p:txBody>
      </p:sp>
    </p:spTree>
    <p:extLst>
      <p:ext uri="{BB962C8B-B14F-4D97-AF65-F5344CB8AC3E}">
        <p14:creationId xmlns:p14="http://schemas.microsoft.com/office/powerpoint/2010/main" val="1380765298"/>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C7E75A5E-3423-EA44-B594-686F175511FD}" type="datetime1">
              <a:rPr lang="zh-CN" altLang="en-US" smtClean="0"/>
              <a:t>2026/6/20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46799FB-52B8-4698-BECF-01ADD9E846BE}" type="slidenum">
              <a:rPr lang="zh-CN" altLang="en-US" smtClean="0"/>
              <a:t>‹#›</a:t>
            </a:fld>
            <a:endParaRPr lang="zh-CN" altLang="en-US"/>
          </a:p>
        </p:txBody>
      </p:sp>
    </p:spTree>
    <p:extLst>
      <p:ext uri="{BB962C8B-B14F-4D97-AF65-F5344CB8AC3E}">
        <p14:creationId xmlns:p14="http://schemas.microsoft.com/office/powerpoint/2010/main" val="1008421190"/>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5E4B0D24-81ED-9C46-B4A9-8507769EE818}" type="datetime1">
              <a:rPr lang="zh-CN" altLang="en-US" smtClean="0"/>
              <a:t>2026/6/20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46799FB-52B8-4698-BECF-01ADD9E846BE}" type="slidenum">
              <a:rPr lang="zh-CN" altLang="en-US" smtClean="0"/>
              <a:t>‹#›</a:t>
            </a:fld>
            <a:endParaRPr lang="zh-CN" altLang="en-US"/>
          </a:p>
        </p:txBody>
      </p:sp>
    </p:spTree>
    <p:extLst>
      <p:ext uri="{BB962C8B-B14F-4D97-AF65-F5344CB8AC3E}">
        <p14:creationId xmlns:p14="http://schemas.microsoft.com/office/powerpoint/2010/main" val="649586407"/>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60C3F1E-85EA-5643-90BE-CA5465B44791}" type="datetime1">
              <a:rPr lang="zh-CN" altLang="en-US" smtClean="0"/>
              <a:t>2026/6/20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46799FB-52B8-4698-BECF-01ADD9E846BE}" type="slidenum">
              <a:rPr lang="zh-CN" altLang="en-US" smtClean="0"/>
              <a:t>‹#›</a:t>
            </a:fld>
            <a:endParaRPr lang="zh-CN" altLang="en-US"/>
          </a:p>
        </p:txBody>
      </p:sp>
    </p:spTree>
    <p:extLst>
      <p:ext uri="{BB962C8B-B14F-4D97-AF65-F5344CB8AC3E}">
        <p14:creationId xmlns:p14="http://schemas.microsoft.com/office/powerpoint/2010/main" val="3956612616"/>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A13BAFF-AA5E-484C-91D9-CF89CE9925CB}" type="datetime1">
              <a:rPr lang="zh-CN" altLang="en-US" smtClean="0"/>
              <a:t>2026/6/20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46799FB-52B8-4698-BECF-01ADD9E846BE}" type="slidenum">
              <a:rPr lang="zh-CN" altLang="en-US" smtClean="0"/>
              <a:t>‹#›</a:t>
            </a:fld>
            <a:endParaRPr lang="zh-CN" altLang="en-US"/>
          </a:p>
        </p:txBody>
      </p:sp>
    </p:spTree>
    <p:extLst>
      <p:ext uri="{BB962C8B-B14F-4D97-AF65-F5344CB8AC3E}">
        <p14:creationId xmlns:p14="http://schemas.microsoft.com/office/powerpoint/2010/main" val="1260705704"/>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948164-943F-C14A-AB7E-1061A1A3851C}" type="datetime1">
              <a:rPr lang="zh-CN" altLang="en-US" smtClean="0"/>
              <a:t>2026/6/20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448800" y="6493249"/>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6799FB-52B8-4698-BECF-01ADD9E846BE}" type="slidenum">
              <a:rPr lang="zh-CN" altLang="en-US" smtClean="0"/>
              <a:t>‹#›</a:t>
            </a:fld>
            <a:endParaRPr lang="zh-CN" altLang="en-US"/>
          </a:p>
        </p:txBody>
      </p:sp>
      <p:pic>
        <p:nvPicPr>
          <p:cNvPr id="7" name="Picture 2" descr="查看图片">
            <a:extLst>
              <a:ext uri="{FF2B5EF4-FFF2-40B4-BE49-F238E27FC236}">
                <a16:creationId xmlns:a16="http://schemas.microsoft.com/office/drawing/2014/main" id="{9EA5D862-68D7-ECA1-1545-C12350C65F8C}"/>
              </a:ext>
            </a:extLst>
          </p:cNvPr>
          <p:cNvPicPr>
            <a:picLocks noChangeAspect="1" noChangeArrowheads="1"/>
          </p:cNvPicPr>
          <p:nvPr userDrawn="1"/>
        </p:nvPicPr>
        <p:blipFill>
          <a:blip r:embed="rId13">
            <a:alphaModFix amt="28000"/>
            <a:extLst>
              <a:ext uri="{28A0092B-C50C-407E-A947-70E740481C1C}">
                <a14:useLocalDpi xmlns:a14="http://schemas.microsoft.com/office/drawing/2010/main" val="0"/>
              </a:ext>
            </a:extLst>
          </a:blip>
          <a:srcRect l="11528" r="3501" b="15736"/>
          <a:stretch>
            <a:fillRect/>
          </a:stretch>
        </p:blipFill>
        <p:spPr bwMode="auto">
          <a:xfrm>
            <a:off x="0" y="1"/>
            <a:ext cx="12192000"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68201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14:dur="0" advTm="3000"/>
    </mc:Choice>
    <mc:Fallback xmlns="">
      <p:transition advTm="3000"/>
    </mc:Fallback>
  </mc:AlternateConten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951AA-7034-4025-692F-BC8A054CF7AB}"/>
            </a:ext>
          </a:extLst>
        </p:cNvPr>
        <p:cNvGrpSpPr/>
        <p:nvPr/>
      </p:nvGrpSpPr>
      <p:grpSpPr>
        <a:xfrm>
          <a:off x="0" y="0"/>
          <a:ext cx="0" cy="0"/>
          <a:chOff x="0" y="0"/>
          <a:chExt cx="0" cy="0"/>
        </a:xfrm>
      </p:grpSpPr>
      <p:pic>
        <p:nvPicPr>
          <p:cNvPr id="4" name="图片 3" descr="图片包含 图示&#10;&#10;AI 生成的内容可能不正确。">
            <a:extLst>
              <a:ext uri="{FF2B5EF4-FFF2-40B4-BE49-F238E27FC236}">
                <a16:creationId xmlns:a16="http://schemas.microsoft.com/office/drawing/2014/main" id="{D11B8799-6E59-8C29-C314-E9D19E988B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6483" y="4879380"/>
            <a:ext cx="4363573" cy="1324914"/>
          </a:xfrm>
          <a:prstGeom prst="rect">
            <a:avLst/>
          </a:prstGeom>
        </p:spPr>
      </p:pic>
      <p:grpSp>
        <p:nvGrpSpPr>
          <p:cNvPr id="28" name="组合 27">
            <a:extLst>
              <a:ext uri="{FF2B5EF4-FFF2-40B4-BE49-F238E27FC236}">
                <a16:creationId xmlns:a16="http://schemas.microsoft.com/office/drawing/2014/main" id="{3A0B58C3-72DF-959A-3DF3-F8BEF3F0254D}"/>
              </a:ext>
            </a:extLst>
          </p:cNvPr>
          <p:cNvGrpSpPr/>
          <p:nvPr/>
        </p:nvGrpSpPr>
        <p:grpSpPr>
          <a:xfrm>
            <a:off x="9335880" y="3555100"/>
            <a:ext cx="2775276" cy="2195997"/>
            <a:chOff x="1149763" y="3289573"/>
            <a:chExt cx="2567372" cy="1113661"/>
          </a:xfrm>
        </p:grpSpPr>
        <p:sp>
          <p:nvSpPr>
            <p:cNvPr id="8" name="矩形 7">
              <a:extLst>
                <a:ext uri="{FF2B5EF4-FFF2-40B4-BE49-F238E27FC236}">
                  <a16:creationId xmlns:a16="http://schemas.microsoft.com/office/drawing/2014/main" id="{59661779-05DC-6355-1401-30A1B5E314B7}"/>
                </a:ext>
              </a:extLst>
            </p:cNvPr>
            <p:cNvSpPr/>
            <p:nvPr/>
          </p:nvSpPr>
          <p:spPr>
            <a:xfrm>
              <a:off x="1149764" y="3289573"/>
              <a:ext cx="805458" cy="167753"/>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cs typeface="+mn-ea"/>
                <a:sym typeface="+mn-lt"/>
              </a:endParaRPr>
            </a:p>
          </p:txBody>
        </p:sp>
        <p:sp>
          <p:nvSpPr>
            <p:cNvPr id="12" name="矩形 11">
              <a:extLst>
                <a:ext uri="{FF2B5EF4-FFF2-40B4-BE49-F238E27FC236}">
                  <a16:creationId xmlns:a16="http://schemas.microsoft.com/office/drawing/2014/main" id="{4F96CB17-DB8E-8CC7-1705-E54A563A918B}"/>
                </a:ext>
              </a:extLst>
            </p:cNvPr>
            <p:cNvSpPr/>
            <p:nvPr/>
          </p:nvSpPr>
          <p:spPr>
            <a:xfrm>
              <a:off x="1149763" y="3385992"/>
              <a:ext cx="2520835" cy="101724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cs typeface="+mn-ea"/>
                <a:sym typeface="+mn-lt"/>
              </a:endParaRPr>
            </a:p>
          </p:txBody>
        </p:sp>
        <p:sp>
          <p:nvSpPr>
            <p:cNvPr id="13" name="文本框 12">
              <a:extLst>
                <a:ext uri="{FF2B5EF4-FFF2-40B4-BE49-F238E27FC236}">
                  <a16:creationId xmlns:a16="http://schemas.microsoft.com/office/drawing/2014/main" id="{065674B7-279C-2185-550E-371C9EA35621}"/>
                </a:ext>
              </a:extLst>
            </p:cNvPr>
            <p:cNvSpPr txBox="1"/>
            <p:nvPr/>
          </p:nvSpPr>
          <p:spPr>
            <a:xfrm>
              <a:off x="1276454" y="3381963"/>
              <a:ext cx="2259693" cy="202909"/>
            </a:xfrm>
            <a:prstGeom prst="rect">
              <a:avLst/>
            </a:prstGeom>
            <a:noFill/>
          </p:spPr>
          <p:txBody>
            <a:bodyPr wrap="square" rtlCol="0">
              <a:spAutoFit/>
            </a:bodyPr>
            <a:lstStyle>
              <a:defPPr>
                <a:defRPr lang="zh-CN"/>
              </a:defPPr>
              <a:lvl1pPr algn="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pPr algn="l"/>
              <a:r>
                <a:rPr lang="en-US" sz="2000" b="1" noProof="0" dirty="0">
                  <a:solidFill>
                    <a:srgbClr val="1C4885"/>
                  </a:solidFill>
                  <a:effectLst/>
                  <a:latin typeface="FZZhengHeiS-DB-GB" panose="02000000000000000000"/>
                  <a:ea typeface="+mn-ea"/>
                  <a:cs typeface="+mn-ea"/>
                  <a:sym typeface="+mn-lt"/>
                </a:rPr>
                <a:t>Research Question</a:t>
              </a:r>
            </a:p>
          </p:txBody>
        </p:sp>
        <p:sp>
          <p:nvSpPr>
            <p:cNvPr id="14" name="文本框 13">
              <a:extLst>
                <a:ext uri="{FF2B5EF4-FFF2-40B4-BE49-F238E27FC236}">
                  <a16:creationId xmlns:a16="http://schemas.microsoft.com/office/drawing/2014/main" id="{C49BEFD5-0EFF-9692-7DC8-2B0417981579}"/>
                </a:ext>
              </a:extLst>
            </p:cNvPr>
            <p:cNvSpPr txBox="1"/>
            <p:nvPr/>
          </p:nvSpPr>
          <p:spPr>
            <a:xfrm>
              <a:off x="1196300" y="3613224"/>
              <a:ext cx="2520835" cy="782239"/>
            </a:xfrm>
            <a:prstGeom prst="rect">
              <a:avLst/>
            </a:prstGeom>
            <a:noFill/>
          </p:spPr>
          <p:txBody>
            <a:bodyPr wrap="square" rtlCol="0">
              <a:spAutoFit/>
            </a:bodyPr>
            <a:lstStyle/>
            <a:p>
              <a:pPr eaLnBrk="0">
                <a:lnSpc>
                  <a:spcPct val="120000"/>
                </a:lnSpc>
              </a:pPr>
              <a:r>
                <a:rPr kumimoji="1" lang="en-US" sz="1600" noProof="0" dirty="0">
                  <a:sym typeface="+mn-lt"/>
                </a:rPr>
                <a:t>How can resilience against attacks be improved through heterogeneous microservice deployment under system constraints?</a:t>
              </a:r>
            </a:p>
          </p:txBody>
        </p:sp>
        <p:cxnSp>
          <p:nvCxnSpPr>
            <p:cNvPr id="15" name="直接连接符 14">
              <a:extLst>
                <a:ext uri="{FF2B5EF4-FFF2-40B4-BE49-F238E27FC236}">
                  <a16:creationId xmlns:a16="http://schemas.microsoft.com/office/drawing/2014/main" id="{608F0DCA-A0DF-D074-16B0-853D9141FCF2}"/>
                </a:ext>
              </a:extLst>
            </p:cNvPr>
            <p:cNvCxnSpPr/>
            <p:nvPr/>
          </p:nvCxnSpPr>
          <p:spPr>
            <a:xfrm>
              <a:off x="1335092" y="3584872"/>
              <a:ext cx="265167"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35" name="组合 34">
            <a:extLst>
              <a:ext uri="{FF2B5EF4-FFF2-40B4-BE49-F238E27FC236}">
                <a16:creationId xmlns:a16="http://schemas.microsoft.com/office/drawing/2014/main" id="{8117A620-8FD0-7B50-0FF2-6898250BD40C}"/>
              </a:ext>
            </a:extLst>
          </p:cNvPr>
          <p:cNvGrpSpPr/>
          <p:nvPr/>
        </p:nvGrpSpPr>
        <p:grpSpPr>
          <a:xfrm>
            <a:off x="156483" y="775893"/>
            <a:ext cx="4546476" cy="4017944"/>
            <a:chOff x="1149764" y="3298594"/>
            <a:chExt cx="2353635" cy="6422290"/>
          </a:xfrm>
        </p:grpSpPr>
        <p:sp>
          <p:nvSpPr>
            <p:cNvPr id="36" name="矩形 35">
              <a:extLst>
                <a:ext uri="{FF2B5EF4-FFF2-40B4-BE49-F238E27FC236}">
                  <a16:creationId xmlns:a16="http://schemas.microsoft.com/office/drawing/2014/main" id="{99DDCE6C-829A-2BA5-C495-D1E9EA0F2D7D}"/>
                </a:ext>
              </a:extLst>
            </p:cNvPr>
            <p:cNvSpPr/>
            <p:nvPr/>
          </p:nvSpPr>
          <p:spPr>
            <a:xfrm>
              <a:off x="1149764" y="3298594"/>
              <a:ext cx="805458" cy="167753"/>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cs typeface="+mn-ea"/>
                <a:sym typeface="+mn-lt"/>
              </a:endParaRPr>
            </a:p>
          </p:txBody>
        </p:sp>
        <p:sp>
          <p:nvSpPr>
            <p:cNvPr id="37" name="矩形 36">
              <a:extLst>
                <a:ext uri="{FF2B5EF4-FFF2-40B4-BE49-F238E27FC236}">
                  <a16:creationId xmlns:a16="http://schemas.microsoft.com/office/drawing/2014/main" id="{B49A5EBC-FB02-520E-DC15-D99DD7573B1C}"/>
                </a:ext>
              </a:extLst>
            </p:cNvPr>
            <p:cNvSpPr/>
            <p:nvPr/>
          </p:nvSpPr>
          <p:spPr>
            <a:xfrm>
              <a:off x="1149764" y="3435326"/>
              <a:ext cx="2273750" cy="628555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cs typeface="+mn-ea"/>
                <a:sym typeface="+mn-lt"/>
              </a:endParaRPr>
            </a:p>
          </p:txBody>
        </p:sp>
        <p:sp>
          <p:nvSpPr>
            <p:cNvPr id="38" name="文本框 37">
              <a:extLst>
                <a:ext uri="{FF2B5EF4-FFF2-40B4-BE49-F238E27FC236}">
                  <a16:creationId xmlns:a16="http://schemas.microsoft.com/office/drawing/2014/main" id="{3EAAF9C4-5D18-3E40-F706-A7641E307BBB}"/>
                </a:ext>
              </a:extLst>
            </p:cNvPr>
            <p:cNvSpPr txBox="1"/>
            <p:nvPr/>
          </p:nvSpPr>
          <p:spPr>
            <a:xfrm>
              <a:off x="1173491" y="3488893"/>
              <a:ext cx="2329908" cy="1131486"/>
            </a:xfrm>
            <a:prstGeom prst="rect">
              <a:avLst/>
            </a:prstGeom>
            <a:noFill/>
          </p:spPr>
          <p:txBody>
            <a:bodyPr wrap="square" rtlCol="0">
              <a:spAutoFit/>
            </a:bodyPr>
            <a:lstStyle>
              <a:defPPr>
                <a:defRPr lang="zh-CN"/>
              </a:defPPr>
              <a:lvl1pPr algn="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pPr algn="l"/>
              <a:r>
                <a:rPr lang="en-US" sz="2000" b="1" noProof="0" dirty="0">
                  <a:solidFill>
                    <a:srgbClr val="1C4885"/>
                  </a:solidFill>
                  <a:effectLst/>
                  <a:cs typeface="+mn-ea"/>
                  <a:sym typeface="+mn-lt"/>
                </a:rPr>
                <a:t>Homogeneity and </a:t>
              </a:r>
            </a:p>
            <a:p>
              <a:pPr algn="l"/>
              <a:r>
                <a:rPr lang="en-US" sz="2000" b="1" noProof="0" dirty="0">
                  <a:solidFill>
                    <a:srgbClr val="1C4885"/>
                  </a:solidFill>
                  <a:effectLst/>
                  <a:cs typeface="+mn-ea"/>
                  <a:sym typeface="+mn-lt"/>
                </a:rPr>
                <a:t>Systemic Vulnerabilities</a:t>
              </a:r>
            </a:p>
          </p:txBody>
        </p:sp>
        <p:sp>
          <p:nvSpPr>
            <p:cNvPr id="39" name="文本框 38">
              <a:extLst>
                <a:ext uri="{FF2B5EF4-FFF2-40B4-BE49-F238E27FC236}">
                  <a16:creationId xmlns:a16="http://schemas.microsoft.com/office/drawing/2014/main" id="{F0153054-EFE1-A3AB-3C85-B309B6B8FDD9}"/>
                </a:ext>
              </a:extLst>
            </p:cNvPr>
            <p:cNvSpPr txBox="1"/>
            <p:nvPr/>
          </p:nvSpPr>
          <p:spPr>
            <a:xfrm>
              <a:off x="1245528" y="4715357"/>
              <a:ext cx="2204029" cy="4977210"/>
            </a:xfrm>
            <a:prstGeom prst="rect">
              <a:avLst/>
            </a:prstGeom>
            <a:noFill/>
          </p:spPr>
          <p:txBody>
            <a:bodyPr wrap="square" rtlCol="0">
              <a:spAutoFit/>
            </a:bodyPr>
            <a:lstStyle/>
            <a:p>
              <a:pPr>
                <a:lnSpc>
                  <a:spcPct val="120000"/>
                </a:lnSpc>
              </a:pPr>
              <a:r>
                <a:rPr kumimoji="1" lang="en-US" sz="1500" dirty="0">
                  <a:sym typeface="+mn-lt"/>
                </a:rPr>
                <a:t>Microservices divide a complex application into small, independently deployable services. To improve availability, each service is often deployed as multiple instances.</a:t>
              </a:r>
            </a:p>
            <a:p>
              <a:pPr>
                <a:lnSpc>
                  <a:spcPct val="120000"/>
                </a:lnSpc>
              </a:pPr>
              <a:r>
                <a:rPr kumimoji="1" lang="en-US" sz="1500" dirty="0">
                  <a:sym typeface="+mn-lt"/>
                </a:rPr>
                <a:t>These instances usually run the same software version and container image. As a result, they often share the same vulnerabilities.</a:t>
              </a:r>
            </a:p>
            <a:p>
              <a:pPr>
                <a:lnSpc>
                  <a:spcPct val="120000"/>
                </a:lnSpc>
              </a:pPr>
              <a:r>
                <a:rPr kumimoji="1" lang="en-US" sz="1500" dirty="0">
                  <a:sym typeface="+mn-lt"/>
                </a:rPr>
                <a:t>Once one instance is compromised, the same attack may rapidly spread to other identical instances, potentially disrupting the entire service.</a:t>
              </a:r>
            </a:p>
          </p:txBody>
        </p:sp>
        <p:cxnSp>
          <p:nvCxnSpPr>
            <p:cNvPr id="40" name="直接连接符 14">
              <a:extLst>
                <a:ext uri="{FF2B5EF4-FFF2-40B4-BE49-F238E27FC236}">
                  <a16:creationId xmlns:a16="http://schemas.microsoft.com/office/drawing/2014/main" id="{7443337F-F3B3-EF89-300D-5A7E6FD0D494}"/>
                </a:ext>
              </a:extLst>
            </p:cNvPr>
            <p:cNvCxnSpPr/>
            <p:nvPr/>
          </p:nvCxnSpPr>
          <p:spPr>
            <a:xfrm>
              <a:off x="1326422" y="4632043"/>
              <a:ext cx="265167"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7" name="文本框 3">
            <a:extLst>
              <a:ext uri="{FF2B5EF4-FFF2-40B4-BE49-F238E27FC236}">
                <a16:creationId xmlns:a16="http://schemas.microsoft.com/office/drawing/2014/main" id="{0ACB1CB3-26C7-EDE4-3966-67FFFCF403D6}"/>
              </a:ext>
            </a:extLst>
          </p:cNvPr>
          <p:cNvSpPr txBox="1"/>
          <p:nvPr/>
        </p:nvSpPr>
        <p:spPr>
          <a:xfrm>
            <a:off x="297712" y="6090"/>
            <a:ext cx="9151088" cy="601440"/>
          </a:xfrm>
          <a:prstGeom prst="rect">
            <a:avLst/>
          </a:prstGeom>
          <a:noFill/>
          <a:ln>
            <a:noFill/>
          </a:ln>
        </p:spPr>
        <p:txBody>
          <a:bodyPr wrap="square"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noProof="0" dirty="0">
                <a:solidFill>
                  <a:schemeClr val="bg1"/>
                </a:solidFill>
                <a:cs typeface="+mn-ea"/>
                <a:sym typeface="+mn-lt"/>
              </a:rPr>
              <a:t>Resilient Microservices through Heterogeneity</a:t>
            </a:r>
          </a:p>
        </p:txBody>
      </p:sp>
      <p:sp>
        <p:nvSpPr>
          <p:cNvPr id="3" name="日期占位符 2">
            <a:extLst>
              <a:ext uri="{FF2B5EF4-FFF2-40B4-BE49-F238E27FC236}">
                <a16:creationId xmlns:a16="http://schemas.microsoft.com/office/drawing/2014/main" id="{EC3F6805-65B7-9C1F-3BCA-970C9548A178}"/>
              </a:ext>
            </a:extLst>
          </p:cNvPr>
          <p:cNvSpPr>
            <a:spLocks noGrp="1"/>
          </p:cNvSpPr>
          <p:nvPr>
            <p:ph type="dt" sz="half" idx="10"/>
          </p:nvPr>
        </p:nvSpPr>
        <p:spPr>
          <a:xfrm>
            <a:off x="0" y="6584709"/>
            <a:ext cx="2743200" cy="273291"/>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ysClr val="windowText" lastClr="00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5C38B7-F4DD-834E-9CE5-F6F84F53695B}" type="datetime1">
              <a:rPr lang="zh-CN" altLang="en-US" smtClean="0"/>
              <a:pPr/>
              <a:t>2026/6/20</a:t>
            </a:fld>
            <a:endParaRPr lang="en-US" noProof="0" dirty="0"/>
          </a:p>
        </p:txBody>
      </p:sp>
      <p:sp>
        <p:nvSpPr>
          <p:cNvPr id="2" name="灯片编号占位符 1">
            <a:extLst>
              <a:ext uri="{FF2B5EF4-FFF2-40B4-BE49-F238E27FC236}">
                <a16:creationId xmlns:a16="http://schemas.microsoft.com/office/drawing/2014/main" id="{D0904F86-EE1D-C05E-5C1F-1B9F14CEEB1C}"/>
              </a:ext>
            </a:extLst>
          </p:cNvPr>
          <p:cNvSpPr>
            <a:spLocks noGrp="1"/>
          </p:cNvSpPr>
          <p:nvPr>
            <p:ph type="sldNum" sz="quarter" idx="12"/>
          </p:nvPr>
        </p:nvSpPr>
        <p:spPr>
          <a:xfrm>
            <a:off x="9448800" y="6585083"/>
            <a:ext cx="2743200" cy="273291"/>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46799FB-52B8-4698-BECF-01ADD9E846BE}" type="slidenum">
              <a:rPr lang="zh-CN" altLang="en-US" smtClean="0"/>
              <a:pPr/>
              <a:t>1</a:t>
            </a:fld>
            <a:endParaRPr lang="en-US" noProof="0" dirty="0"/>
          </a:p>
        </p:txBody>
      </p:sp>
      <p:grpSp>
        <p:nvGrpSpPr>
          <p:cNvPr id="18" name="组合 17">
            <a:extLst>
              <a:ext uri="{FF2B5EF4-FFF2-40B4-BE49-F238E27FC236}">
                <a16:creationId xmlns:a16="http://schemas.microsoft.com/office/drawing/2014/main" id="{38E5965A-86C0-74B8-3A46-116F5896D509}"/>
              </a:ext>
            </a:extLst>
          </p:cNvPr>
          <p:cNvGrpSpPr/>
          <p:nvPr/>
        </p:nvGrpSpPr>
        <p:grpSpPr>
          <a:xfrm>
            <a:off x="4713030" y="789711"/>
            <a:ext cx="7343703" cy="2587759"/>
            <a:chOff x="1149764" y="3298594"/>
            <a:chExt cx="2353635" cy="6300585"/>
          </a:xfrm>
        </p:grpSpPr>
        <p:sp>
          <p:nvSpPr>
            <p:cNvPr id="19" name="矩形 18">
              <a:extLst>
                <a:ext uri="{FF2B5EF4-FFF2-40B4-BE49-F238E27FC236}">
                  <a16:creationId xmlns:a16="http://schemas.microsoft.com/office/drawing/2014/main" id="{E82B6253-882A-5AD7-60B7-4336F48E2D10}"/>
                </a:ext>
              </a:extLst>
            </p:cNvPr>
            <p:cNvSpPr/>
            <p:nvPr/>
          </p:nvSpPr>
          <p:spPr>
            <a:xfrm>
              <a:off x="1149764" y="3298594"/>
              <a:ext cx="805458" cy="167753"/>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cs typeface="+mn-ea"/>
                <a:sym typeface="+mn-lt"/>
              </a:endParaRPr>
            </a:p>
          </p:txBody>
        </p:sp>
        <p:sp>
          <p:nvSpPr>
            <p:cNvPr id="20" name="矩形 19">
              <a:extLst>
                <a:ext uri="{FF2B5EF4-FFF2-40B4-BE49-F238E27FC236}">
                  <a16:creationId xmlns:a16="http://schemas.microsoft.com/office/drawing/2014/main" id="{001AB647-87DC-7DBB-A2BD-3E89BDA9F1F7}"/>
                </a:ext>
              </a:extLst>
            </p:cNvPr>
            <p:cNvSpPr/>
            <p:nvPr/>
          </p:nvSpPr>
          <p:spPr>
            <a:xfrm>
              <a:off x="1149764" y="3435323"/>
              <a:ext cx="2273750" cy="61638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cs typeface="+mn-ea"/>
                <a:sym typeface="+mn-lt"/>
              </a:endParaRPr>
            </a:p>
          </p:txBody>
        </p:sp>
        <p:sp>
          <p:nvSpPr>
            <p:cNvPr id="21" name="文本框 20">
              <a:extLst>
                <a:ext uri="{FF2B5EF4-FFF2-40B4-BE49-F238E27FC236}">
                  <a16:creationId xmlns:a16="http://schemas.microsoft.com/office/drawing/2014/main" id="{D97C0B2E-148A-05C1-D1DC-1D7BFFD03D6A}"/>
                </a:ext>
              </a:extLst>
            </p:cNvPr>
            <p:cNvSpPr txBox="1"/>
            <p:nvPr/>
          </p:nvSpPr>
          <p:spPr>
            <a:xfrm>
              <a:off x="1173491" y="3488895"/>
              <a:ext cx="2329908" cy="974174"/>
            </a:xfrm>
            <a:prstGeom prst="rect">
              <a:avLst/>
            </a:prstGeom>
            <a:noFill/>
          </p:spPr>
          <p:txBody>
            <a:bodyPr wrap="square" rtlCol="0">
              <a:spAutoFit/>
            </a:bodyPr>
            <a:lstStyle>
              <a:defPPr>
                <a:defRPr lang="zh-CN"/>
              </a:defPPr>
              <a:lvl1pPr algn="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pPr algn="l"/>
              <a:r>
                <a:rPr lang="en-US" sz="2000" b="1" noProof="0" dirty="0">
                  <a:solidFill>
                    <a:srgbClr val="1C4885"/>
                  </a:solidFill>
                  <a:effectLst/>
                  <a:cs typeface="+mn-ea"/>
                  <a:sym typeface="+mn-lt"/>
                </a:rPr>
                <a:t>Security through Heterogeneity</a:t>
              </a:r>
            </a:p>
          </p:txBody>
        </p:sp>
        <p:sp>
          <p:nvSpPr>
            <p:cNvPr id="24" name="文本框 23">
              <a:extLst>
                <a:ext uri="{FF2B5EF4-FFF2-40B4-BE49-F238E27FC236}">
                  <a16:creationId xmlns:a16="http://schemas.microsoft.com/office/drawing/2014/main" id="{C931DB68-54C9-783F-0FE1-63DE62DA6F5F}"/>
                </a:ext>
              </a:extLst>
            </p:cNvPr>
            <p:cNvSpPr txBox="1"/>
            <p:nvPr/>
          </p:nvSpPr>
          <p:spPr>
            <a:xfrm>
              <a:off x="1199221" y="4715357"/>
              <a:ext cx="2224293" cy="4883822"/>
            </a:xfrm>
            <a:prstGeom prst="rect">
              <a:avLst/>
            </a:prstGeom>
            <a:noFill/>
          </p:spPr>
          <p:txBody>
            <a:bodyPr wrap="square" rtlCol="0">
              <a:spAutoFit/>
            </a:bodyPr>
            <a:lstStyle/>
            <a:p>
              <a:pPr>
                <a:lnSpc>
                  <a:spcPct val="120000"/>
                </a:lnSpc>
              </a:pPr>
              <a:r>
                <a:rPr kumimoji="1" lang="en-US" sz="1500" dirty="0">
                  <a:sym typeface="+mn-lt"/>
                </a:rPr>
                <a:t>Inspired by biology and information theory, heterogeneity can be introduced into microservice deployments using diverse images and software versions. This fragments the attack surface and limits the impact of shared vulnerabilities. When a vulnerability is exploited in one variant, other variants without the same vulnerability remain unaffected. These unaffected variants can continue providing the service, thereby improving system resilience and service continuity under attack.</a:t>
              </a:r>
            </a:p>
          </p:txBody>
        </p:sp>
        <p:cxnSp>
          <p:nvCxnSpPr>
            <p:cNvPr id="25" name="直接连接符 14">
              <a:extLst>
                <a:ext uri="{FF2B5EF4-FFF2-40B4-BE49-F238E27FC236}">
                  <a16:creationId xmlns:a16="http://schemas.microsoft.com/office/drawing/2014/main" id="{FC35CA6E-85D9-3C35-4CA8-4859412A5C7F}"/>
                </a:ext>
              </a:extLst>
            </p:cNvPr>
            <p:cNvCxnSpPr/>
            <p:nvPr/>
          </p:nvCxnSpPr>
          <p:spPr>
            <a:xfrm>
              <a:off x="1326422" y="4632043"/>
              <a:ext cx="265167"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27" name="图片 26">
            <a:extLst>
              <a:ext uri="{FF2B5EF4-FFF2-40B4-BE49-F238E27FC236}">
                <a16:creationId xmlns:a16="http://schemas.microsoft.com/office/drawing/2014/main" id="{A5D9F2A5-A574-D2F5-94E9-230D4CD6AF6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78109" y="3995493"/>
            <a:ext cx="4500624" cy="2531601"/>
          </a:xfrm>
          <a:prstGeom prst="rect">
            <a:avLst/>
          </a:prstGeom>
        </p:spPr>
      </p:pic>
      <p:pic>
        <p:nvPicPr>
          <p:cNvPr id="30" name="图片 29">
            <a:extLst>
              <a:ext uri="{FF2B5EF4-FFF2-40B4-BE49-F238E27FC236}">
                <a16:creationId xmlns:a16="http://schemas.microsoft.com/office/drawing/2014/main" id="{EBC3967A-F9E5-D40A-9790-EA8A0FA2CA5A}"/>
              </a:ext>
            </a:extLst>
          </p:cNvPr>
          <p:cNvPicPr>
            <a:picLocks noChangeAspect="1"/>
          </p:cNvPicPr>
          <p:nvPr/>
        </p:nvPicPr>
        <p:blipFill>
          <a:blip r:embed="rId5" cstate="print">
            <a:extLst>
              <a:ext uri="{28A0092B-C50C-407E-A947-70E740481C1C}">
                <a14:useLocalDpi xmlns:a14="http://schemas.microsoft.com/office/drawing/2010/main" val="0"/>
              </a:ext>
            </a:extLst>
          </a:blip>
          <a:srcRect r="43507" b="55234"/>
          <a:stretch>
            <a:fillRect/>
          </a:stretch>
        </p:blipFill>
        <p:spPr>
          <a:xfrm>
            <a:off x="4788356" y="3411686"/>
            <a:ext cx="1978698" cy="881985"/>
          </a:xfrm>
          <a:prstGeom prst="rect">
            <a:avLst/>
          </a:prstGeom>
        </p:spPr>
      </p:pic>
    </p:spTree>
    <p:extLst>
      <p:ext uri="{BB962C8B-B14F-4D97-AF65-F5344CB8AC3E}">
        <p14:creationId xmlns:p14="http://schemas.microsoft.com/office/powerpoint/2010/main" val="32764410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蓝色简洁毕业答辩PPT模板"/>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js3og5wl">
      <a:majorFont>
        <a:latin typeface="Arial" panose="020F0302020204030204"/>
        <a:ea typeface="微软雅黑"/>
        <a:cs typeface=""/>
      </a:majorFont>
      <a:minorFont>
        <a:latin typeface="Arial" panose="020F0502020204030204"/>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202</TotalTime>
  <Words>173</Words>
  <Application>Microsoft Office PowerPoint</Application>
  <PresentationFormat>宽屏</PresentationFormat>
  <Paragraphs>13</Paragraphs>
  <Slides>1</Slides>
  <Notes>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vt:i4>
      </vt:variant>
    </vt:vector>
  </HeadingPairs>
  <TitlesOfParts>
    <vt:vector size="6" baseType="lpstr">
      <vt:lpstr>FZZhengHeiS-DB-GB</vt:lpstr>
      <vt:lpstr>等线</vt:lpstr>
      <vt:lpstr>Arial</vt:lpstr>
      <vt:lpstr>Calibri</vt:lpstr>
      <vt:lpstr>第一PPT，www.1ppt.com</vt:lpstr>
      <vt:lpstr>PowerPoint 演示文稿</vt:lpstr>
    </vt:vector>
  </TitlesOfParts>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蓝色毕业答辩</dc:title>
  <dc:creator>第一PPT</dc:creator>
  <cp:keywords>www.1ppt.com</cp:keywords>
  <dc:description>www.1ppt.com</dc:description>
  <cp:lastModifiedBy>weirui tang</cp:lastModifiedBy>
  <cp:revision>10</cp:revision>
  <dcterms:created xsi:type="dcterms:W3CDTF">2018-02-27T12:12:58Z</dcterms:created>
  <dcterms:modified xsi:type="dcterms:W3CDTF">2026-06-20T02:36:58Z</dcterms:modified>
</cp:coreProperties>
</file>