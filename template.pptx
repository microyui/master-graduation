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75" r:id="rId2"/>
    <p:sldId id="276" r:id="rId3"/>
    <p:sldId id="277" r:id="rId4"/>
    <p:sldId id="278" r:id="rId5"/>
    <p:sldId id="279" r:id="rId6"/>
    <p:sldId id="280" r:id="rId7"/>
    <p:sldId id="281" r:id="rId8"/>
    <p:sldId id="282" r:id="rId9"/>
    <p:sldId id="283" r:id="rId10"/>
    <p:sldId id="284" r:id="rId11"/>
    <p:sldId id="285" r:id="rId12"/>
    <p:sldId id="286" r:id="rId13"/>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85"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E3F0"/>
    <a:srgbClr val="0071BD"/>
    <a:srgbClr val="1C4885"/>
    <a:srgbClr val="20B3A1"/>
    <a:srgbClr val="D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38"/>
    <p:restoredTop sz="78647" autoAdjust="0"/>
  </p:normalViewPr>
  <p:slideViewPr>
    <p:cSldViewPr snapToGrid="0">
      <p:cViewPr>
        <p:scale>
          <a:sx n="75" d="100"/>
          <a:sy n="75" d="100"/>
        </p:scale>
        <p:origin x="440" y="1196"/>
      </p:cViewPr>
      <p:guideLst>
        <p:guide orient="horz" pos="1185"/>
        <p:guide pos="3863"/>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B725A-BFDD-44D0-A8D3-61766B07B7F1}" type="datetimeFigureOut">
              <a:rPr lang="zh-CN" altLang="en-US" smtClean="0"/>
              <a:t>2026/6/24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CC932-0C1F-4C94-8B9A-3944ABBB4E30}" type="slidenum">
              <a:rPr lang="zh-CN" altLang="en-US" smtClean="0"/>
              <a:t>‹#›</a:t>
            </a:fld>
            <a:endParaRPr lang="zh-CN" altLang="en-US"/>
          </a:p>
        </p:txBody>
      </p:sp>
    </p:spTree>
    <p:extLst>
      <p:ext uri="{BB962C8B-B14F-4D97-AF65-F5344CB8AC3E}">
        <p14:creationId xmlns:p14="http://schemas.microsoft.com/office/powerpoint/2010/main" val="294710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B9BCC932-0C1F-4C94-8B9A-3944ABBB4E30}" type="slidenum">
              <a:rPr lang="zh-CN" altLang="en-US" smtClean="0"/>
              <a:t>1</a:t>
            </a:fld>
            <a:endParaRPr lang="zh-CN" altLang="en-US"/>
          </a:p>
        </p:txBody>
      </p:sp>
    </p:spTree>
    <p:extLst>
      <p:ext uri="{BB962C8B-B14F-4D97-AF65-F5344CB8AC3E}">
        <p14:creationId xmlns:p14="http://schemas.microsoft.com/office/powerpoint/2010/main" val="2727688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C4B79-62DF-5BD5-8C86-BB54A04F66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EE60AB-CBFB-72A1-2730-BF2F944AF3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9D6E9C-AEF1-052B-1C6B-7C97B0D3DE09}"/>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2DE13768-FE77-379D-613D-E8D8203B7AD4}"/>
              </a:ext>
            </a:extLst>
          </p:cNvPr>
          <p:cNvSpPr>
            <a:spLocks noGrp="1"/>
          </p:cNvSpPr>
          <p:nvPr>
            <p:ph type="sldNum" sz="quarter" idx="10"/>
          </p:nvPr>
        </p:nvSpPr>
        <p:spPr/>
        <p:txBody>
          <a:bodyPr/>
          <a:lstStyle/>
          <a:p>
            <a:fld id="{B9BCC932-0C1F-4C94-8B9A-3944ABBB4E30}" type="slidenum">
              <a:rPr lang="zh-CN" altLang="en-US" smtClean="0"/>
              <a:t>2</a:t>
            </a:fld>
            <a:endParaRPr lang="zh-CN" altLang="en-US"/>
          </a:p>
        </p:txBody>
      </p:sp>
    </p:spTree>
    <p:extLst>
      <p:ext uri="{BB962C8B-B14F-4D97-AF65-F5344CB8AC3E}">
        <p14:creationId xmlns:p14="http://schemas.microsoft.com/office/powerpoint/2010/main" val="2163499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00DE8-43E7-A033-338C-FBE881E75A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5172D6-22AE-D272-D066-F9CD7DEA14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4F333C6-9E91-B6D9-C127-1EAF0D4F3974}"/>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FCB0D18E-2AA9-9728-987D-96295807B3FE}"/>
              </a:ext>
            </a:extLst>
          </p:cNvPr>
          <p:cNvSpPr>
            <a:spLocks noGrp="1"/>
          </p:cNvSpPr>
          <p:nvPr>
            <p:ph type="sldNum" sz="quarter" idx="10"/>
          </p:nvPr>
        </p:nvSpPr>
        <p:spPr/>
        <p:txBody>
          <a:bodyPr/>
          <a:lstStyle/>
          <a:p>
            <a:fld id="{B9BCC932-0C1F-4C94-8B9A-3944ABBB4E30}" type="slidenum">
              <a:rPr lang="zh-CN" altLang="en-US" smtClean="0"/>
              <a:t>3</a:t>
            </a:fld>
            <a:endParaRPr lang="zh-CN" altLang="en-US"/>
          </a:p>
        </p:txBody>
      </p:sp>
    </p:spTree>
    <p:extLst>
      <p:ext uri="{BB962C8B-B14F-4D97-AF65-F5344CB8AC3E}">
        <p14:creationId xmlns:p14="http://schemas.microsoft.com/office/powerpoint/2010/main" val="1512935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B5274-6C28-D3C2-227C-1BC63E2BFA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E9CF63-66E3-4B4C-A432-85C778950E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861FB74-13D4-8634-427B-9D7290FB58C6}"/>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B7435E9-FF3F-DE33-6A22-EE853FB03DD3}"/>
              </a:ext>
            </a:extLst>
          </p:cNvPr>
          <p:cNvSpPr>
            <a:spLocks noGrp="1"/>
          </p:cNvSpPr>
          <p:nvPr>
            <p:ph type="sldNum" sz="quarter" idx="10"/>
          </p:nvPr>
        </p:nvSpPr>
        <p:spPr/>
        <p:txBody>
          <a:bodyPr/>
          <a:lstStyle/>
          <a:p>
            <a:fld id="{B9BCC932-0C1F-4C94-8B9A-3944ABBB4E30}" type="slidenum">
              <a:rPr lang="zh-CN" altLang="en-US" smtClean="0"/>
              <a:t>4</a:t>
            </a:fld>
            <a:endParaRPr lang="zh-CN" altLang="en-US"/>
          </a:p>
        </p:txBody>
      </p:sp>
    </p:spTree>
    <p:extLst>
      <p:ext uri="{BB962C8B-B14F-4D97-AF65-F5344CB8AC3E}">
        <p14:creationId xmlns:p14="http://schemas.microsoft.com/office/powerpoint/2010/main" val="2261348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EEAB1-3287-5903-9ED2-000C9643E0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9FDCFC-6002-0611-0E78-86A7CBB72D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378127-2DF9-D588-C24F-A23DF48E3C28}"/>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36171065-32CE-DD08-DC26-D56A354F746D}"/>
              </a:ext>
            </a:extLst>
          </p:cNvPr>
          <p:cNvSpPr>
            <a:spLocks noGrp="1"/>
          </p:cNvSpPr>
          <p:nvPr>
            <p:ph type="sldNum" sz="quarter" idx="10"/>
          </p:nvPr>
        </p:nvSpPr>
        <p:spPr/>
        <p:txBody>
          <a:bodyPr/>
          <a:lstStyle/>
          <a:p>
            <a:fld id="{B9BCC932-0C1F-4C94-8B9A-3944ABBB4E30}" type="slidenum">
              <a:rPr lang="zh-CN" altLang="en-US" smtClean="0"/>
              <a:t>5</a:t>
            </a:fld>
            <a:endParaRPr lang="zh-CN" altLang="en-US"/>
          </a:p>
        </p:txBody>
      </p:sp>
    </p:spTree>
    <p:extLst>
      <p:ext uri="{BB962C8B-B14F-4D97-AF65-F5344CB8AC3E}">
        <p14:creationId xmlns:p14="http://schemas.microsoft.com/office/powerpoint/2010/main" val="313431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5D837-15FC-6250-F35B-DA3CA9E9A3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556ABE-6679-5489-EB15-8597D793D9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75877B-468E-9918-B771-31492710BE16}"/>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9827076-D6C8-8B1B-0CFD-9D5938C9C746}"/>
              </a:ext>
            </a:extLst>
          </p:cNvPr>
          <p:cNvSpPr>
            <a:spLocks noGrp="1"/>
          </p:cNvSpPr>
          <p:nvPr>
            <p:ph type="sldNum" sz="quarter" idx="10"/>
          </p:nvPr>
        </p:nvSpPr>
        <p:spPr/>
        <p:txBody>
          <a:bodyPr/>
          <a:lstStyle/>
          <a:p>
            <a:fld id="{B9BCC932-0C1F-4C94-8B9A-3944ABBB4E30}" type="slidenum">
              <a:rPr lang="zh-CN" altLang="en-US" smtClean="0"/>
              <a:t>6</a:t>
            </a:fld>
            <a:endParaRPr lang="zh-CN" altLang="en-US"/>
          </a:p>
        </p:txBody>
      </p:sp>
    </p:spTree>
    <p:extLst>
      <p:ext uri="{BB962C8B-B14F-4D97-AF65-F5344CB8AC3E}">
        <p14:creationId xmlns:p14="http://schemas.microsoft.com/office/powerpoint/2010/main" val="3419523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D3B45-00F9-AF7A-6038-B81DE0CF92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2099F2-4A3C-A42F-8000-8B7E965DA5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B29B80-AF03-FFFD-1899-DDCEC0B6755F}"/>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9CDE219-D4C9-1F0A-BA8C-3C45A987616C}"/>
              </a:ext>
            </a:extLst>
          </p:cNvPr>
          <p:cNvSpPr>
            <a:spLocks noGrp="1"/>
          </p:cNvSpPr>
          <p:nvPr>
            <p:ph type="sldNum" sz="quarter" idx="10"/>
          </p:nvPr>
        </p:nvSpPr>
        <p:spPr/>
        <p:txBody>
          <a:bodyPr/>
          <a:lstStyle/>
          <a:p>
            <a:fld id="{B9BCC932-0C1F-4C94-8B9A-3944ABBB4E30}" type="slidenum">
              <a:rPr lang="zh-CN" altLang="en-US" smtClean="0"/>
              <a:t>7</a:t>
            </a:fld>
            <a:endParaRPr lang="zh-CN" altLang="en-US"/>
          </a:p>
        </p:txBody>
      </p:sp>
    </p:spTree>
    <p:extLst>
      <p:ext uri="{BB962C8B-B14F-4D97-AF65-F5344CB8AC3E}">
        <p14:creationId xmlns:p14="http://schemas.microsoft.com/office/powerpoint/2010/main" val="2605408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89B36-6560-C73D-1420-7B25A09A97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928D0E-C282-EE3E-051D-BF61D9AEF6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8E4330F-166D-5718-2D75-A908A6E20411}"/>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B3D7CEE-7184-3C3E-4E38-27FA9C6EB398}"/>
              </a:ext>
            </a:extLst>
          </p:cNvPr>
          <p:cNvSpPr>
            <a:spLocks noGrp="1"/>
          </p:cNvSpPr>
          <p:nvPr>
            <p:ph type="sldNum" sz="quarter" idx="10"/>
          </p:nvPr>
        </p:nvSpPr>
        <p:spPr/>
        <p:txBody>
          <a:bodyPr/>
          <a:lstStyle/>
          <a:p>
            <a:fld id="{B9BCC932-0C1F-4C94-8B9A-3944ABBB4E30}" type="slidenum">
              <a:rPr lang="zh-CN" altLang="en-US" smtClean="0"/>
              <a:t>8</a:t>
            </a:fld>
            <a:endParaRPr lang="zh-CN" altLang="en-US"/>
          </a:p>
        </p:txBody>
      </p:sp>
    </p:spTree>
    <p:extLst>
      <p:ext uri="{BB962C8B-B14F-4D97-AF65-F5344CB8AC3E}">
        <p14:creationId xmlns:p14="http://schemas.microsoft.com/office/powerpoint/2010/main" val="2381714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F27DB-53B7-8EF2-9B15-ED58AC0D29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A0342F-5568-F11E-1FFE-9A9A723014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06454D6-1B31-43BE-D1DD-40EC949C92C7}"/>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39CE201-E8E1-81F7-493E-9F4D5AB820B0}"/>
              </a:ext>
            </a:extLst>
          </p:cNvPr>
          <p:cNvSpPr>
            <a:spLocks noGrp="1"/>
          </p:cNvSpPr>
          <p:nvPr>
            <p:ph type="sldNum" sz="quarter" idx="10"/>
          </p:nvPr>
        </p:nvSpPr>
        <p:spPr/>
        <p:txBody>
          <a:bodyPr/>
          <a:lstStyle/>
          <a:p>
            <a:fld id="{B9BCC932-0C1F-4C94-8B9A-3944ABBB4E30}" type="slidenum">
              <a:rPr lang="zh-CN" altLang="en-US" smtClean="0"/>
              <a:t>9</a:t>
            </a:fld>
            <a:endParaRPr lang="zh-CN" altLang="en-US"/>
          </a:p>
        </p:txBody>
      </p:sp>
    </p:spTree>
    <p:extLst>
      <p:ext uri="{BB962C8B-B14F-4D97-AF65-F5344CB8AC3E}">
        <p14:creationId xmlns:p14="http://schemas.microsoft.com/office/powerpoint/2010/main" val="2369069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78741-A940-C2D6-6104-BC6F45EE5B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81D384-CFF9-7011-2440-5614A24DBC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C549A2E-CB92-6468-4ED9-BC8A816E3247}"/>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6CC3E0A-9A0F-2F1B-3E7F-30E60F3E2AF8}"/>
              </a:ext>
            </a:extLst>
          </p:cNvPr>
          <p:cNvSpPr>
            <a:spLocks noGrp="1"/>
          </p:cNvSpPr>
          <p:nvPr>
            <p:ph type="sldNum" sz="quarter" idx="10"/>
          </p:nvPr>
        </p:nvSpPr>
        <p:spPr/>
        <p:txBody>
          <a:bodyPr/>
          <a:lstStyle/>
          <a:p>
            <a:fld id="{B9BCC932-0C1F-4C94-8B9A-3944ABBB4E30}" type="slidenum">
              <a:rPr lang="zh-CN" altLang="en-US" smtClean="0"/>
              <a:t>10</a:t>
            </a:fld>
            <a:endParaRPr lang="zh-CN" altLang="en-US"/>
          </a:p>
        </p:txBody>
      </p:sp>
    </p:spTree>
    <p:extLst>
      <p:ext uri="{BB962C8B-B14F-4D97-AF65-F5344CB8AC3E}">
        <p14:creationId xmlns:p14="http://schemas.microsoft.com/office/powerpoint/2010/main" val="831260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48701-9053-A6FA-0402-DD1CCE991E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CEE01A-96BB-47E1-D368-5B6B3F271DB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362230-18E5-56A2-6F0F-2491866B1D02}"/>
              </a:ext>
            </a:extLst>
          </p:cNvPr>
          <p:cNvSpPr>
            <a:spLocks noGrp="1"/>
          </p:cNvSpPr>
          <p:nvPr>
            <p:ph type="body" idx="1"/>
          </p:nvPr>
        </p:nvSpPr>
        <p:spPr/>
        <p:txBody>
          <a:bodyPr/>
          <a:lstStyle/>
          <a:p>
            <a:endParaRPr lang="zh-CN" altLang="zh-CN" sz="1200" b="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08A4F0A-EC24-F168-110C-28FD6E130997}"/>
              </a:ext>
            </a:extLst>
          </p:cNvPr>
          <p:cNvSpPr>
            <a:spLocks noGrp="1"/>
          </p:cNvSpPr>
          <p:nvPr>
            <p:ph type="sldNum" sz="quarter" idx="10"/>
          </p:nvPr>
        </p:nvSpPr>
        <p:spPr/>
        <p:txBody>
          <a:bodyPr/>
          <a:lstStyle/>
          <a:p>
            <a:fld id="{B9BCC932-0C1F-4C94-8B9A-3944ABBB4E30}" type="slidenum">
              <a:rPr lang="zh-CN" altLang="en-US" smtClean="0"/>
              <a:t>11</a:t>
            </a:fld>
            <a:endParaRPr lang="zh-CN" altLang="en-US"/>
          </a:p>
        </p:txBody>
      </p:sp>
    </p:spTree>
    <p:extLst>
      <p:ext uri="{BB962C8B-B14F-4D97-AF65-F5344CB8AC3E}">
        <p14:creationId xmlns:p14="http://schemas.microsoft.com/office/powerpoint/2010/main" val="624389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0" y="6492875"/>
            <a:ext cx="2743200" cy="365125"/>
          </a:xfrm>
        </p:spPr>
        <p:txBody>
          <a:bodyPr/>
          <a:lstStyle/>
          <a:p>
            <a:fld id="{C41B1F88-EAB1-E443-BF0A-2F418D313027}" type="datetime1">
              <a:rPr lang="zh-CN" altLang="en-US" smtClean="0"/>
              <a:t>2026/6/24</a:t>
            </a:fld>
            <a:endParaRPr lang="zh-CN" altLang="en-US"/>
          </a:p>
        </p:txBody>
      </p:sp>
      <p:sp>
        <p:nvSpPr>
          <p:cNvPr id="5" name="页脚占位符 4"/>
          <p:cNvSpPr>
            <a:spLocks noGrp="1"/>
          </p:cNvSpPr>
          <p:nvPr>
            <p:ph type="ftr" sz="quarter" idx="11"/>
          </p:nvPr>
        </p:nvSpPr>
        <p:spPr>
          <a:xfrm>
            <a:off x="4038600" y="6492874"/>
            <a:ext cx="4114800" cy="365125"/>
          </a:xfrm>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2155440255"/>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6EA45E4-1365-8B70-2EC7-17DA64EEBC73}"/>
              </a:ext>
            </a:extLst>
          </p:cNvPr>
          <p:cNvSpPr/>
          <p:nvPr userDrawn="1"/>
        </p:nvSpPr>
        <p:spPr>
          <a:xfrm>
            <a:off x="0" y="0"/>
            <a:ext cx="12192000" cy="622810"/>
          </a:xfrm>
          <a:prstGeom prst="rect">
            <a:avLst/>
          </a:prstGeom>
          <a:solidFill>
            <a:srgbClr val="0071BD"/>
          </a:solidFill>
          <a:ln w="76200">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 name="标题 1"/>
          <p:cNvSpPr>
            <a:spLocks noGrp="1"/>
          </p:cNvSpPr>
          <p:nvPr>
            <p:ph type="title"/>
          </p:nvPr>
        </p:nvSpPr>
        <p:spPr>
          <a:xfrm>
            <a:off x="304800" y="15299"/>
            <a:ext cx="9445727" cy="604800"/>
          </a:xfrm>
          <a:solidFill>
            <a:srgbClr val="0071BD"/>
          </a:solidFill>
          <a:ln>
            <a:noFill/>
          </a:ln>
        </p:spPr>
        <p:txBody>
          <a:bodyPr wrap="square" rtlCol="0" anchor="ctr" anchorCtr="0">
            <a:noAutofit/>
          </a:bodyPr>
          <a:lstStyle>
            <a:lvl1pPr>
              <a:defRPr lang="zh-CN" altLang="en-US" sz="2400" b="1" dirty="0">
                <a:solidFill>
                  <a:schemeClr val="bg1"/>
                </a:solidFill>
                <a:latin typeface="+mj-ea"/>
                <a:cs typeface="+mn-ea"/>
              </a:defRPr>
            </a:lvl1pPr>
          </a:lstStyle>
          <a:p>
            <a:pPr marL="0" lvl="0"/>
            <a:r>
              <a:rPr lang="zh-CN" altLang="en-US" dirty="0"/>
              <a:t>单击此处编辑母版标题样式</a:t>
            </a:r>
          </a:p>
        </p:txBody>
      </p:sp>
      <p:sp>
        <p:nvSpPr>
          <p:cNvPr id="3" name="内容占位符 2"/>
          <p:cNvSpPr>
            <a:spLocks noGrp="1"/>
          </p:cNvSpPr>
          <p:nvPr>
            <p:ph idx="1"/>
          </p:nvPr>
        </p:nvSpPr>
        <p:spPr>
          <a:xfrm>
            <a:off x="304800" y="804544"/>
            <a:ext cx="11541760" cy="5545456"/>
          </a:xfrm>
        </p:spPr>
        <p:txBody>
          <a:bodyPr/>
          <a:lstStyle>
            <a:lvl1pPr>
              <a:lnSpc>
                <a:spcPct val="120000"/>
              </a:lnSpc>
              <a:defRPr sz="2000" b="1">
                <a:solidFill>
                  <a:schemeClr val="accent5"/>
                </a:solidFill>
              </a:defRPr>
            </a:lvl1pPr>
            <a:lvl2pPr>
              <a:lnSpc>
                <a:spcPct val="120000"/>
              </a:lnSpc>
              <a:defRPr sz="1800"/>
            </a:lvl2pPr>
            <a:lvl3pPr>
              <a:lnSpc>
                <a:spcPct val="120000"/>
              </a:lnSpc>
              <a:defRPr sz="1800"/>
            </a:lvl3pPr>
            <a:lvl4pPr>
              <a:lnSpc>
                <a:spcPct val="120000"/>
              </a:lnSpc>
              <a:defRPr sz="1800"/>
            </a:lvl4pPr>
            <a:lvl5pPr>
              <a:lnSpc>
                <a:spcPct val="120000"/>
              </a:lnSpc>
              <a:defRPr sz="18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2" name="图片 11" descr="图层 5">
            <a:extLst>
              <a:ext uri="{FF2B5EF4-FFF2-40B4-BE49-F238E27FC236}">
                <a16:creationId xmlns:a16="http://schemas.microsoft.com/office/drawing/2014/main" id="{160A6D67-4EB2-14A5-3AA0-976718FF2CCE}"/>
              </a:ext>
            </a:extLst>
          </p:cNvPr>
          <p:cNvPicPr>
            <a:picLocks noChangeAspect="1"/>
          </p:cNvPicPr>
          <p:nvPr userDrawn="1"/>
        </p:nvPicPr>
        <p:blipFill>
          <a:blip r:embed="rId2"/>
          <a:stretch>
            <a:fillRect/>
          </a:stretch>
        </p:blipFill>
        <p:spPr>
          <a:xfrm>
            <a:off x="10820400" y="0"/>
            <a:ext cx="1302304" cy="559081"/>
          </a:xfrm>
          <a:prstGeom prst="rect">
            <a:avLst/>
          </a:prstGeom>
          <a:effectLst>
            <a:outerShdw blurRad="50800" dist="38100" dir="2700000" algn="tl" rotWithShape="0">
              <a:prstClr val="black">
                <a:alpha val="40000"/>
              </a:prstClr>
            </a:outerShdw>
          </a:effectLst>
        </p:spPr>
      </p:pic>
      <p:pic>
        <p:nvPicPr>
          <p:cNvPr id="13" name="Picture 5" descr="ices logo">
            <a:extLst>
              <a:ext uri="{FF2B5EF4-FFF2-40B4-BE49-F238E27FC236}">
                <a16:creationId xmlns:a16="http://schemas.microsoft.com/office/drawing/2014/main" id="{7FCB4CF6-D269-87B7-3010-F322D62BEC27}"/>
              </a:ext>
            </a:extLst>
          </p:cNvPr>
          <p:cNvPicPr>
            <a:picLocks noChangeAspect="1" noChangeArrowheads="1"/>
          </p:cNvPicPr>
          <p:nvPr userDrawn="1"/>
        </p:nvPicPr>
        <p:blipFill>
          <a:blip r:embed="rId3">
            <a:alphaModFix/>
            <a:extLst>
              <a:ext uri="{28A0092B-C50C-407E-A947-70E740481C1C}">
                <a14:useLocalDpi xmlns:a14="http://schemas.microsoft.com/office/drawing/2010/main" val="0"/>
              </a:ext>
            </a:extLst>
          </a:blip>
          <a:srcRect/>
          <a:stretch>
            <a:fillRect/>
          </a:stretch>
        </p:blipFill>
        <p:spPr bwMode="auto">
          <a:xfrm>
            <a:off x="10699085" y="6053456"/>
            <a:ext cx="1544934" cy="79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1981102"/>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6116130-67BC-AD45-939C-7E14CA10CD52}" type="datetime1">
              <a:rPr lang="zh-CN" altLang="en-US" smtClean="0"/>
              <a:t>2026/6/24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2496556029"/>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8FD7F0B-A96C-9F49-B58D-FD3FD239C21F}" type="datetime1">
              <a:rPr lang="zh-CN" altLang="en-US" smtClean="0"/>
              <a:t>2026/6/24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00992857"/>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8325228" y="4544096"/>
            <a:ext cx="775136" cy="230832"/>
          </a:xfrm>
          <a:prstGeom prst="rect">
            <a:avLst/>
          </a:prstGeom>
        </p:spPr>
        <p:txBody>
          <a:bodyPr wrap="square">
            <a:spAutoFit/>
          </a:bodyPr>
          <a:lstStyle/>
          <a:p>
            <a:r>
              <a:rPr lang="en-US" altLang="zh-CN" sz="100">
                <a:solidFill>
                  <a:prstClr val="white"/>
                </a:solidFill>
                <a:latin typeface="Calibri"/>
                <a:ea typeface="宋体"/>
              </a:rPr>
              <a:t>PPT</a:t>
            </a:r>
            <a:r>
              <a:rPr lang="zh-CN" altLang="en-US" sz="100">
                <a:solidFill>
                  <a:prstClr val="white"/>
                </a:solidFill>
                <a:latin typeface="Calibri"/>
                <a:ea typeface="宋体"/>
              </a:rPr>
              <a:t>模板下载：</a:t>
            </a:r>
            <a:r>
              <a:rPr lang="en-US" altLang="zh-CN" sz="100">
                <a:solidFill>
                  <a:prstClr val="white"/>
                </a:solidFill>
                <a:latin typeface="Calibri"/>
                <a:ea typeface="宋体"/>
              </a:rPr>
              <a:t>www.1ppt.com/moban/          </a:t>
            </a:r>
            <a:r>
              <a:rPr lang="zh-CN" altLang="en-US" sz="100">
                <a:solidFill>
                  <a:prstClr val="white"/>
                </a:solidFill>
                <a:latin typeface="Calibri"/>
                <a:ea typeface="宋体"/>
              </a:rPr>
              <a:t>行业</a:t>
            </a:r>
            <a:r>
              <a:rPr lang="en-US" altLang="zh-CN" sz="100">
                <a:solidFill>
                  <a:prstClr val="white"/>
                </a:solidFill>
                <a:latin typeface="Calibri"/>
                <a:ea typeface="宋体"/>
              </a:rPr>
              <a:t>PPT</a:t>
            </a:r>
            <a:r>
              <a:rPr lang="zh-CN" altLang="en-US" sz="100">
                <a:solidFill>
                  <a:prstClr val="white"/>
                </a:solidFill>
                <a:latin typeface="Calibri"/>
                <a:ea typeface="宋体"/>
              </a:rPr>
              <a:t>模板：</a:t>
            </a:r>
            <a:r>
              <a:rPr lang="en-US" altLang="zh-CN" sz="100">
                <a:solidFill>
                  <a:prstClr val="white"/>
                </a:solidFill>
                <a:latin typeface="Calibri"/>
                <a:ea typeface="宋体"/>
              </a:rPr>
              <a:t>www.1ppt.com/hangye/ </a:t>
            </a:r>
          </a:p>
          <a:p>
            <a:r>
              <a:rPr lang="zh-CN" altLang="en-US" sz="100">
                <a:solidFill>
                  <a:prstClr val="white"/>
                </a:solidFill>
                <a:latin typeface="Calibri"/>
                <a:ea typeface="宋体"/>
              </a:rPr>
              <a:t>节日</a:t>
            </a:r>
            <a:r>
              <a:rPr lang="en-US" altLang="zh-CN" sz="100">
                <a:solidFill>
                  <a:prstClr val="white"/>
                </a:solidFill>
                <a:latin typeface="Calibri"/>
                <a:ea typeface="宋体"/>
              </a:rPr>
              <a:t>PPT</a:t>
            </a:r>
            <a:r>
              <a:rPr lang="zh-CN" altLang="en-US" sz="100">
                <a:solidFill>
                  <a:prstClr val="white"/>
                </a:solidFill>
                <a:latin typeface="Calibri"/>
                <a:ea typeface="宋体"/>
              </a:rPr>
              <a:t>模板：</a:t>
            </a:r>
            <a:r>
              <a:rPr lang="en-US" altLang="zh-CN" sz="100">
                <a:solidFill>
                  <a:prstClr val="white"/>
                </a:solidFill>
                <a:latin typeface="Calibri"/>
                <a:ea typeface="宋体"/>
              </a:rPr>
              <a:t>www.1ppt.com/jieri/          PPT</a:t>
            </a:r>
            <a:r>
              <a:rPr lang="zh-CN" altLang="en-US" sz="100">
                <a:solidFill>
                  <a:prstClr val="white"/>
                </a:solidFill>
                <a:latin typeface="Calibri"/>
                <a:ea typeface="宋体"/>
              </a:rPr>
              <a:t>素材：</a:t>
            </a:r>
            <a:r>
              <a:rPr lang="en-US" altLang="zh-CN" sz="100">
                <a:solidFill>
                  <a:prstClr val="white"/>
                </a:solidFill>
                <a:latin typeface="Calibri"/>
                <a:ea typeface="宋体"/>
              </a:rPr>
              <a:t>www.1ppt.com/sucai/</a:t>
            </a:r>
          </a:p>
          <a:p>
            <a:r>
              <a:rPr lang="en-US" altLang="zh-CN" sz="100">
                <a:solidFill>
                  <a:prstClr val="white"/>
                </a:solidFill>
                <a:latin typeface="Calibri"/>
                <a:ea typeface="宋体"/>
              </a:rPr>
              <a:t>PPT</a:t>
            </a:r>
            <a:r>
              <a:rPr lang="zh-CN" altLang="en-US" sz="100">
                <a:solidFill>
                  <a:prstClr val="white"/>
                </a:solidFill>
                <a:latin typeface="Calibri"/>
                <a:ea typeface="宋体"/>
              </a:rPr>
              <a:t>背景图片：</a:t>
            </a:r>
            <a:r>
              <a:rPr lang="en-US" altLang="zh-CN" sz="100">
                <a:solidFill>
                  <a:prstClr val="white"/>
                </a:solidFill>
                <a:latin typeface="Calibri"/>
                <a:ea typeface="宋体"/>
              </a:rPr>
              <a:t>www.1ppt.com/beijing/        PPT</a:t>
            </a:r>
            <a:r>
              <a:rPr lang="zh-CN" altLang="en-US" sz="100">
                <a:solidFill>
                  <a:prstClr val="white"/>
                </a:solidFill>
                <a:latin typeface="Calibri"/>
                <a:ea typeface="宋体"/>
              </a:rPr>
              <a:t>图表：</a:t>
            </a:r>
            <a:r>
              <a:rPr lang="en-US" altLang="zh-CN" sz="100">
                <a:solidFill>
                  <a:prstClr val="white"/>
                </a:solidFill>
                <a:latin typeface="Calibri"/>
                <a:ea typeface="宋体"/>
              </a:rPr>
              <a:t>www.1ppt.com/tubiao/      </a:t>
            </a:r>
          </a:p>
          <a:p>
            <a:r>
              <a:rPr lang="zh-CN" altLang="en-US" sz="100">
                <a:solidFill>
                  <a:prstClr val="white"/>
                </a:solidFill>
                <a:latin typeface="Calibri"/>
                <a:ea typeface="宋体"/>
              </a:rPr>
              <a:t>精美</a:t>
            </a:r>
            <a:r>
              <a:rPr lang="en-US" altLang="zh-CN" sz="100">
                <a:solidFill>
                  <a:prstClr val="white"/>
                </a:solidFill>
                <a:latin typeface="Calibri"/>
                <a:ea typeface="宋体"/>
              </a:rPr>
              <a:t>PPT</a:t>
            </a:r>
            <a:r>
              <a:rPr lang="zh-CN" altLang="en-US" sz="100">
                <a:solidFill>
                  <a:prstClr val="white"/>
                </a:solidFill>
                <a:latin typeface="Calibri"/>
                <a:ea typeface="宋体"/>
              </a:rPr>
              <a:t>下载：</a:t>
            </a:r>
            <a:r>
              <a:rPr lang="en-US" altLang="zh-CN" sz="100">
                <a:solidFill>
                  <a:prstClr val="white"/>
                </a:solidFill>
                <a:latin typeface="Calibri"/>
                <a:ea typeface="宋体"/>
              </a:rPr>
              <a:t>www.1ppt.com/xiazai/         PPT</a:t>
            </a:r>
            <a:r>
              <a:rPr lang="zh-CN" altLang="en-US" sz="100">
                <a:solidFill>
                  <a:prstClr val="white"/>
                </a:solidFill>
                <a:latin typeface="Calibri"/>
                <a:ea typeface="宋体"/>
              </a:rPr>
              <a:t>教程： </a:t>
            </a:r>
            <a:r>
              <a:rPr lang="en-US" altLang="zh-CN" sz="100">
                <a:solidFill>
                  <a:prstClr val="white"/>
                </a:solidFill>
                <a:latin typeface="Calibri"/>
                <a:ea typeface="宋体"/>
              </a:rPr>
              <a:t>www.1ppt.com/powerpoint/      </a:t>
            </a:r>
          </a:p>
          <a:p>
            <a:r>
              <a:rPr lang="en-US" altLang="zh-CN" sz="100">
                <a:solidFill>
                  <a:prstClr val="white"/>
                </a:solidFill>
                <a:latin typeface="Calibri"/>
                <a:ea typeface="宋体"/>
              </a:rPr>
              <a:t>PPT</a:t>
            </a:r>
            <a:r>
              <a:rPr lang="zh-CN" altLang="en-US" sz="100">
                <a:solidFill>
                  <a:prstClr val="white"/>
                </a:solidFill>
                <a:latin typeface="Calibri"/>
                <a:ea typeface="宋体"/>
              </a:rPr>
              <a:t>课件：</a:t>
            </a:r>
            <a:r>
              <a:rPr lang="en-US" altLang="zh-CN" sz="100">
                <a:solidFill>
                  <a:prstClr val="white"/>
                </a:solidFill>
                <a:latin typeface="Calibri"/>
                <a:ea typeface="宋体"/>
              </a:rPr>
              <a:t>www.1ppt.com/kejian/             </a:t>
            </a:r>
            <a:r>
              <a:rPr lang="zh-CN" altLang="en-US" sz="100">
                <a:solidFill>
                  <a:prstClr val="white"/>
                </a:solidFill>
                <a:latin typeface="Calibri"/>
                <a:ea typeface="宋体"/>
              </a:rPr>
              <a:t>字体下载：</a:t>
            </a:r>
            <a:r>
              <a:rPr lang="en-US" altLang="zh-CN" sz="100">
                <a:solidFill>
                  <a:prstClr val="white"/>
                </a:solidFill>
                <a:latin typeface="Calibri"/>
                <a:ea typeface="宋体"/>
              </a:rPr>
              <a:t>www.1ppt.com/ziti/</a:t>
            </a:r>
          </a:p>
          <a:p>
            <a:r>
              <a:rPr lang="zh-CN" altLang="en-US" sz="100">
                <a:solidFill>
                  <a:prstClr val="white"/>
                </a:solidFill>
                <a:latin typeface="Calibri"/>
                <a:ea typeface="宋体"/>
              </a:rPr>
              <a:t>工作总结</a:t>
            </a:r>
            <a:r>
              <a:rPr lang="en-US" altLang="zh-CN" sz="100">
                <a:solidFill>
                  <a:prstClr val="white"/>
                </a:solidFill>
                <a:latin typeface="Calibri"/>
                <a:ea typeface="宋体"/>
              </a:rPr>
              <a:t>PPT</a:t>
            </a:r>
            <a:r>
              <a:rPr lang="zh-CN" altLang="en-US" sz="100">
                <a:solidFill>
                  <a:prstClr val="white"/>
                </a:solidFill>
                <a:latin typeface="Calibri"/>
                <a:ea typeface="宋体"/>
              </a:rPr>
              <a:t>：</a:t>
            </a:r>
            <a:r>
              <a:rPr lang="en-US" altLang="zh-CN" sz="100">
                <a:solidFill>
                  <a:prstClr val="white"/>
                </a:solidFill>
                <a:latin typeface="Calibri"/>
                <a:ea typeface="宋体"/>
              </a:rPr>
              <a:t>www.1ppt.com/xiazai/zongjie/ </a:t>
            </a:r>
            <a:r>
              <a:rPr lang="zh-CN" altLang="en-US" sz="100">
                <a:solidFill>
                  <a:prstClr val="white"/>
                </a:solidFill>
                <a:latin typeface="Calibri"/>
                <a:ea typeface="宋体"/>
              </a:rPr>
              <a:t>工作计划：</a:t>
            </a:r>
            <a:r>
              <a:rPr lang="en-US" altLang="zh-CN" sz="100">
                <a:solidFill>
                  <a:prstClr val="white"/>
                </a:solidFill>
                <a:latin typeface="Calibri"/>
                <a:ea typeface="宋体"/>
              </a:rPr>
              <a:t>www.1ppt.com/xiazai/jihua/</a:t>
            </a:r>
          </a:p>
          <a:p>
            <a:r>
              <a:rPr lang="zh-CN" altLang="en-US" sz="100">
                <a:solidFill>
                  <a:prstClr val="white"/>
                </a:solidFill>
                <a:latin typeface="Calibri"/>
                <a:ea typeface="宋体"/>
              </a:rPr>
              <a:t>商务</a:t>
            </a:r>
            <a:r>
              <a:rPr lang="en-US" altLang="zh-CN" sz="100">
                <a:solidFill>
                  <a:prstClr val="white"/>
                </a:solidFill>
                <a:latin typeface="Calibri"/>
                <a:ea typeface="宋体"/>
              </a:rPr>
              <a:t>PPT</a:t>
            </a:r>
            <a:r>
              <a:rPr lang="zh-CN" altLang="en-US" sz="100">
                <a:solidFill>
                  <a:prstClr val="white"/>
                </a:solidFill>
                <a:latin typeface="Calibri"/>
                <a:ea typeface="宋体"/>
              </a:rPr>
              <a:t>模板：</a:t>
            </a:r>
            <a:r>
              <a:rPr lang="en-US" altLang="zh-CN" sz="100">
                <a:solidFill>
                  <a:prstClr val="white"/>
                </a:solidFill>
                <a:latin typeface="Calibri"/>
                <a:ea typeface="宋体"/>
              </a:rPr>
              <a:t>www.1ppt.com/moban/shangwu/  </a:t>
            </a:r>
            <a:r>
              <a:rPr lang="zh-CN" altLang="en-US" sz="100">
                <a:solidFill>
                  <a:prstClr val="white"/>
                </a:solidFill>
                <a:latin typeface="Calibri"/>
                <a:ea typeface="宋体"/>
              </a:rPr>
              <a:t>个人简历</a:t>
            </a:r>
            <a:r>
              <a:rPr lang="en-US" altLang="zh-CN" sz="100">
                <a:solidFill>
                  <a:prstClr val="white"/>
                </a:solidFill>
                <a:latin typeface="Calibri"/>
                <a:ea typeface="宋体"/>
              </a:rPr>
              <a:t>PPT</a:t>
            </a:r>
            <a:r>
              <a:rPr lang="zh-CN" altLang="en-US" sz="100">
                <a:solidFill>
                  <a:prstClr val="white"/>
                </a:solidFill>
                <a:latin typeface="Calibri"/>
                <a:ea typeface="宋体"/>
              </a:rPr>
              <a:t>：</a:t>
            </a:r>
            <a:r>
              <a:rPr lang="en-US" altLang="zh-CN" sz="100">
                <a:solidFill>
                  <a:prstClr val="white"/>
                </a:solidFill>
                <a:latin typeface="Calibri"/>
                <a:ea typeface="宋体"/>
              </a:rPr>
              <a:t>www.1ppt.com/xiazai/jianli/  </a:t>
            </a:r>
          </a:p>
          <a:p>
            <a:r>
              <a:rPr lang="zh-CN" altLang="en-US" sz="100">
                <a:solidFill>
                  <a:prstClr val="white"/>
                </a:solidFill>
                <a:latin typeface="Calibri"/>
                <a:ea typeface="宋体"/>
              </a:rPr>
              <a:t>毕业答辩</a:t>
            </a:r>
            <a:r>
              <a:rPr lang="en-US" altLang="zh-CN" sz="100">
                <a:solidFill>
                  <a:prstClr val="white"/>
                </a:solidFill>
                <a:latin typeface="Calibri"/>
                <a:ea typeface="宋体"/>
              </a:rPr>
              <a:t>PPT</a:t>
            </a:r>
            <a:r>
              <a:rPr lang="zh-CN" altLang="en-US" sz="100">
                <a:solidFill>
                  <a:prstClr val="white"/>
                </a:solidFill>
                <a:latin typeface="Calibri"/>
                <a:ea typeface="宋体"/>
              </a:rPr>
              <a:t>：</a:t>
            </a:r>
            <a:r>
              <a:rPr lang="en-US" altLang="zh-CN" sz="100">
                <a:solidFill>
                  <a:prstClr val="white"/>
                </a:solidFill>
                <a:latin typeface="Calibri"/>
                <a:ea typeface="宋体"/>
              </a:rPr>
              <a:t>www.1ppt.com/xiazai/dabian/  </a:t>
            </a:r>
            <a:r>
              <a:rPr lang="zh-CN" altLang="en-US" sz="100">
                <a:solidFill>
                  <a:prstClr val="white"/>
                </a:solidFill>
                <a:latin typeface="Calibri"/>
                <a:ea typeface="宋体"/>
              </a:rPr>
              <a:t>工作汇报</a:t>
            </a:r>
            <a:r>
              <a:rPr lang="en-US" altLang="zh-CN" sz="100">
                <a:solidFill>
                  <a:prstClr val="white"/>
                </a:solidFill>
                <a:latin typeface="Calibri"/>
                <a:ea typeface="宋体"/>
              </a:rPr>
              <a:t>PPT</a:t>
            </a:r>
            <a:r>
              <a:rPr lang="zh-CN" altLang="en-US" sz="100">
                <a:solidFill>
                  <a:prstClr val="white"/>
                </a:solidFill>
                <a:latin typeface="Calibri"/>
                <a:ea typeface="宋体"/>
              </a:rPr>
              <a:t>：</a:t>
            </a:r>
            <a:r>
              <a:rPr lang="en-US" altLang="zh-CN" sz="100">
                <a:solidFill>
                  <a:prstClr val="white"/>
                </a:solidFill>
                <a:latin typeface="Calibri"/>
                <a:ea typeface="宋体"/>
              </a:rPr>
              <a:t>www.1ppt.com/xiazai/huibao/    </a:t>
            </a:r>
          </a:p>
          <a:p>
            <a:r>
              <a:rPr lang="en-US" altLang="zh-CN" sz="100">
                <a:solidFill>
                  <a:prstClr val="white"/>
                </a:solidFill>
                <a:latin typeface="Calibri"/>
                <a:ea typeface="宋体"/>
              </a:rPr>
              <a:t> </a:t>
            </a:r>
          </a:p>
        </p:txBody>
      </p:sp>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04BC61-538F-E446-9358-E5E15226B7A7}" type="datetime1">
              <a:rPr lang="zh-CN" altLang="en-US" smtClean="0"/>
              <a:t>2026/6/24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696548795"/>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BC43DB7-D1D0-6740-AD98-0F0196548009}" type="datetime1">
              <a:rPr lang="zh-CN" altLang="en-US" smtClean="0"/>
              <a:t>2026/6/24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987785369"/>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E704C9-C000-0D40-B0BC-7EE1C6658164}" type="datetime1">
              <a:rPr lang="zh-CN" altLang="en-US" smtClean="0"/>
              <a:t>2026/6/24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380765298"/>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C7E75A5E-3423-EA44-B594-686F175511FD}" type="datetime1">
              <a:rPr lang="zh-CN" altLang="en-US" smtClean="0"/>
              <a:t>2026/6/24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008421190"/>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5E4B0D24-81ED-9C46-B4A9-8507769EE818}" type="datetime1">
              <a:rPr lang="zh-CN" altLang="en-US" smtClean="0"/>
              <a:t>2026/6/24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649586407"/>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60C3F1E-85EA-5643-90BE-CA5465B44791}" type="datetime1">
              <a:rPr lang="zh-CN" altLang="en-US" smtClean="0"/>
              <a:t>2026/6/24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3956612616"/>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A13BAFF-AA5E-484C-91D9-CF89CE9925CB}" type="datetime1">
              <a:rPr lang="zh-CN" altLang="en-US" smtClean="0"/>
              <a:t>2026/6/24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extLst>
      <p:ext uri="{BB962C8B-B14F-4D97-AF65-F5344CB8AC3E}">
        <p14:creationId xmlns:p14="http://schemas.microsoft.com/office/powerpoint/2010/main" val="1260705704"/>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948164-943F-C14A-AB7E-1061A1A3851C}" type="datetime1">
              <a:rPr lang="zh-CN" altLang="en-US" smtClean="0"/>
              <a:t>2026/6/24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448800" y="64932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799FB-52B8-4698-BECF-01ADD9E846BE}" type="slidenum">
              <a:rPr lang="zh-CN" altLang="en-US" smtClean="0"/>
              <a:t>‹#›</a:t>
            </a:fld>
            <a:endParaRPr lang="zh-CN" altLang="en-US"/>
          </a:p>
        </p:txBody>
      </p:sp>
      <p:pic>
        <p:nvPicPr>
          <p:cNvPr id="7" name="Picture 2" descr="查看图片">
            <a:extLst>
              <a:ext uri="{FF2B5EF4-FFF2-40B4-BE49-F238E27FC236}">
                <a16:creationId xmlns:a16="http://schemas.microsoft.com/office/drawing/2014/main" id="{9EA5D862-68D7-ECA1-1545-C12350C65F8C}"/>
              </a:ext>
            </a:extLst>
          </p:cNvPr>
          <p:cNvPicPr>
            <a:picLocks noChangeAspect="1" noChangeArrowheads="1"/>
          </p:cNvPicPr>
          <p:nvPr userDrawn="1"/>
        </p:nvPicPr>
        <p:blipFill>
          <a:blip r:embed="rId13">
            <a:alphaModFix amt="28000"/>
            <a:extLst>
              <a:ext uri="{28A0092B-C50C-407E-A947-70E740481C1C}">
                <a14:useLocalDpi xmlns:a14="http://schemas.microsoft.com/office/drawing/2010/main" val="0"/>
              </a:ext>
            </a:extLst>
          </a:blip>
          <a:srcRect l="11528" r="3501" b="15736"/>
          <a:stretch>
            <a:fillRect/>
          </a:stretch>
        </p:blipFill>
        <p:spPr bwMode="auto">
          <a:xfrm>
            <a:off x="0" y="1"/>
            <a:ext cx="12192000"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820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advTm="3000"/>
    </mc:Choice>
    <mc:Fallback xmlns="">
      <p:transition advTm="3000"/>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3">
            <a:extLst>
              <a:ext uri="{FF2B5EF4-FFF2-40B4-BE49-F238E27FC236}">
                <a16:creationId xmlns:a16="http://schemas.microsoft.com/office/drawing/2014/main" id="{276EE64F-015D-0911-8B39-A5B1F04E7D69}"/>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chemeClr val="bg1"/>
                </a:solidFill>
                <a:cs typeface="+mn-ea"/>
                <a:sym typeface="+mn-lt"/>
              </a:rPr>
              <a:t>硕士学位中期报告</a:t>
            </a:r>
          </a:p>
        </p:txBody>
      </p:sp>
      <p:sp>
        <p:nvSpPr>
          <p:cNvPr id="6" name="文本框 5">
            <a:extLst>
              <a:ext uri="{FF2B5EF4-FFF2-40B4-BE49-F238E27FC236}">
                <a16:creationId xmlns:a16="http://schemas.microsoft.com/office/drawing/2014/main" id="{E03D29A6-DC67-8A69-7D47-2D9D0D115F32}"/>
              </a:ext>
            </a:extLst>
          </p:cNvPr>
          <p:cNvSpPr txBox="1"/>
          <p:nvPr/>
        </p:nvSpPr>
        <p:spPr>
          <a:xfrm>
            <a:off x="2150567" y="1910831"/>
            <a:ext cx="7890865" cy="1107996"/>
          </a:xfrm>
          <a:prstGeom prst="rect">
            <a:avLst/>
          </a:prstGeom>
          <a:noFill/>
        </p:spPr>
        <p:txBody>
          <a:bodyPr vert="horz" wrap="square" lIns="0" tIns="0" rIns="0" bIns="0" rtlCol="0">
            <a:spAutoFit/>
          </a:bodyPr>
          <a:lstStyle/>
          <a:p>
            <a:pPr algn="ctr"/>
            <a:r>
              <a:rPr lang="zh-CN" altLang="en-US" sz="3600" b="1" dirty="0">
                <a:solidFill>
                  <a:srgbClr val="102A43"/>
                </a:solidFill>
                <a:latin typeface="Microsoft YaHei" panose="020B0503020204020204" pitchFamily="34" charset="-122"/>
              </a:rPr>
              <a:t>面向动态资源受限多智能体网络的</a:t>
            </a:r>
          </a:p>
          <a:p>
            <a:pPr algn="ctr"/>
            <a:r>
              <a:rPr lang="zh-CN" altLang="en-US" sz="3600" b="1" dirty="0">
                <a:solidFill>
                  <a:srgbClr val="102A43"/>
                </a:solidFill>
                <a:latin typeface="Microsoft YaHei" panose="020B0503020204020204" pitchFamily="34" charset="-122"/>
              </a:rPr>
              <a:t>服务质量感知协同通信优化方法研究</a:t>
            </a:r>
          </a:p>
        </p:txBody>
      </p:sp>
      <p:sp>
        <p:nvSpPr>
          <p:cNvPr id="12" name="文本框 11">
            <a:extLst>
              <a:ext uri="{FF2B5EF4-FFF2-40B4-BE49-F238E27FC236}">
                <a16:creationId xmlns:a16="http://schemas.microsoft.com/office/drawing/2014/main" id="{1BD34F52-E900-D458-EE73-B5832B0C4C3D}"/>
              </a:ext>
            </a:extLst>
          </p:cNvPr>
          <p:cNvSpPr txBox="1"/>
          <p:nvPr/>
        </p:nvSpPr>
        <p:spPr>
          <a:xfrm>
            <a:off x="5752475" y="4719369"/>
            <a:ext cx="687049" cy="276999"/>
          </a:xfrm>
          <a:prstGeom prst="rect">
            <a:avLst/>
          </a:prstGeom>
          <a:noFill/>
        </p:spPr>
        <p:txBody>
          <a:bodyPr vert="horz" wrap="square" lIns="0" tIns="0" rIns="0" bIns="0" rtlCol="0">
            <a:spAutoFit/>
          </a:bodyPr>
          <a:lstStyle/>
          <a:p>
            <a:r>
              <a:rPr lang="zh-CN" altLang="en-US" b="1" dirty="0">
                <a:solidFill>
                  <a:srgbClr val="102A43"/>
                </a:solidFill>
                <a:latin typeface="Microsoft YaHei" panose="020B0503020204020204" pitchFamily="34" charset="-122"/>
              </a:rPr>
              <a:t>李一凡</a:t>
            </a:r>
          </a:p>
        </p:txBody>
      </p:sp>
      <p:sp>
        <p:nvSpPr>
          <p:cNvPr id="14" name="文本框 13">
            <a:extLst>
              <a:ext uri="{FF2B5EF4-FFF2-40B4-BE49-F238E27FC236}">
                <a16:creationId xmlns:a16="http://schemas.microsoft.com/office/drawing/2014/main" id="{69DC839C-A140-9345-7967-C81BB499DDC2}"/>
              </a:ext>
            </a:extLst>
          </p:cNvPr>
          <p:cNvSpPr txBox="1"/>
          <p:nvPr/>
        </p:nvSpPr>
        <p:spPr>
          <a:xfrm>
            <a:off x="5397083" y="5111612"/>
            <a:ext cx="1397833" cy="276999"/>
          </a:xfrm>
          <a:prstGeom prst="rect">
            <a:avLst/>
          </a:prstGeom>
          <a:noFill/>
        </p:spPr>
        <p:txBody>
          <a:bodyPr vert="horz" wrap="square" lIns="0" tIns="0" rIns="0" bIns="0" rtlCol="0">
            <a:spAutoFit/>
          </a:bodyPr>
          <a:lstStyle/>
          <a:p>
            <a:r>
              <a:rPr lang="en-US" altLang="zh-CN" b="1" dirty="0">
                <a:solidFill>
                  <a:srgbClr val="102A43"/>
                </a:solidFill>
                <a:latin typeface="Microsoft YaHei" panose="020B0503020204020204" pitchFamily="34" charset="-122"/>
              </a:rPr>
              <a:t>2026/06/25</a:t>
            </a:r>
            <a:endParaRPr lang="zh-CN" altLang="en-US" b="1" dirty="0">
              <a:solidFill>
                <a:srgbClr val="102A43"/>
              </a:solidFill>
              <a:latin typeface="Microsoft YaHei" panose="020B0503020204020204" pitchFamily="34" charset="-122"/>
            </a:endParaRPr>
          </a:p>
        </p:txBody>
      </p:sp>
      <p:sp>
        <p:nvSpPr>
          <p:cNvPr id="21" name="文本框 20">
            <a:extLst>
              <a:ext uri="{FF2B5EF4-FFF2-40B4-BE49-F238E27FC236}">
                <a16:creationId xmlns:a16="http://schemas.microsoft.com/office/drawing/2014/main" id="{936BB448-19B2-DF07-F769-60033B0B8EB0}"/>
              </a:ext>
            </a:extLst>
          </p:cNvPr>
          <p:cNvSpPr txBox="1"/>
          <p:nvPr/>
        </p:nvSpPr>
        <p:spPr>
          <a:xfrm>
            <a:off x="4598855" y="4327126"/>
            <a:ext cx="2994287" cy="276999"/>
          </a:xfrm>
          <a:prstGeom prst="rect">
            <a:avLst/>
          </a:prstGeom>
          <a:noFill/>
        </p:spPr>
        <p:txBody>
          <a:bodyPr vert="horz" wrap="square" lIns="0" tIns="0" rIns="0" bIns="0" rtlCol="0">
            <a:spAutoFit/>
          </a:bodyPr>
          <a:lstStyle/>
          <a:p>
            <a:r>
              <a:rPr lang="zh-CN" altLang="en-US" b="1" dirty="0">
                <a:solidFill>
                  <a:srgbClr val="102A43"/>
                </a:solidFill>
                <a:latin typeface="Microsoft YaHei" panose="020B0503020204020204" pitchFamily="34" charset="-122"/>
              </a:rPr>
              <a:t>计算学部 </a:t>
            </a:r>
            <a:r>
              <a:rPr lang="en-US" altLang="zh-CN" b="1" dirty="0">
                <a:solidFill>
                  <a:srgbClr val="102A43"/>
                </a:solidFill>
                <a:latin typeface="Microsoft YaHei" panose="020B0503020204020204" pitchFamily="34" charset="-122"/>
              </a:rPr>
              <a:t>· </a:t>
            </a:r>
            <a:r>
              <a:rPr lang="zh-CN" altLang="en-US" b="1" dirty="0">
                <a:solidFill>
                  <a:srgbClr val="102A43"/>
                </a:solidFill>
                <a:latin typeface="Microsoft YaHei" panose="020B0503020204020204" pitchFamily="34" charset="-122"/>
              </a:rPr>
              <a:t>计算机科学与技术</a:t>
            </a:r>
          </a:p>
        </p:txBody>
      </p:sp>
    </p:spTree>
    <p:extLst>
      <p:ext uri="{BB962C8B-B14F-4D97-AF65-F5344CB8AC3E}">
        <p14:creationId xmlns:p14="http://schemas.microsoft.com/office/powerpoint/2010/main" val="4074368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E08E-8018-DA79-A128-71ABC7F24E61}"/>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EDA1C226-09D7-DFE9-96DD-FE891784F5D4}"/>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FFFF"/>
                </a:solidFill>
                <a:latin typeface="Microsoft YaHei" panose="020B0503020204020204" pitchFamily="34" charset="-122"/>
              </a:rPr>
              <a:t>研究对象与问题</a:t>
            </a:r>
          </a:p>
        </p:txBody>
      </p:sp>
      <p:pic>
        <p:nvPicPr>
          <p:cNvPr id="3" name="图形 2">
            <a:extLst>
              <a:ext uri="{FF2B5EF4-FFF2-40B4-BE49-F238E27FC236}">
                <a16:creationId xmlns:a16="http://schemas.microsoft.com/office/drawing/2014/main" id="{13369282-0CE5-4DBD-A593-7931D17D01C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7712" y="981856"/>
            <a:ext cx="7432841" cy="4167265"/>
          </a:xfrm>
          <a:prstGeom prst="rect">
            <a:avLst/>
          </a:prstGeom>
        </p:spPr>
      </p:pic>
      <p:sp>
        <p:nvSpPr>
          <p:cNvPr id="5" name="矩形 4">
            <a:extLst>
              <a:ext uri="{FF2B5EF4-FFF2-40B4-BE49-F238E27FC236}">
                <a16:creationId xmlns:a16="http://schemas.microsoft.com/office/drawing/2014/main" id="{EDFE5F80-5FE2-EC9E-A428-19C8A2029489}"/>
              </a:ext>
            </a:extLst>
          </p:cNvPr>
          <p:cNvSpPr/>
          <p:nvPr/>
        </p:nvSpPr>
        <p:spPr>
          <a:xfrm>
            <a:off x="7864840" y="981855"/>
            <a:ext cx="4209738" cy="4167265"/>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7F7E05C5-5DEB-C447-6B0F-B96BBC70A135}"/>
              </a:ext>
            </a:extLst>
          </p:cNvPr>
          <p:cNvSpPr/>
          <p:nvPr/>
        </p:nvSpPr>
        <p:spPr>
          <a:xfrm>
            <a:off x="7864839" y="1007256"/>
            <a:ext cx="1471235"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D0CDC801-DFF4-E89A-97E9-C40F2B78C33F}"/>
              </a:ext>
            </a:extLst>
          </p:cNvPr>
          <p:cNvSpPr txBox="1"/>
          <p:nvPr/>
        </p:nvSpPr>
        <p:spPr>
          <a:xfrm>
            <a:off x="8020877" y="1261256"/>
            <a:ext cx="3942524"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研究问题</a:t>
            </a:r>
          </a:p>
        </p:txBody>
      </p:sp>
      <p:sp>
        <p:nvSpPr>
          <p:cNvPr id="11" name="文本框 10">
            <a:extLst>
              <a:ext uri="{FF2B5EF4-FFF2-40B4-BE49-F238E27FC236}">
                <a16:creationId xmlns:a16="http://schemas.microsoft.com/office/drawing/2014/main" id="{081839AA-D7D9-1E69-B09E-13C4788D2180}"/>
              </a:ext>
            </a:extLst>
          </p:cNvPr>
          <p:cNvSpPr txBox="1"/>
          <p:nvPr/>
        </p:nvSpPr>
        <p:spPr>
          <a:xfrm>
            <a:off x="8020877" y="1807356"/>
            <a:ext cx="3746402" cy="2800767"/>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动态边缘服务依赖多智能体之间的临时无线链路完成数据回传与任务推理。节点移动、链路质量波动和能量受限会共同影响服务数据能否持续送达。</a:t>
            </a:r>
            <a:endParaRPr lang="en-US" altLang="zh-CN" sz="1400" dirty="0">
              <a:solidFill>
                <a:srgbClr val="222222"/>
              </a:solidFill>
              <a:latin typeface="Microsoft YaHei" panose="020B0503020204020204" pitchFamily="34" charset="-122"/>
            </a:endParaRPr>
          </a:p>
          <a:p>
            <a:endParaRPr lang="en-US" altLang="zh-CN"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在协同推理任务中，局部观测需要通过语义证据交换形成完整判断。通信资源不足会降低语义证据利用效果，而无差别发送全部消息又会增加带宽占用、时延和丢包风险。</a:t>
            </a:r>
            <a:endParaRPr lang="en-US" altLang="zh-CN" sz="1400" dirty="0">
              <a:solidFill>
                <a:srgbClr val="222222"/>
              </a:solidFill>
              <a:latin typeface="Microsoft YaHei" panose="020B0503020204020204" pitchFamily="34" charset="-122"/>
            </a:endParaRPr>
          </a:p>
          <a:p>
            <a:endParaRPr lang="en-US" altLang="zh-CN"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因此，本课题关注在链路、带宽和能量持续变化的条件下，如何通过通信决策同时保障数据传输连续性、语义信息有效性和最终服务质量</a:t>
            </a:r>
          </a:p>
        </p:txBody>
      </p:sp>
      <p:sp>
        <p:nvSpPr>
          <p:cNvPr id="13" name="矩形 12">
            <a:extLst>
              <a:ext uri="{FF2B5EF4-FFF2-40B4-BE49-F238E27FC236}">
                <a16:creationId xmlns:a16="http://schemas.microsoft.com/office/drawing/2014/main" id="{392D0F84-E74A-EC03-01AA-8BBA4226DCD2}"/>
              </a:ext>
            </a:extLst>
          </p:cNvPr>
          <p:cNvSpPr/>
          <p:nvPr/>
        </p:nvSpPr>
        <p:spPr>
          <a:xfrm>
            <a:off x="1693264" y="5428521"/>
            <a:ext cx="9525000" cy="736600"/>
          </a:xfrm>
          <a:prstGeom prst="rect">
            <a:avLst/>
          </a:prstGeom>
          <a:solidFill>
            <a:srgbClr val="E9EEF2"/>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78166A86-7304-E101-B1A1-2BBE9F0CCEA7}"/>
              </a:ext>
            </a:extLst>
          </p:cNvPr>
          <p:cNvSpPr txBox="1"/>
          <p:nvPr/>
        </p:nvSpPr>
        <p:spPr>
          <a:xfrm>
            <a:off x="2036164" y="5644421"/>
            <a:ext cx="8890000" cy="246221"/>
          </a:xfrm>
          <a:prstGeom prst="rect">
            <a:avLst/>
          </a:prstGeom>
          <a:noFill/>
        </p:spPr>
        <p:txBody>
          <a:bodyPr vert="horz" wrap="square" lIns="0" tIns="0" rIns="0" bIns="0" rtlCol="0">
            <a:spAutoFit/>
          </a:bodyPr>
          <a:lstStyle/>
          <a:p>
            <a:pPr algn="ctr"/>
            <a:r>
              <a:rPr lang="zh-CN" altLang="en-US" sz="1600" b="1">
                <a:solidFill>
                  <a:srgbClr val="1E4976"/>
                </a:solidFill>
                <a:latin typeface="Microsoft YaHei" panose="020B0503020204020204" pitchFamily="34" charset="-122"/>
              </a:rPr>
              <a:t>本课题研究通信策略如何同时影响数据持续送达、语义证据利用和最终服务质量。</a:t>
            </a:r>
          </a:p>
        </p:txBody>
      </p:sp>
    </p:spTree>
    <p:extLst>
      <p:ext uri="{BB962C8B-B14F-4D97-AF65-F5344CB8AC3E}">
        <p14:creationId xmlns:p14="http://schemas.microsoft.com/office/powerpoint/2010/main" val="38491471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203A4-0D2A-7E5F-0292-D09EAED945EA}"/>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8D3E84C6-CEBB-B995-4E74-06FECD71C23D}"/>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FFFF"/>
                </a:solidFill>
                <a:latin typeface="Microsoft YaHei" panose="020B0503020204020204" pitchFamily="34" charset="-122"/>
              </a:rPr>
              <a:t>研究内容关系</a:t>
            </a:r>
          </a:p>
        </p:txBody>
      </p:sp>
      <p:sp>
        <p:nvSpPr>
          <p:cNvPr id="2" name="矩形 1">
            <a:extLst>
              <a:ext uri="{FF2B5EF4-FFF2-40B4-BE49-F238E27FC236}">
                <a16:creationId xmlns:a16="http://schemas.microsoft.com/office/drawing/2014/main" id="{32C5BCC8-FE07-5259-9716-C4B5A7F22B44}"/>
              </a:ext>
            </a:extLst>
          </p:cNvPr>
          <p:cNvSpPr/>
          <p:nvPr/>
        </p:nvSpPr>
        <p:spPr>
          <a:xfrm>
            <a:off x="508000" y="1066800"/>
            <a:ext cx="8128000" cy="48514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3B6633D-5A0F-6C47-69BF-3A8935F8AEE9}"/>
              </a:ext>
            </a:extLst>
          </p:cNvPr>
          <p:cNvSpPr/>
          <p:nvPr/>
        </p:nvSpPr>
        <p:spPr>
          <a:xfrm>
            <a:off x="609600" y="11684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8C9FF75-ADE6-87FF-EA31-CC45E65AADF9}"/>
              </a:ext>
            </a:extLst>
          </p:cNvPr>
          <p:cNvSpPr txBox="1"/>
          <p:nvPr/>
        </p:nvSpPr>
        <p:spPr>
          <a:xfrm>
            <a:off x="698500" y="12319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研究内容框架</a:t>
            </a:r>
          </a:p>
        </p:txBody>
      </p:sp>
      <p:pic>
        <p:nvPicPr>
          <p:cNvPr id="5" name="图片 4">
            <a:extLst>
              <a:ext uri="{FF2B5EF4-FFF2-40B4-BE49-F238E27FC236}">
                <a16:creationId xmlns:a16="http://schemas.microsoft.com/office/drawing/2014/main" id="{DBBC9AB3-6558-4476-6EBE-8B592904D1F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524295"/>
            <a:ext cx="7874000" cy="4241209"/>
          </a:xfrm>
          <a:prstGeom prst="rect">
            <a:avLst/>
          </a:prstGeom>
        </p:spPr>
      </p:pic>
      <p:sp>
        <p:nvSpPr>
          <p:cNvPr id="6" name="矩形 5">
            <a:extLst>
              <a:ext uri="{FF2B5EF4-FFF2-40B4-BE49-F238E27FC236}">
                <a16:creationId xmlns:a16="http://schemas.microsoft.com/office/drawing/2014/main" id="{52484D18-0CF0-E626-7E3E-9A7B405B6278}"/>
              </a:ext>
            </a:extLst>
          </p:cNvPr>
          <p:cNvSpPr/>
          <p:nvPr/>
        </p:nvSpPr>
        <p:spPr>
          <a:xfrm>
            <a:off x="9017000" y="1066800"/>
            <a:ext cx="2413000" cy="1270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362FD087-BB2F-E756-6F26-251F62838FF6}"/>
              </a:ext>
            </a:extLst>
          </p:cNvPr>
          <p:cNvSpPr/>
          <p:nvPr/>
        </p:nvSpPr>
        <p:spPr>
          <a:xfrm>
            <a:off x="9017000" y="1066800"/>
            <a:ext cx="8204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2EC427FC-EDBC-AF0D-D39C-692D321F7A9F}"/>
              </a:ext>
            </a:extLst>
          </p:cNvPr>
          <p:cNvSpPr txBox="1"/>
          <p:nvPr/>
        </p:nvSpPr>
        <p:spPr>
          <a:xfrm>
            <a:off x="9245600" y="1257415"/>
            <a:ext cx="19558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服务数据回传</a:t>
            </a:r>
          </a:p>
        </p:txBody>
      </p:sp>
      <p:sp>
        <p:nvSpPr>
          <p:cNvPr id="9" name="文本框 8">
            <a:extLst>
              <a:ext uri="{FF2B5EF4-FFF2-40B4-BE49-F238E27FC236}">
                <a16:creationId xmlns:a16="http://schemas.microsoft.com/office/drawing/2014/main" id="{E6A7F82E-E12C-2B6E-8C52-0DA6568A7075}"/>
              </a:ext>
            </a:extLst>
          </p:cNvPr>
          <p:cNvSpPr txBox="1"/>
          <p:nvPr/>
        </p:nvSpPr>
        <p:spPr>
          <a:xfrm>
            <a:off x="9245600" y="1585898"/>
            <a:ext cx="1955800" cy="646331"/>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研究分布式路由与功率控制，为动态网络中的可靠传输提供支撑。</a:t>
            </a:r>
          </a:p>
        </p:txBody>
      </p:sp>
      <p:sp>
        <p:nvSpPr>
          <p:cNvPr id="10" name="矩形 9">
            <a:extLst>
              <a:ext uri="{FF2B5EF4-FFF2-40B4-BE49-F238E27FC236}">
                <a16:creationId xmlns:a16="http://schemas.microsoft.com/office/drawing/2014/main" id="{6B50BC53-F5A5-C312-21EF-D5FF24480B8E}"/>
              </a:ext>
            </a:extLst>
          </p:cNvPr>
          <p:cNvSpPr/>
          <p:nvPr/>
        </p:nvSpPr>
        <p:spPr>
          <a:xfrm>
            <a:off x="9017000" y="2819400"/>
            <a:ext cx="2413000" cy="1270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9B402D4E-8AAA-48EE-846D-C5D0D6EF7EF2}"/>
              </a:ext>
            </a:extLst>
          </p:cNvPr>
          <p:cNvSpPr/>
          <p:nvPr/>
        </p:nvSpPr>
        <p:spPr>
          <a:xfrm>
            <a:off x="9017000" y="2819400"/>
            <a:ext cx="8204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BFAE7ECA-8331-AE01-EF67-3C6AB059792F}"/>
              </a:ext>
            </a:extLst>
          </p:cNvPr>
          <p:cNvSpPr txBox="1"/>
          <p:nvPr/>
        </p:nvSpPr>
        <p:spPr>
          <a:xfrm>
            <a:off x="9245600" y="2981529"/>
            <a:ext cx="19558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语义证据选择</a:t>
            </a:r>
          </a:p>
        </p:txBody>
      </p:sp>
      <p:sp>
        <p:nvSpPr>
          <p:cNvPr id="13" name="文本框 12">
            <a:extLst>
              <a:ext uri="{FF2B5EF4-FFF2-40B4-BE49-F238E27FC236}">
                <a16:creationId xmlns:a16="http://schemas.microsoft.com/office/drawing/2014/main" id="{7285A87F-2F79-271B-91F4-A6D022247A96}"/>
              </a:ext>
            </a:extLst>
          </p:cNvPr>
          <p:cNvSpPr txBox="1"/>
          <p:nvPr/>
        </p:nvSpPr>
        <p:spPr>
          <a:xfrm>
            <a:off x="9245600" y="3310012"/>
            <a:ext cx="1955800" cy="646331"/>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在有限通信预算和不可靠链路下，学习选择对协同推理更有价值的消息。</a:t>
            </a:r>
          </a:p>
        </p:txBody>
      </p:sp>
      <p:sp>
        <p:nvSpPr>
          <p:cNvPr id="14" name="矩形 13">
            <a:extLst>
              <a:ext uri="{FF2B5EF4-FFF2-40B4-BE49-F238E27FC236}">
                <a16:creationId xmlns:a16="http://schemas.microsoft.com/office/drawing/2014/main" id="{9AEEB7E6-B009-44E3-5E79-6EA0A8786237}"/>
              </a:ext>
            </a:extLst>
          </p:cNvPr>
          <p:cNvSpPr/>
          <p:nvPr/>
        </p:nvSpPr>
        <p:spPr>
          <a:xfrm>
            <a:off x="9017000" y="4572000"/>
            <a:ext cx="2413000" cy="1270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944E70D-FC10-E26C-E0E3-E17D5C4EEAA2}"/>
              </a:ext>
            </a:extLst>
          </p:cNvPr>
          <p:cNvSpPr/>
          <p:nvPr/>
        </p:nvSpPr>
        <p:spPr>
          <a:xfrm>
            <a:off x="9017000" y="4572000"/>
            <a:ext cx="8204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332A6ABF-9A2F-F0A9-8D30-D81420410998}"/>
              </a:ext>
            </a:extLst>
          </p:cNvPr>
          <p:cNvSpPr txBox="1"/>
          <p:nvPr/>
        </p:nvSpPr>
        <p:spPr>
          <a:xfrm>
            <a:off x="9245600" y="4753401"/>
            <a:ext cx="19558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稳定性分析</a:t>
            </a:r>
          </a:p>
        </p:txBody>
      </p:sp>
      <p:sp>
        <p:nvSpPr>
          <p:cNvPr id="18" name="文本框 17">
            <a:extLst>
              <a:ext uri="{FF2B5EF4-FFF2-40B4-BE49-F238E27FC236}">
                <a16:creationId xmlns:a16="http://schemas.microsoft.com/office/drawing/2014/main" id="{A26FAFF1-9D57-3515-4315-29D66F61574C}"/>
              </a:ext>
            </a:extLst>
          </p:cNvPr>
          <p:cNvSpPr txBox="1"/>
          <p:nvPr/>
        </p:nvSpPr>
        <p:spPr>
          <a:xfrm>
            <a:off x="9245600" y="5113034"/>
            <a:ext cx="1955800" cy="646331"/>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把链路质量、功率控制和节点能量变化引入语义通信环境。</a:t>
            </a:r>
          </a:p>
        </p:txBody>
      </p:sp>
      <p:cxnSp>
        <p:nvCxnSpPr>
          <p:cNvPr id="19" name="直接连接符 18">
            <a:extLst>
              <a:ext uri="{FF2B5EF4-FFF2-40B4-BE49-F238E27FC236}">
                <a16:creationId xmlns:a16="http://schemas.microsoft.com/office/drawing/2014/main" id="{BF5EC74D-5A82-2C97-45EE-E0D2352ACAFE}"/>
              </a:ext>
            </a:extLst>
          </p:cNvPr>
          <p:cNvCxnSpPr/>
          <p:nvPr/>
        </p:nvCxnSpPr>
        <p:spPr>
          <a:xfrm>
            <a:off x="10223500" y="2336800"/>
            <a:ext cx="0" cy="48260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cxnSp>
        <p:nvCxnSpPr>
          <p:cNvPr id="20" name="直接连接符 19">
            <a:extLst>
              <a:ext uri="{FF2B5EF4-FFF2-40B4-BE49-F238E27FC236}">
                <a16:creationId xmlns:a16="http://schemas.microsoft.com/office/drawing/2014/main" id="{512E429D-B449-785E-061C-778D3C80B43A}"/>
              </a:ext>
            </a:extLst>
          </p:cNvPr>
          <p:cNvCxnSpPr/>
          <p:nvPr/>
        </p:nvCxnSpPr>
        <p:spPr>
          <a:xfrm>
            <a:off x="10223500" y="4089400"/>
            <a:ext cx="0" cy="48260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7695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1B818-5F25-1097-ED91-656A1110E39E}"/>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6EA2B391-905D-7502-F85B-04267D64D511}"/>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FFFF"/>
                </a:solidFill>
                <a:latin typeface="Microsoft YaHei" panose="020B0503020204020204" pitchFamily="34" charset="-122"/>
              </a:rPr>
              <a:t>当前研究进展</a:t>
            </a:r>
          </a:p>
        </p:txBody>
      </p:sp>
      <p:sp>
        <p:nvSpPr>
          <p:cNvPr id="3" name="矩形 2">
            <a:extLst>
              <a:ext uri="{FF2B5EF4-FFF2-40B4-BE49-F238E27FC236}">
                <a16:creationId xmlns:a16="http://schemas.microsoft.com/office/drawing/2014/main" id="{CC903D6B-C1F0-7DDA-5131-740F49D10DB6}"/>
              </a:ext>
            </a:extLst>
          </p:cNvPr>
          <p:cNvSpPr/>
          <p:nvPr/>
        </p:nvSpPr>
        <p:spPr>
          <a:xfrm>
            <a:off x="571500" y="1244600"/>
            <a:ext cx="3365500" cy="40005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8DE7B80A-C438-D762-87CC-9096FD649291}"/>
              </a:ext>
            </a:extLst>
          </p:cNvPr>
          <p:cNvSpPr/>
          <p:nvPr/>
        </p:nvSpPr>
        <p:spPr>
          <a:xfrm>
            <a:off x="571500" y="1244600"/>
            <a:ext cx="114427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912779B1-08EA-77F0-166C-94ED138713C3}"/>
              </a:ext>
            </a:extLst>
          </p:cNvPr>
          <p:cNvSpPr txBox="1"/>
          <p:nvPr/>
        </p:nvSpPr>
        <p:spPr>
          <a:xfrm>
            <a:off x="800100" y="1524000"/>
            <a:ext cx="2908300" cy="276999"/>
          </a:xfrm>
          <a:prstGeom prst="rect">
            <a:avLst/>
          </a:prstGeom>
          <a:noFill/>
        </p:spPr>
        <p:txBody>
          <a:bodyPr vert="horz" wrap="square" lIns="0" tIns="0" rIns="0" bIns="0" rtlCol="0">
            <a:spAutoFit/>
          </a:bodyPr>
          <a:lstStyle/>
          <a:p>
            <a:r>
              <a:rPr lang="en-US" altLang="zh-CN" b="1">
                <a:solidFill>
                  <a:srgbClr val="1E4976"/>
                </a:solidFill>
                <a:latin typeface="Microsoft YaHei" panose="020B0503020204020204" pitchFamily="34" charset="-122"/>
              </a:rPr>
              <a:t>RQ1 </a:t>
            </a:r>
            <a:r>
              <a:rPr lang="zh-CN" altLang="en-US" b="1">
                <a:solidFill>
                  <a:srgbClr val="1E4976"/>
                </a:solidFill>
                <a:latin typeface="Microsoft YaHei" panose="020B0503020204020204" pitchFamily="34" charset="-122"/>
              </a:rPr>
              <a:t>服务数据传输</a:t>
            </a:r>
          </a:p>
        </p:txBody>
      </p:sp>
      <p:sp>
        <p:nvSpPr>
          <p:cNvPr id="9" name="文本框 8">
            <a:extLst>
              <a:ext uri="{FF2B5EF4-FFF2-40B4-BE49-F238E27FC236}">
                <a16:creationId xmlns:a16="http://schemas.microsoft.com/office/drawing/2014/main" id="{157F3511-806C-258B-EE83-67B3555C176D}"/>
              </a:ext>
            </a:extLst>
          </p:cNvPr>
          <p:cNvSpPr txBox="1"/>
          <p:nvPr/>
        </p:nvSpPr>
        <p:spPr>
          <a:xfrm>
            <a:off x="800100" y="2070100"/>
            <a:ext cx="2908300" cy="1723549"/>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已完成问题建模、算法设计、理论推导、仿真实现和对比实验。</a:t>
            </a:r>
          </a:p>
          <a:p>
            <a:endParaRPr lang="zh-CN" altLang="en-US"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提出 </a:t>
            </a:r>
            <a:r>
              <a:rPr lang="en-US" altLang="zh-CN" sz="1400" dirty="0">
                <a:solidFill>
                  <a:srgbClr val="222222"/>
                </a:solidFill>
                <a:latin typeface="Times New Roman" panose="02020603050405020304" pitchFamily="18" charset="0"/>
                <a:cs typeface="Times New Roman" panose="02020603050405020304" pitchFamily="18" charset="0"/>
              </a:rPr>
              <a:t>LEADR</a:t>
            </a:r>
            <a:r>
              <a:rPr lang="zh-CN" altLang="en-US" sz="1400" dirty="0">
                <a:solidFill>
                  <a:srgbClr val="222222"/>
                </a:solidFill>
                <a:latin typeface="Microsoft YaHei" panose="020B0503020204020204" pitchFamily="34" charset="-122"/>
              </a:rPr>
              <a:t>，通过分布式路由与功率联合决策均衡节点能耗。</a:t>
            </a:r>
          </a:p>
          <a:p>
            <a:endParaRPr lang="zh-CN" altLang="en-US"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成果发表于服务计算领域 </a:t>
            </a:r>
            <a:r>
              <a:rPr lang="en-US" altLang="zh-CN" sz="1400" dirty="0">
                <a:solidFill>
                  <a:srgbClr val="222222"/>
                </a:solidFill>
                <a:latin typeface="Times New Roman" panose="02020603050405020304" pitchFamily="18" charset="0"/>
                <a:cs typeface="Times New Roman" panose="02020603050405020304" pitchFamily="18" charset="0"/>
              </a:rPr>
              <a:t>CCF-B</a:t>
            </a:r>
            <a:r>
              <a:rPr lang="en-US" altLang="zh-CN" sz="1400" dirty="0">
                <a:solidFill>
                  <a:srgbClr val="222222"/>
                </a:solidFill>
                <a:latin typeface="Microsoft YaHei" panose="020B0503020204020204" pitchFamily="34" charset="-122"/>
              </a:rPr>
              <a:t> </a:t>
            </a:r>
            <a:r>
              <a:rPr lang="zh-CN" altLang="en-US" sz="1400" dirty="0">
                <a:solidFill>
                  <a:srgbClr val="222222"/>
                </a:solidFill>
                <a:latin typeface="Microsoft YaHei" panose="020B0503020204020204" pitchFamily="34" charset="-122"/>
              </a:rPr>
              <a:t>类国际会议 </a:t>
            </a:r>
            <a:r>
              <a:rPr lang="en-US" altLang="zh-CN" sz="1400" dirty="0">
                <a:solidFill>
                  <a:srgbClr val="222222"/>
                </a:solidFill>
                <a:latin typeface="Times New Roman" panose="02020603050405020304" pitchFamily="18" charset="0"/>
                <a:cs typeface="Times New Roman" panose="02020603050405020304" pitchFamily="18" charset="0"/>
              </a:rPr>
              <a:t>ICSOC 2025</a:t>
            </a:r>
            <a:r>
              <a:rPr lang="zh-CN" altLang="en-US" sz="1400" dirty="0">
                <a:solidFill>
                  <a:srgbClr val="222222"/>
                </a:solidFill>
                <a:latin typeface="Microsoft YaHei" panose="020B0503020204020204" pitchFamily="34" charset="-122"/>
              </a:rPr>
              <a:t>。</a:t>
            </a:r>
          </a:p>
        </p:txBody>
      </p:sp>
      <p:sp>
        <p:nvSpPr>
          <p:cNvPr id="11" name="矩形 10">
            <a:extLst>
              <a:ext uri="{FF2B5EF4-FFF2-40B4-BE49-F238E27FC236}">
                <a16:creationId xmlns:a16="http://schemas.microsoft.com/office/drawing/2014/main" id="{1B8B0F10-EE91-84F1-1CDA-DD944358A582}"/>
              </a:ext>
            </a:extLst>
          </p:cNvPr>
          <p:cNvSpPr/>
          <p:nvPr/>
        </p:nvSpPr>
        <p:spPr>
          <a:xfrm>
            <a:off x="4406900" y="1244600"/>
            <a:ext cx="3365500" cy="40005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346E4557-5C0C-95DC-6E19-D9AD4C530337}"/>
              </a:ext>
            </a:extLst>
          </p:cNvPr>
          <p:cNvSpPr/>
          <p:nvPr/>
        </p:nvSpPr>
        <p:spPr>
          <a:xfrm>
            <a:off x="4406900" y="1244600"/>
            <a:ext cx="114427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BF60BE7E-BDF9-8CEC-D184-98F3A356AF54}"/>
              </a:ext>
            </a:extLst>
          </p:cNvPr>
          <p:cNvSpPr txBox="1"/>
          <p:nvPr/>
        </p:nvSpPr>
        <p:spPr>
          <a:xfrm>
            <a:off x="4635500" y="1524000"/>
            <a:ext cx="2908300" cy="276999"/>
          </a:xfrm>
          <a:prstGeom prst="rect">
            <a:avLst/>
          </a:prstGeom>
          <a:noFill/>
        </p:spPr>
        <p:txBody>
          <a:bodyPr vert="horz" wrap="square" lIns="0" tIns="0" rIns="0" bIns="0" rtlCol="0">
            <a:spAutoFit/>
          </a:bodyPr>
          <a:lstStyle/>
          <a:p>
            <a:r>
              <a:rPr lang="en-US" altLang="zh-CN" b="1">
                <a:solidFill>
                  <a:srgbClr val="1E4976"/>
                </a:solidFill>
                <a:latin typeface="Microsoft YaHei" panose="020B0503020204020204" pitchFamily="34" charset="-122"/>
              </a:rPr>
              <a:t>RQ2 </a:t>
            </a:r>
            <a:r>
              <a:rPr lang="zh-CN" altLang="en-US" b="1">
                <a:solidFill>
                  <a:srgbClr val="1E4976"/>
                </a:solidFill>
                <a:latin typeface="Microsoft YaHei" panose="020B0503020204020204" pitchFamily="34" charset="-122"/>
              </a:rPr>
              <a:t>协同推理服务</a:t>
            </a:r>
          </a:p>
        </p:txBody>
      </p:sp>
      <p:sp>
        <p:nvSpPr>
          <p:cNvPr id="18" name="文本框 17">
            <a:extLst>
              <a:ext uri="{FF2B5EF4-FFF2-40B4-BE49-F238E27FC236}">
                <a16:creationId xmlns:a16="http://schemas.microsoft.com/office/drawing/2014/main" id="{85D6A678-03EB-9C76-45C0-F69BA99635DF}"/>
              </a:ext>
            </a:extLst>
          </p:cNvPr>
          <p:cNvSpPr txBox="1"/>
          <p:nvPr/>
        </p:nvSpPr>
        <p:spPr>
          <a:xfrm>
            <a:off x="4635500" y="2070100"/>
            <a:ext cx="2908300" cy="1508105"/>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已完成离线语义轨迹构造、链路可靠性建模、强化学习策略实现和完整实验。</a:t>
            </a:r>
          </a:p>
          <a:p>
            <a:endParaRPr lang="zh-CN" altLang="en-US"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实验基于约 </a:t>
            </a:r>
            <a:r>
              <a:rPr lang="en-US" altLang="zh-CN" sz="1400" dirty="0">
                <a:solidFill>
                  <a:srgbClr val="222222"/>
                </a:solidFill>
                <a:latin typeface="Microsoft YaHei" panose="020B0503020204020204" pitchFamily="34" charset="-122"/>
              </a:rPr>
              <a:t>3000 </a:t>
            </a:r>
            <a:r>
              <a:rPr lang="zh-CN" altLang="en-US" sz="1400" dirty="0">
                <a:solidFill>
                  <a:srgbClr val="222222"/>
                </a:solidFill>
                <a:latin typeface="Microsoft YaHei" panose="020B0503020204020204" pitchFamily="34" charset="-122"/>
              </a:rPr>
              <a:t>条 </a:t>
            </a:r>
            <a:r>
              <a:rPr lang="en-US" altLang="zh-CN" sz="1400" dirty="0">
                <a:solidFill>
                  <a:srgbClr val="222222"/>
                </a:solidFill>
                <a:latin typeface="Times New Roman" panose="02020603050405020304" pitchFamily="18" charset="0"/>
                <a:cs typeface="Times New Roman" panose="02020603050405020304" pitchFamily="18" charset="0"/>
              </a:rPr>
              <a:t>trace</a:t>
            </a:r>
            <a:r>
              <a:rPr lang="zh-CN" altLang="en-US" sz="1400" dirty="0">
                <a:solidFill>
                  <a:srgbClr val="222222"/>
                </a:solidFill>
                <a:latin typeface="Microsoft YaHei" panose="020B0503020204020204" pitchFamily="34" charset="-122"/>
              </a:rPr>
              <a:t>，覆盖主设置、智能体数量、通信预算和关键模块消融。</a:t>
            </a:r>
          </a:p>
        </p:txBody>
      </p:sp>
      <p:sp>
        <p:nvSpPr>
          <p:cNvPr id="20" name="矩形 19">
            <a:extLst>
              <a:ext uri="{FF2B5EF4-FFF2-40B4-BE49-F238E27FC236}">
                <a16:creationId xmlns:a16="http://schemas.microsoft.com/office/drawing/2014/main" id="{10C49003-C9CA-43EA-58C8-687F386BE399}"/>
              </a:ext>
            </a:extLst>
          </p:cNvPr>
          <p:cNvSpPr/>
          <p:nvPr/>
        </p:nvSpPr>
        <p:spPr>
          <a:xfrm>
            <a:off x="8242300" y="1244600"/>
            <a:ext cx="3365500" cy="40005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91FE1EC-2EAC-A2A4-C2BE-3D17C366CCCF}"/>
              </a:ext>
            </a:extLst>
          </p:cNvPr>
          <p:cNvSpPr/>
          <p:nvPr/>
        </p:nvSpPr>
        <p:spPr>
          <a:xfrm>
            <a:off x="8242300" y="1244600"/>
            <a:ext cx="114427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8A891CC8-A2F9-1671-81EA-5D04133EF0C5}"/>
              </a:ext>
            </a:extLst>
          </p:cNvPr>
          <p:cNvSpPr txBox="1"/>
          <p:nvPr/>
        </p:nvSpPr>
        <p:spPr>
          <a:xfrm>
            <a:off x="8470900" y="1524000"/>
            <a:ext cx="2908300" cy="276999"/>
          </a:xfrm>
          <a:prstGeom prst="rect">
            <a:avLst/>
          </a:prstGeom>
          <a:noFill/>
        </p:spPr>
        <p:txBody>
          <a:bodyPr vert="horz" wrap="square" lIns="0" tIns="0" rIns="0" bIns="0" rtlCol="0">
            <a:spAutoFit/>
          </a:bodyPr>
          <a:lstStyle/>
          <a:p>
            <a:r>
              <a:rPr lang="en-US" altLang="zh-CN" b="1">
                <a:solidFill>
                  <a:srgbClr val="1E4976"/>
                </a:solidFill>
                <a:latin typeface="Microsoft YaHei" panose="020B0503020204020204" pitchFamily="34" charset="-122"/>
              </a:rPr>
              <a:t>RQ3 </a:t>
            </a:r>
            <a:r>
              <a:rPr lang="zh-CN" altLang="en-US" b="1">
                <a:solidFill>
                  <a:srgbClr val="1E4976"/>
                </a:solidFill>
                <a:latin typeface="Microsoft YaHei" panose="020B0503020204020204" pitchFamily="34" charset="-122"/>
              </a:rPr>
              <a:t>稳定性分析</a:t>
            </a:r>
          </a:p>
        </p:txBody>
      </p:sp>
      <p:sp>
        <p:nvSpPr>
          <p:cNvPr id="26" name="文本框 25">
            <a:extLst>
              <a:ext uri="{FF2B5EF4-FFF2-40B4-BE49-F238E27FC236}">
                <a16:creationId xmlns:a16="http://schemas.microsoft.com/office/drawing/2014/main" id="{8CC7281A-81B9-0A04-3DD1-3F0BDCA93A2F}"/>
              </a:ext>
            </a:extLst>
          </p:cNvPr>
          <p:cNvSpPr txBox="1"/>
          <p:nvPr/>
        </p:nvSpPr>
        <p:spPr>
          <a:xfrm>
            <a:off x="8470900" y="2070100"/>
            <a:ext cx="2908300" cy="1292662"/>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已明确研究目标、对比条件和评价指标。</a:t>
            </a:r>
          </a:p>
          <a:p>
            <a:endParaRPr lang="zh-CN" altLang="en-US"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后续将把 </a:t>
            </a:r>
            <a:r>
              <a:rPr lang="en-US" altLang="zh-CN" sz="1400" dirty="0">
                <a:solidFill>
                  <a:srgbClr val="222222"/>
                </a:solidFill>
                <a:latin typeface="Times New Roman" panose="02020603050405020304" pitchFamily="18" charset="0"/>
                <a:cs typeface="Times New Roman" panose="02020603050405020304" pitchFamily="18" charset="0"/>
              </a:rPr>
              <a:t>LEADR</a:t>
            </a:r>
            <a:r>
              <a:rPr lang="en-US" altLang="zh-CN" sz="1400" dirty="0">
                <a:solidFill>
                  <a:srgbClr val="222222"/>
                </a:solidFill>
                <a:latin typeface="Microsoft YaHei" panose="020B0503020204020204" pitchFamily="34" charset="-122"/>
              </a:rPr>
              <a:t> </a:t>
            </a:r>
            <a:r>
              <a:rPr lang="zh-CN" altLang="en-US" sz="1400" dirty="0">
                <a:solidFill>
                  <a:srgbClr val="222222"/>
                </a:solidFill>
                <a:latin typeface="Microsoft YaHei" panose="020B0503020204020204" pitchFamily="34" charset="-122"/>
              </a:rPr>
              <a:t>输出的链路质量、功率控制结果、节点能量和存活状态映射到语义消息选择环境。</a:t>
            </a:r>
          </a:p>
        </p:txBody>
      </p:sp>
      <p:sp>
        <p:nvSpPr>
          <p:cNvPr id="28" name="矩形 27">
            <a:extLst>
              <a:ext uri="{FF2B5EF4-FFF2-40B4-BE49-F238E27FC236}">
                <a16:creationId xmlns:a16="http://schemas.microsoft.com/office/drawing/2014/main" id="{003C0D61-1D0C-D8FF-9876-ED8040AEC5C6}"/>
              </a:ext>
            </a:extLst>
          </p:cNvPr>
          <p:cNvSpPr/>
          <p:nvPr/>
        </p:nvSpPr>
        <p:spPr>
          <a:xfrm>
            <a:off x="1513798" y="5461000"/>
            <a:ext cx="1397000" cy="355600"/>
          </a:xfrm>
          <a:prstGeom prst="rect">
            <a:avLst/>
          </a:prstGeom>
          <a:solidFill>
            <a:srgbClr val="FFFFFF"/>
          </a:solidFill>
          <a:ln w="8890">
            <a:solidFill>
              <a:srgbClr val="AEB8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48A914F3-756B-BD58-CC32-07F9741BF108}"/>
              </a:ext>
            </a:extLst>
          </p:cNvPr>
          <p:cNvSpPr txBox="1"/>
          <p:nvPr/>
        </p:nvSpPr>
        <p:spPr>
          <a:xfrm>
            <a:off x="1602698" y="5524500"/>
            <a:ext cx="1219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已完成</a:t>
            </a:r>
          </a:p>
        </p:txBody>
      </p:sp>
      <p:sp>
        <p:nvSpPr>
          <p:cNvPr id="32" name="矩形 31">
            <a:extLst>
              <a:ext uri="{FF2B5EF4-FFF2-40B4-BE49-F238E27FC236}">
                <a16:creationId xmlns:a16="http://schemas.microsoft.com/office/drawing/2014/main" id="{4AC6B960-957D-5265-7979-7AED8F10B1B5}"/>
              </a:ext>
            </a:extLst>
          </p:cNvPr>
          <p:cNvSpPr/>
          <p:nvPr/>
        </p:nvSpPr>
        <p:spPr>
          <a:xfrm>
            <a:off x="5397500" y="5461000"/>
            <a:ext cx="1397000" cy="355600"/>
          </a:xfrm>
          <a:prstGeom prst="rect">
            <a:avLst/>
          </a:prstGeom>
          <a:solidFill>
            <a:srgbClr val="FFFFFF"/>
          </a:solidFill>
          <a:ln w="8890">
            <a:solidFill>
              <a:srgbClr val="AEB8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26D56804-85C1-92B5-2522-18BED47D8719}"/>
              </a:ext>
            </a:extLst>
          </p:cNvPr>
          <p:cNvSpPr txBox="1"/>
          <p:nvPr/>
        </p:nvSpPr>
        <p:spPr>
          <a:xfrm>
            <a:off x="5486400" y="5524500"/>
            <a:ext cx="1219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已完成</a:t>
            </a:r>
          </a:p>
        </p:txBody>
      </p:sp>
      <p:sp>
        <p:nvSpPr>
          <p:cNvPr id="36" name="矩形 35">
            <a:extLst>
              <a:ext uri="{FF2B5EF4-FFF2-40B4-BE49-F238E27FC236}">
                <a16:creationId xmlns:a16="http://schemas.microsoft.com/office/drawing/2014/main" id="{DA2E375E-38FA-BA34-8769-42EC57C4651E}"/>
              </a:ext>
            </a:extLst>
          </p:cNvPr>
          <p:cNvSpPr/>
          <p:nvPr/>
        </p:nvSpPr>
        <p:spPr>
          <a:xfrm>
            <a:off x="9297670" y="5461000"/>
            <a:ext cx="1524000" cy="355600"/>
          </a:xfrm>
          <a:prstGeom prst="rect">
            <a:avLst/>
          </a:prstGeom>
          <a:solidFill>
            <a:srgbClr val="FFFFFF"/>
          </a:solidFill>
          <a:ln w="8890">
            <a:solidFill>
              <a:srgbClr val="AEB8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33872D5A-1549-E859-0958-1B3495001E9D}"/>
              </a:ext>
            </a:extLst>
          </p:cNvPr>
          <p:cNvSpPr txBox="1"/>
          <p:nvPr/>
        </p:nvSpPr>
        <p:spPr>
          <a:xfrm>
            <a:off x="9386570" y="5524500"/>
            <a:ext cx="1346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后续推进</a:t>
            </a:r>
          </a:p>
        </p:txBody>
      </p:sp>
    </p:spTree>
    <p:extLst>
      <p:ext uri="{BB962C8B-B14F-4D97-AF65-F5344CB8AC3E}">
        <p14:creationId xmlns:p14="http://schemas.microsoft.com/office/powerpoint/2010/main" val="3494232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0AAC9-D26A-0DD2-30B2-F49CD079E350}"/>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AE1A38A0-CCB9-0FE5-03E6-CA6622459394}"/>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FFFFFF"/>
                </a:solidFill>
                <a:latin typeface="Microsoft YaHei" panose="020B0503020204020204" pitchFamily="34" charset="-122"/>
              </a:rPr>
              <a:t>RQ1 </a:t>
            </a:r>
            <a:r>
              <a:rPr lang="zh-CN" altLang="en-US" sz="2400" b="1" dirty="0">
                <a:solidFill>
                  <a:srgbClr val="FFFFFF"/>
                </a:solidFill>
                <a:latin typeface="Microsoft YaHei" panose="020B0503020204020204" pitchFamily="34" charset="-122"/>
              </a:rPr>
              <a:t>服务数据传输</a:t>
            </a:r>
          </a:p>
        </p:txBody>
      </p:sp>
      <p:sp>
        <p:nvSpPr>
          <p:cNvPr id="3" name="矩形 2">
            <a:extLst>
              <a:ext uri="{FF2B5EF4-FFF2-40B4-BE49-F238E27FC236}">
                <a16:creationId xmlns:a16="http://schemas.microsoft.com/office/drawing/2014/main" id="{7A80307C-96B0-31B0-63E5-8844F10D00B6}"/>
              </a:ext>
            </a:extLst>
          </p:cNvPr>
          <p:cNvSpPr/>
          <p:nvPr/>
        </p:nvSpPr>
        <p:spPr>
          <a:xfrm>
            <a:off x="533400" y="1168400"/>
            <a:ext cx="7747000" cy="32385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90387195-C849-4B50-3243-C3915478A7AA}"/>
              </a:ext>
            </a:extLst>
          </p:cNvPr>
          <p:cNvSpPr/>
          <p:nvPr/>
        </p:nvSpPr>
        <p:spPr>
          <a:xfrm>
            <a:off x="635000" y="12700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43DB0491-2139-D7FB-609E-063FBDFC30EC}"/>
              </a:ext>
            </a:extLst>
          </p:cNvPr>
          <p:cNvSpPr txBox="1"/>
          <p:nvPr/>
        </p:nvSpPr>
        <p:spPr>
          <a:xfrm>
            <a:off x="723900" y="13335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高动态 </a:t>
            </a:r>
            <a:r>
              <a:rPr lang="en-US" altLang="zh-CN" sz="1000" b="1">
                <a:solidFill>
                  <a:srgbClr val="1E4976"/>
                </a:solidFill>
                <a:latin typeface="Microsoft YaHei" panose="020B0503020204020204" pitchFamily="34" charset="-122"/>
              </a:rPr>
              <a:t>FANET </a:t>
            </a:r>
            <a:r>
              <a:rPr lang="zh-CN" altLang="en-US" sz="1000" b="1">
                <a:solidFill>
                  <a:srgbClr val="1E4976"/>
                </a:solidFill>
                <a:latin typeface="Microsoft YaHei" panose="020B0503020204020204" pitchFamily="34" charset="-122"/>
              </a:rPr>
              <a:t>应急通信场景</a:t>
            </a:r>
          </a:p>
        </p:txBody>
      </p:sp>
      <p:pic>
        <p:nvPicPr>
          <p:cNvPr id="9" name="图片 8">
            <a:extLst>
              <a:ext uri="{FF2B5EF4-FFF2-40B4-BE49-F238E27FC236}">
                <a16:creationId xmlns:a16="http://schemas.microsoft.com/office/drawing/2014/main" id="{3C0EC889-8758-2273-3C42-A670E769B7D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0400" y="1703857"/>
            <a:ext cx="7493000" cy="2472387"/>
          </a:xfrm>
          <a:prstGeom prst="rect">
            <a:avLst/>
          </a:prstGeom>
        </p:spPr>
      </p:pic>
      <p:sp>
        <p:nvSpPr>
          <p:cNvPr id="11" name="矩形 10">
            <a:extLst>
              <a:ext uri="{FF2B5EF4-FFF2-40B4-BE49-F238E27FC236}">
                <a16:creationId xmlns:a16="http://schemas.microsoft.com/office/drawing/2014/main" id="{B17886FA-EF8E-1176-74F1-05CE7BBA8698}"/>
              </a:ext>
            </a:extLst>
          </p:cNvPr>
          <p:cNvSpPr/>
          <p:nvPr/>
        </p:nvSpPr>
        <p:spPr>
          <a:xfrm>
            <a:off x="8686800" y="1168400"/>
            <a:ext cx="2768600" cy="32385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F7FBB3D-1590-7F87-E433-237A6EBB8535}"/>
              </a:ext>
            </a:extLst>
          </p:cNvPr>
          <p:cNvSpPr/>
          <p:nvPr/>
        </p:nvSpPr>
        <p:spPr>
          <a:xfrm>
            <a:off x="8686800" y="1168400"/>
            <a:ext cx="941324"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BE83F62A-3F4E-C013-63E1-B62C3B280E8E}"/>
              </a:ext>
            </a:extLst>
          </p:cNvPr>
          <p:cNvSpPr txBox="1"/>
          <p:nvPr/>
        </p:nvSpPr>
        <p:spPr>
          <a:xfrm>
            <a:off x="8915400" y="1447800"/>
            <a:ext cx="23114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问题场景</a:t>
            </a:r>
          </a:p>
        </p:txBody>
      </p:sp>
      <p:sp>
        <p:nvSpPr>
          <p:cNvPr id="18" name="文本框 17">
            <a:extLst>
              <a:ext uri="{FF2B5EF4-FFF2-40B4-BE49-F238E27FC236}">
                <a16:creationId xmlns:a16="http://schemas.microsoft.com/office/drawing/2014/main" id="{46515642-00EF-7F3B-DEAC-2517AEF18F6B}"/>
              </a:ext>
            </a:extLst>
          </p:cNvPr>
          <p:cNvSpPr txBox="1"/>
          <p:nvPr/>
        </p:nvSpPr>
        <p:spPr>
          <a:xfrm>
            <a:off x="8915400" y="1993900"/>
            <a:ext cx="2311400" cy="1938992"/>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地面通信基础设施受损时，无人机作为临时空中中继，将灾区现场数据多跳回传至数据中心。</a:t>
            </a:r>
          </a:p>
          <a:p>
            <a:endParaRPr lang="zh-CN" altLang="en-US" sz="1400">
              <a:solidFill>
                <a:srgbClr val="222222"/>
              </a:solidFill>
              <a:latin typeface="Microsoft YaHei" panose="020B0503020204020204" pitchFamily="34" charset="-122"/>
            </a:endParaRPr>
          </a:p>
          <a:p>
            <a:r>
              <a:rPr lang="zh-CN" altLang="en-US" sz="1400">
                <a:solidFill>
                  <a:srgbClr val="222222"/>
                </a:solidFill>
                <a:latin typeface="Microsoft YaHei" panose="020B0503020204020204" pitchFamily="34" charset="-122"/>
              </a:rPr>
              <a:t>若路由策略只追求短期路径收益，低能量或拥塞节点可能被反复使用，进而引发网络分裂和服务中断。</a:t>
            </a:r>
          </a:p>
        </p:txBody>
      </p:sp>
      <p:sp>
        <p:nvSpPr>
          <p:cNvPr id="20" name="矩形 19">
            <a:extLst>
              <a:ext uri="{FF2B5EF4-FFF2-40B4-BE49-F238E27FC236}">
                <a16:creationId xmlns:a16="http://schemas.microsoft.com/office/drawing/2014/main" id="{133B09EC-CD06-225C-6A20-CCBDC544C392}"/>
              </a:ext>
            </a:extLst>
          </p:cNvPr>
          <p:cNvSpPr/>
          <p:nvPr/>
        </p:nvSpPr>
        <p:spPr>
          <a:xfrm>
            <a:off x="533400" y="4676001"/>
            <a:ext cx="2974298" cy="145946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16354B72-FE77-2B6E-50D7-96DDA6D998D2}"/>
              </a:ext>
            </a:extLst>
          </p:cNvPr>
          <p:cNvSpPr/>
          <p:nvPr/>
        </p:nvSpPr>
        <p:spPr>
          <a:xfrm>
            <a:off x="533400" y="4676002"/>
            <a:ext cx="11226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5E04E837-A565-A582-38B9-AA542BB31F14}"/>
              </a:ext>
            </a:extLst>
          </p:cNvPr>
          <p:cNvSpPr txBox="1"/>
          <p:nvPr/>
        </p:nvSpPr>
        <p:spPr>
          <a:xfrm>
            <a:off x="762000" y="4867166"/>
            <a:ext cx="28448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建模对象</a:t>
            </a:r>
          </a:p>
        </p:txBody>
      </p:sp>
      <p:sp>
        <p:nvSpPr>
          <p:cNvPr id="26" name="文本框 25">
            <a:extLst>
              <a:ext uri="{FF2B5EF4-FFF2-40B4-BE49-F238E27FC236}">
                <a16:creationId xmlns:a16="http://schemas.microsoft.com/office/drawing/2014/main" id="{FCFDAD14-634F-D498-D220-328410874B56}"/>
              </a:ext>
            </a:extLst>
          </p:cNvPr>
          <p:cNvSpPr txBox="1"/>
          <p:nvPr/>
        </p:nvSpPr>
        <p:spPr>
          <a:xfrm>
            <a:off x="768038" y="5232401"/>
            <a:ext cx="2574769" cy="430887"/>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无人机移动、链路通信、数据队列和节点能量消耗。</a:t>
            </a:r>
          </a:p>
        </p:txBody>
      </p:sp>
      <p:sp>
        <p:nvSpPr>
          <p:cNvPr id="28" name="矩形 27">
            <a:extLst>
              <a:ext uri="{FF2B5EF4-FFF2-40B4-BE49-F238E27FC236}">
                <a16:creationId xmlns:a16="http://schemas.microsoft.com/office/drawing/2014/main" id="{282D5375-58C8-07BB-929A-ADE664E8F12F}"/>
              </a:ext>
            </a:extLst>
          </p:cNvPr>
          <p:cNvSpPr/>
          <p:nvPr/>
        </p:nvSpPr>
        <p:spPr>
          <a:xfrm>
            <a:off x="4166849" y="4676001"/>
            <a:ext cx="2844800" cy="145946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F872E793-ED91-F0C2-813F-51E88AF319FC}"/>
              </a:ext>
            </a:extLst>
          </p:cNvPr>
          <p:cNvSpPr/>
          <p:nvPr/>
        </p:nvSpPr>
        <p:spPr>
          <a:xfrm>
            <a:off x="4166849" y="4676002"/>
            <a:ext cx="11226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1A4191B7-F159-928C-67C1-91C99A7E4C13}"/>
              </a:ext>
            </a:extLst>
          </p:cNvPr>
          <p:cNvSpPr txBox="1"/>
          <p:nvPr/>
        </p:nvSpPr>
        <p:spPr>
          <a:xfrm>
            <a:off x="4395449" y="4849852"/>
            <a:ext cx="2844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优化目标</a:t>
            </a:r>
          </a:p>
        </p:txBody>
      </p:sp>
      <p:sp>
        <p:nvSpPr>
          <p:cNvPr id="34" name="文本框 33">
            <a:extLst>
              <a:ext uri="{FF2B5EF4-FFF2-40B4-BE49-F238E27FC236}">
                <a16:creationId xmlns:a16="http://schemas.microsoft.com/office/drawing/2014/main" id="{F1BE7855-64B2-492D-55E3-0015828150EA}"/>
              </a:ext>
            </a:extLst>
          </p:cNvPr>
          <p:cNvSpPr txBox="1"/>
          <p:nvPr/>
        </p:nvSpPr>
        <p:spPr>
          <a:xfrm>
            <a:off x="4395449" y="5232400"/>
            <a:ext cx="2499193" cy="430887"/>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在保障吞吐和降低丢包的同时，均衡全网能耗。</a:t>
            </a:r>
          </a:p>
        </p:txBody>
      </p:sp>
      <p:sp>
        <p:nvSpPr>
          <p:cNvPr id="36" name="矩形 35">
            <a:extLst>
              <a:ext uri="{FF2B5EF4-FFF2-40B4-BE49-F238E27FC236}">
                <a16:creationId xmlns:a16="http://schemas.microsoft.com/office/drawing/2014/main" id="{DB174D06-7E0E-BF64-4B6D-5FC2933781EA}"/>
              </a:ext>
            </a:extLst>
          </p:cNvPr>
          <p:cNvSpPr/>
          <p:nvPr/>
        </p:nvSpPr>
        <p:spPr>
          <a:xfrm>
            <a:off x="7801964" y="4676001"/>
            <a:ext cx="3972810" cy="1459459"/>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B3387261-7C52-B613-11BF-A48F712934BB}"/>
              </a:ext>
            </a:extLst>
          </p:cNvPr>
          <p:cNvSpPr/>
          <p:nvPr/>
        </p:nvSpPr>
        <p:spPr>
          <a:xfrm>
            <a:off x="7801964" y="4676002"/>
            <a:ext cx="1053592"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241DA0F5-DDB8-9985-80F0-885281BF9DE7}"/>
              </a:ext>
            </a:extLst>
          </p:cNvPr>
          <p:cNvSpPr txBox="1"/>
          <p:nvPr/>
        </p:nvSpPr>
        <p:spPr>
          <a:xfrm>
            <a:off x="8028066" y="4872031"/>
            <a:ext cx="26416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创新点</a:t>
            </a:r>
          </a:p>
        </p:txBody>
      </p:sp>
      <p:sp>
        <p:nvSpPr>
          <p:cNvPr id="42" name="文本框 41">
            <a:extLst>
              <a:ext uri="{FF2B5EF4-FFF2-40B4-BE49-F238E27FC236}">
                <a16:creationId xmlns:a16="http://schemas.microsoft.com/office/drawing/2014/main" id="{17FD2807-9ABF-22C4-3B70-32C3F8640EA6}"/>
              </a:ext>
            </a:extLst>
          </p:cNvPr>
          <p:cNvSpPr txBox="1"/>
          <p:nvPr/>
        </p:nvSpPr>
        <p:spPr>
          <a:xfrm>
            <a:off x="8028066" y="5196702"/>
            <a:ext cx="3566826" cy="861774"/>
          </a:xfrm>
          <a:prstGeom prst="rect">
            <a:avLst/>
          </a:prstGeom>
          <a:noFill/>
        </p:spPr>
        <p:txBody>
          <a:bodyPr vert="horz" wrap="square" lIns="0" tIns="0" rIns="0" bIns="0" rtlCol="0">
            <a:spAutoFit/>
          </a:bodyPr>
          <a:lstStyle/>
          <a:p>
            <a:r>
              <a:rPr lang="en-US" altLang="zh-CN" sz="1400" dirty="0">
                <a:solidFill>
                  <a:srgbClr val="222222"/>
                </a:solidFill>
                <a:latin typeface="Microsoft YaHei" panose="020B0503020204020204" pitchFamily="34" charset="-122"/>
              </a:rPr>
              <a:t>1.</a:t>
            </a:r>
            <a:r>
              <a:rPr lang="zh-CN" altLang="en-US" sz="1400" dirty="0">
                <a:solidFill>
                  <a:srgbClr val="222222"/>
                </a:solidFill>
                <a:latin typeface="Microsoft YaHei" panose="020B0503020204020204" pitchFamily="34" charset="-122"/>
              </a:rPr>
              <a:t>基于李雅普诺夫漂移加惩罚方法，将长期随机优化问题转化为单时隙在线优化问题</a:t>
            </a:r>
            <a:endParaRPr lang="en-US" altLang="zh-CN" sz="1400" dirty="0">
              <a:solidFill>
                <a:srgbClr val="222222"/>
              </a:solidFill>
              <a:latin typeface="Microsoft YaHei" panose="020B0503020204020204" pitchFamily="34" charset="-122"/>
            </a:endParaRPr>
          </a:p>
          <a:p>
            <a:r>
              <a:rPr lang="en-US" altLang="zh-CN" sz="1400" dirty="0">
                <a:solidFill>
                  <a:srgbClr val="222222"/>
                </a:solidFill>
                <a:latin typeface="Microsoft YaHei" panose="020B0503020204020204" pitchFamily="34" charset="-122"/>
              </a:rPr>
              <a:t>2.</a:t>
            </a:r>
            <a:r>
              <a:rPr lang="zh-CN" altLang="en-US" sz="1400" dirty="0">
                <a:solidFill>
                  <a:srgbClr val="222222"/>
                </a:solidFill>
                <a:latin typeface="Microsoft YaHei" panose="020B0503020204020204" pitchFamily="34" charset="-122"/>
              </a:rPr>
              <a:t>综合链路质量、队列状态、节点能量和地理进度，以低复杂度实现路由与功率联合决策</a:t>
            </a:r>
          </a:p>
        </p:txBody>
      </p:sp>
    </p:spTree>
    <p:extLst>
      <p:ext uri="{BB962C8B-B14F-4D97-AF65-F5344CB8AC3E}">
        <p14:creationId xmlns:p14="http://schemas.microsoft.com/office/powerpoint/2010/main" val="1112593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44F8F-0EEB-893F-A771-33CFEA58A39C}"/>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B88CD234-CE73-95F6-6605-C8D155547B46}"/>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FFFFFF"/>
                </a:solidFill>
                <a:latin typeface="Microsoft YaHei" panose="020B0503020204020204" pitchFamily="34" charset="-122"/>
              </a:rPr>
              <a:t>LEADR </a:t>
            </a:r>
            <a:r>
              <a:rPr lang="zh-CN" altLang="en-US" sz="2400" b="1" dirty="0">
                <a:solidFill>
                  <a:srgbClr val="FFFFFF"/>
                </a:solidFill>
                <a:latin typeface="Microsoft YaHei" panose="020B0503020204020204" pitchFamily="34" charset="-122"/>
              </a:rPr>
              <a:t>方法设计</a:t>
            </a:r>
          </a:p>
        </p:txBody>
      </p:sp>
      <p:pic>
        <p:nvPicPr>
          <p:cNvPr id="5" name="图片 4">
            <a:extLst>
              <a:ext uri="{FF2B5EF4-FFF2-40B4-BE49-F238E27FC236}">
                <a16:creationId xmlns:a16="http://schemas.microsoft.com/office/drawing/2014/main" id="{B13F1D0A-4E21-B28C-0C49-A72E40773C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712" y="1041815"/>
            <a:ext cx="4081073" cy="5441430"/>
          </a:xfrm>
          <a:prstGeom prst="rect">
            <a:avLst/>
          </a:prstGeom>
        </p:spPr>
      </p:pic>
      <p:sp>
        <p:nvSpPr>
          <p:cNvPr id="7" name="矩形 6">
            <a:extLst>
              <a:ext uri="{FF2B5EF4-FFF2-40B4-BE49-F238E27FC236}">
                <a16:creationId xmlns:a16="http://schemas.microsoft.com/office/drawing/2014/main" id="{14D4474A-C5F8-812E-FAA4-2FA8BAE6A405}"/>
              </a:ext>
            </a:extLst>
          </p:cNvPr>
          <p:cNvSpPr/>
          <p:nvPr/>
        </p:nvSpPr>
        <p:spPr>
          <a:xfrm>
            <a:off x="4564088" y="768246"/>
            <a:ext cx="7330200" cy="1817557"/>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C8994747-7EA9-83CE-5932-261E2BC28666}"/>
              </a:ext>
            </a:extLst>
          </p:cNvPr>
          <p:cNvSpPr/>
          <p:nvPr/>
        </p:nvSpPr>
        <p:spPr>
          <a:xfrm>
            <a:off x="4564088" y="768246"/>
            <a:ext cx="12954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16F0241-E92D-E828-09FD-4285E7B84B4D}"/>
              </a:ext>
            </a:extLst>
          </p:cNvPr>
          <p:cNvSpPr txBox="1"/>
          <p:nvPr/>
        </p:nvSpPr>
        <p:spPr>
          <a:xfrm>
            <a:off x="4792688" y="1047646"/>
            <a:ext cx="3352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基本思想</a:t>
            </a:r>
          </a:p>
        </p:txBody>
      </p:sp>
      <p:sp>
        <p:nvSpPr>
          <p:cNvPr id="13" name="文本框 12">
            <a:extLst>
              <a:ext uri="{FF2B5EF4-FFF2-40B4-BE49-F238E27FC236}">
                <a16:creationId xmlns:a16="http://schemas.microsoft.com/office/drawing/2014/main" id="{B1BF731C-7EE7-11F3-8057-EFE71B5D781B}"/>
              </a:ext>
            </a:extLst>
          </p:cNvPr>
          <p:cNvSpPr txBox="1"/>
          <p:nvPr/>
        </p:nvSpPr>
        <p:spPr>
          <a:xfrm>
            <a:off x="4792688" y="1485361"/>
            <a:ext cx="6854669" cy="861774"/>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将长期能量约束下的全网吞吐优化问题，转化为每个节点在每个时隙内的局部决策。</a:t>
            </a:r>
          </a:p>
          <a:p>
            <a:endParaRPr lang="zh-CN" altLang="en-US"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节点仅依赖本地状态和邻居广播信息完成下一跳选择与发射功率控制，不需要全局控制器和未来拓扑信息。</a:t>
            </a:r>
          </a:p>
        </p:txBody>
      </p:sp>
      <p:sp>
        <p:nvSpPr>
          <p:cNvPr id="14" name="矩形 13">
            <a:extLst>
              <a:ext uri="{FF2B5EF4-FFF2-40B4-BE49-F238E27FC236}">
                <a16:creationId xmlns:a16="http://schemas.microsoft.com/office/drawing/2014/main" id="{24A1285E-35B5-0996-4418-1130810D07FF}"/>
              </a:ext>
            </a:extLst>
          </p:cNvPr>
          <p:cNvSpPr/>
          <p:nvPr/>
        </p:nvSpPr>
        <p:spPr>
          <a:xfrm>
            <a:off x="4638206" y="2722798"/>
            <a:ext cx="1524000" cy="1549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FF72D227-8282-8450-EBE8-1FD0F67154D8}"/>
              </a:ext>
            </a:extLst>
          </p:cNvPr>
          <p:cNvSpPr txBox="1"/>
          <p:nvPr/>
        </p:nvSpPr>
        <p:spPr>
          <a:xfrm>
            <a:off x="4790606" y="3002198"/>
            <a:ext cx="12192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状态广播</a:t>
            </a:r>
          </a:p>
        </p:txBody>
      </p:sp>
      <p:sp>
        <p:nvSpPr>
          <p:cNvPr id="16" name="文本框 15">
            <a:extLst>
              <a:ext uri="{FF2B5EF4-FFF2-40B4-BE49-F238E27FC236}">
                <a16:creationId xmlns:a16="http://schemas.microsoft.com/office/drawing/2014/main" id="{3C40F1BC-A46B-74C9-89D2-9CE7323F8762}"/>
              </a:ext>
            </a:extLst>
          </p:cNvPr>
          <p:cNvSpPr txBox="1"/>
          <p:nvPr/>
        </p:nvSpPr>
        <p:spPr>
          <a:xfrm>
            <a:off x="4803306" y="3459398"/>
            <a:ext cx="1193800" cy="553998"/>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位置、速度、剩余能量、数据队列</a:t>
            </a:r>
          </a:p>
        </p:txBody>
      </p:sp>
      <p:cxnSp>
        <p:nvCxnSpPr>
          <p:cNvPr id="18" name="直接连接符 17">
            <a:extLst>
              <a:ext uri="{FF2B5EF4-FFF2-40B4-BE49-F238E27FC236}">
                <a16:creationId xmlns:a16="http://schemas.microsoft.com/office/drawing/2014/main" id="{4D796E5E-6D44-A582-B535-817E6D17ACE8}"/>
              </a:ext>
            </a:extLst>
          </p:cNvPr>
          <p:cNvCxnSpPr/>
          <p:nvPr/>
        </p:nvCxnSpPr>
        <p:spPr>
          <a:xfrm>
            <a:off x="6225706" y="3497498"/>
            <a:ext cx="1905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9" name="矩形 18">
            <a:extLst>
              <a:ext uri="{FF2B5EF4-FFF2-40B4-BE49-F238E27FC236}">
                <a16:creationId xmlns:a16="http://schemas.microsoft.com/office/drawing/2014/main" id="{1B4F5479-F65D-2C23-84CF-7FF20988F49A}"/>
              </a:ext>
            </a:extLst>
          </p:cNvPr>
          <p:cNvSpPr/>
          <p:nvPr/>
        </p:nvSpPr>
        <p:spPr>
          <a:xfrm>
            <a:off x="6492406" y="2722798"/>
            <a:ext cx="1524000" cy="1549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13567A59-3D54-A4CF-2D19-AB3B7C7AB086}"/>
              </a:ext>
            </a:extLst>
          </p:cNvPr>
          <p:cNvSpPr txBox="1"/>
          <p:nvPr/>
        </p:nvSpPr>
        <p:spPr>
          <a:xfrm>
            <a:off x="6644806" y="3002198"/>
            <a:ext cx="12192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功率控制</a:t>
            </a:r>
          </a:p>
        </p:txBody>
      </p:sp>
      <p:sp>
        <p:nvSpPr>
          <p:cNvPr id="21" name="文本框 20">
            <a:extLst>
              <a:ext uri="{FF2B5EF4-FFF2-40B4-BE49-F238E27FC236}">
                <a16:creationId xmlns:a16="http://schemas.microsoft.com/office/drawing/2014/main" id="{65C3B7BB-30A3-2125-84C0-B65890F2A4F8}"/>
              </a:ext>
            </a:extLst>
          </p:cNvPr>
          <p:cNvSpPr txBox="1"/>
          <p:nvPr/>
        </p:nvSpPr>
        <p:spPr>
          <a:xfrm>
            <a:off x="6657506" y="3459398"/>
            <a:ext cx="11938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平衡链路收益与通信能耗</a:t>
            </a:r>
          </a:p>
        </p:txBody>
      </p:sp>
      <p:cxnSp>
        <p:nvCxnSpPr>
          <p:cNvPr id="22" name="直接连接符 21">
            <a:extLst>
              <a:ext uri="{FF2B5EF4-FFF2-40B4-BE49-F238E27FC236}">
                <a16:creationId xmlns:a16="http://schemas.microsoft.com/office/drawing/2014/main" id="{BA779BEB-73B6-793D-20A1-0C1037592234}"/>
              </a:ext>
            </a:extLst>
          </p:cNvPr>
          <p:cNvCxnSpPr/>
          <p:nvPr/>
        </p:nvCxnSpPr>
        <p:spPr>
          <a:xfrm>
            <a:off x="8079906" y="3497498"/>
            <a:ext cx="1905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23" name="矩形 22">
            <a:extLst>
              <a:ext uri="{FF2B5EF4-FFF2-40B4-BE49-F238E27FC236}">
                <a16:creationId xmlns:a16="http://schemas.microsoft.com/office/drawing/2014/main" id="{8FE1BF3F-EC8D-DCB1-0237-0727290B6F0A}"/>
              </a:ext>
            </a:extLst>
          </p:cNvPr>
          <p:cNvSpPr/>
          <p:nvPr/>
        </p:nvSpPr>
        <p:spPr>
          <a:xfrm>
            <a:off x="8346606" y="2722798"/>
            <a:ext cx="1524000" cy="1549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6DC554D1-8B84-0C80-B6DF-FD744C311DDD}"/>
              </a:ext>
            </a:extLst>
          </p:cNvPr>
          <p:cNvSpPr txBox="1"/>
          <p:nvPr/>
        </p:nvSpPr>
        <p:spPr>
          <a:xfrm>
            <a:off x="8499006" y="3002198"/>
            <a:ext cx="12192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链路评估</a:t>
            </a:r>
          </a:p>
        </p:txBody>
      </p:sp>
      <p:sp>
        <p:nvSpPr>
          <p:cNvPr id="25" name="文本框 24">
            <a:extLst>
              <a:ext uri="{FF2B5EF4-FFF2-40B4-BE49-F238E27FC236}">
                <a16:creationId xmlns:a16="http://schemas.microsoft.com/office/drawing/2014/main" id="{67A71A5A-B996-19C7-8BC5-58107A5CDB3B}"/>
              </a:ext>
            </a:extLst>
          </p:cNvPr>
          <p:cNvSpPr txBox="1"/>
          <p:nvPr/>
        </p:nvSpPr>
        <p:spPr>
          <a:xfrm>
            <a:off x="8511706" y="3459398"/>
            <a:ext cx="11938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融合速率、能量和地理进度</a:t>
            </a:r>
          </a:p>
        </p:txBody>
      </p:sp>
      <p:cxnSp>
        <p:nvCxnSpPr>
          <p:cNvPr id="26" name="直接连接符 25">
            <a:extLst>
              <a:ext uri="{FF2B5EF4-FFF2-40B4-BE49-F238E27FC236}">
                <a16:creationId xmlns:a16="http://schemas.microsoft.com/office/drawing/2014/main" id="{34903DCB-CC8F-336D-18F7-725DC903750F}"/>
              </a:ext>
            </a:extLst>
          </p:cNvPr>
          <p:cNvCxnSpPr/>
          <p:nvPr/>
        </p:nvCxnSpPr>
        <p:spPr>
          <a:xfrm>
            <a:off x="9934106" y="3497498"/>
            <a:ext cx="1905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27" name="矩形 26">
            <a:extLst>
              <a:ext uri="{FF2B5EF4-FFF2-40B4-BE49-F238E27FC236}">
                <a16:creationId xmlns:a16="http://schemas.microsoft.com/office/drawing/2014/main" id="{52B17DDF-B48C-1598-851B-862E31353A2A}"/>
              </a:ext>
            </a:extLst>
          </p:cNvPr>
          <p:cNvSpPr/>
          <p:nvPr/>
        </p:nvSpPr>
        <p:spPr>
          <a:xfrm>
            <a:off x="10200806" y="2722798"/>
            <a:ext cx="1524000" cy="1549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BEC04A7F-F277-E84A-F6DC-3B1B4F15E667}"/>
              </a:ext>
            </a:extLst>
          </p:cNvPr>
          <p:cNvSpPr txBox="1"/>
          <p:nvPr/>
        </p:nvSpPr>
        <p:spPr>
          <a:xfrm>
            <a:off x="10353206" y="3002198"/>
            <a:ext cx="1219200" cy="230832"/>
          </a:xfrm>
          <a:prstGeom prst="rect">
            <a:avLst/>
          </a:prstGeom>
          <a:noFill/>
        </p:spPr>
        <p:txBody>
          <a:bodyPr vert="horz" wrap="square" lIns="0" tIns="0" rIns="0" bIns="0" rtlCol="0">
            <a:spAutoFit/>
          </a:bodyPr>
          <a:lstStyle/>
          <a:p>
            <a:pPr algn="ctr"/>
            <a:r>
              <a:rPr lang="zh-CN" altLang="en-US" sz="1500" b="1">
                <a:solidFill>
                  <a:srgbClr val="1E4976"/>
                </a:solidFill>
                <a:latin typeface="Microsoft YaHei" panose="020B0503020204020204" pitchFamily="34" charset="-122"/>
              </a:rPr>
              <a:t>路由执行</a:t>
            </a:r>
          </a:p>
        </p:txBody>
      </p:sp>
      <p:sp>
        <p:nvSpPr>
          <p:cNvPr id="29" name="文本框 28">
            <a:extLst>
              <a:ext uri="{FF2B5EF4-FFF2-40B4-BE49-F238E27FC236}">
                <a16:creationId xmlns:a16="http://schemas.microsoft.com/office/drawing/2014/main" id="{0BB6352F-4D0D-29C4-6609-60F55B91FAD4}"/>
              </a:ext>
            </a:extLst>
          </p:cNvPr>
          <p:cNvSpPr txBox="1"/>
          <p:nvPr/>
        </p:nvSpPr>
        <p:spPr>
          <a:xfrm>
            <a:off x="10365906" y="3459398"/>
            <a:ext cx="11938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选择权重最大的合法下一跳</a:t>
            </a:r>
          </a:p>
        </p:txBody>
      </p:sp>
      <p:sp>
        <p:nvSpPr>
          <p:cNvPr id="31" name="矩形 30">
            <a:extLst>
              <a:ext uri="{FF2B5EF4-FFF2-40B4-BE49-F238E27FC236}">
                <a16:creationId xmlns:a16="http://schemas.microsoft.com/office/drawing/2014/main" id="{EFD1CF9E-04D8-2D04-30C1-3879A636D223}"/>
              </a:ext>
            </a:extLst>
          </p:cNvPr>
          <p:cNvSpPr/>
          <p:nvPr/>
        </p:nvSpPr>
        <p:spPr>
          <a:xfrm>
            <a:off x="5622456" y="4551598"/>
            <a:ext cx="5295900" cy="15748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5E18B44F-9A4A-AA31-264E-465C2FD04C94}"/>
              </a:ext>
            </a:extLst>
          </p:cNvPr>
          <p:cNvSpPr/>
          <p:nvPr/>
        </p:nvSpPr>
        <p:spPr>
          <a:xfrm>
            <a:off x="5622456" y="4551598"/>
            <a:ext cx="19050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A5077824-BC36-8FCA-7901-7C75832B8E2F}"/>
              </a:ext>
            </a:extLst>
          </p:cNvPr>
          <p:cNvSpPr txBox="1"/>
          <p:nvPr/>
        </p:nvSpPr>
        <p:spPr>
          <a:xfrm>
            <a:off x="5851056" y="4830998"/>
            <a:ext cx="66294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方法特点</a:t>
            </a:r>
          </a:p>
        </p:txBody>
      </p:sp>
      <p:sp>
        <p:nvSpPr>
          <p:cNvPr id="37" name="文本框 36">
            <a:extLst>
              <a:ext uri="{FF2B5EF4-FFF2-40B4-BE49-F238E27FC236}">
                <a16:creationId xmlns:a16="http://schemas.microsoft.com/office/drawing/2014/main" id="{2C89695E-50F4-A179-463F-FA36B6CBF45D}"/>
              </a:ext>
            </a:extLst>
          </p:cNvPr>
          <p:cNvSpPr txBox="1"/>
          <p:nvPr/>
        </p:nvSpPr>
        <p:spPr>
          <a:xfrm>
            <a:off x="5851056" y="5244992"/>
            <a:ext cx="6629400" cy="646331"/>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单节点单时隙复杂度为 </a:t>
            </a:r>
            <a:r>
              <a:rPr lang="en-US" altLang="zh-CN" sz="1400" dirty="0">
                <a:solidFill>
                  <a:srgbClr val="222222"/>
                </a:solidFill>
                <a:latin typeface="Times New Roman" panose="02020603050405020304" pitchFamily="18" charset="0"/>
                <a:cs typeface="Times New Roman" panose="02020603050405020304" pitchFamily="18" charset="0"/>
              </a:rPr>
              <a:t>O(</a:t>
            </a:r>
            <a:r>
              <a:rPr lang="en-US" altLang="zh-CN" sz="1400" dirty="0" err="1">
                <a:solidFill>
                  <a:srgbClr val="222222"/>
                </a:solidFill>
                <a:latin typeface="Times New Roman" panose="02020603050405020304" pitchFamily="18" charset="0"/>
                <a:cs typeface="Times New Roman" panose="02020603050405020304" pitchFamily="18" charset="0"/>
              </a:rPr>
              <a:t>N_i</a:t>
            </a:r>
            <a:r>
              <a:rPr lang="en-US" altLang="zh-CN" sz="1400" dirty="0">
                <a:solidFill>
                  <a:srgbClr val="222222"/>
                </a:solidFill>
                <a:latin typeface="Times New Roman" panose="02020603050405020304" pitchFamily="18" charset="0"/>
                <a:cs typeface="Times New Roman" panose="02020603050405020304" pitchFamily="18" charset="0"/>
              </a:rPr>
              <a:t>)</a:t>
            </a:r>
            <a:r>
              <a:rPr lang="zh-CN" altLang="en-US" sz="1400" dirty="0">
                <a:solidFill>
                  <a:srgbClr val="222222"/>
                </a:solidFill>
                <a:latin typeface="Microsoft YaHei" panose="020B0503020204020204" pitchFamily="34" charset="-122"/>
              </a:rPr>
              <a:t>，适合机载实时执行</a:t>
            </a:r>
          </a:p>
          <a:p>
            <a:r>
              <a:rPr lang="zh-CN" altLang="en-US" sz="1400" dirty="0">
                <a:solidFill>
                  <a:srgbClr val="222222"/>
                </a:solidFill>
                <a:latin typeface="Microsoft YaHei" panose="020B0503020204020204" pitchFamily="34" charset="-122"/>
              </a:rPr>
              <a:t>通过虚拟能量队列刻画长期能量约束，减少局部能量热点</a:t>
            </a:r>
          </a:p>
          <a:p>
            <a:r>
              <a:rPr lang="zh-CN" altLang="en-US" sz="1400" dirty="0">
                <a:solidFill>
                  <a:srgbClr val="222222"/>
                </a:solidFill>
                <a:latin typeface="Microsoft YaHei" panose="020B0503020204020204" pitchFamily="34" charset="-122"/>
              </a:rPr>
              <a:t>在吞吐收益、链路代价和节点剩余能量之间进行联合权衡</a:t>
            </a:r>
          </a:p>
        </p:txBody>
      </p:sp>
    </p:spTree>
    <p:extLst>
      <p:ext uri="{BB962C8B-B14F-4D97-AF65-F5344CB8AC3E}">
        <p14:creationId xmlns:p14="http://schemas.microsoft.com/office/powerpoint/2010/main" val="2599532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FAE89-6409-0C42-3B5F-BBE787691EFF}"/>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56D49078-B89C-AD8A-D761-22DBBC6AC057}"/>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FFFFFF"/>
                </a:solidFill>
                <a:latin typeface="Microsoft YaHei" panose="020B0503020204020204" pitchFamily="34" charset="-122"/>
              </a:rPr>
              <a:t>RQ1 </a:t>
            </a:r>
            <a:r>
              <a:rPr lang="zh-CN" altLang="en-US" sz="2400" b="1" dirty="0">
                <a:solidFill>
                  <a:srgbClr val="FFFFFF"/>
                </a:solidFill>
                <a:latin typeface="Microsoft YaHei" panose="020B0503020204020204" pitchFamily="34" charset="-122"/>
              </a:rPr>
              <a:t>实验结果</a:t>
            </a:r>
          </a:p>
        </p:txBody>
      </p:sp>
      <p:sp>
        <p:nvSpPr>
          <p:cNvPr id="3" name="矩形 2">
            <a:extLst>
              <a:ext uri="{FF2B5EF4-FFF2-40B4-BE49-F238E27FC236}">
                <a16:creationId xmlns:a16="http://schemas.microsoft.com/office/drawing/2014/main" id="{441DEAD2-F93C-CF70-DB55-665ED1CB1C0D}"/>
              </a:ext>
            </a:extLst>
          </p:cNvPr>
          <p:cNvSpPr/>
          <p:nvPr/>
        </p:nvSpPr>
        <p:spPr>
          <a:xfrm>
            <a:off x="482600" y="1168400"/>
            <a:ext cx="3238500" cy="4318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8DA10E02-28C4-0360-FF6A-B2A7FE5C86FD}"/>
              </a:ext>
            </a:extLst>
          </p:cNvPr>
          <p:cNvSpPr/>
          <p:nvPr/>
        </p:nvSpPr>
        <p:spPr>
          <a:xfrm>
            <a:off x="482600" y="1168400"/>
            <a:ext cx="110109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1D69D2B-0FB6-0031-9399-680A81F7B348}"/>
              </a:ext>
            </a:extLst>
          </p:cNvPr>
          <p:cNvSpPr txBox="1"/>
          <p:nvPr/>
        </p:nvSpPr>
        <p:spPr>
          <a:xfrm>
            <a:off x="711200" y="1447800"/>
            <a:ext cx="27813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实验设置与结论</a:t>
            </a:r>
          </a:p>
        </p:txBody>
      </p:sp>
      <p:sp>
        <p:nvSpPr>
          <p:cNvPr id="9" name="文本框 8">
            <a:extLst>
              <a:ext uri="{FF2B5EF4-FFF2-40B4-BE49-F238E27FC236}">
                <a16:creationId xmlns:a16="http://schemas.microsoft.com/office/drawing/2014/main" id="{E0FE3C7E-7E34-6528-0A67-3DFA5785F66D}"/>
              </a:ext>
            </a:extLst>
          </p:cNvPr>
          <p:cNvSpPr txBox="1"/>
          <p:nvPr/>
        </p:nvSpPr>
        <p:spPr>
          <a:xfrm>
            <a:off x="711200" y="1993900"/>
            <a:ext cx="2781300" cy="2585323"/>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离散事件仿真，任务周期 </a:t>
            </a:r>
            <a:r>
              <a:rPr lang="en-US" altLang="zh-CN" sz="1400" dirty="0">
                <a:solidFill>
                  <a:srgbClr val="222222"/>
                </a:solidFill>
                <a:latin typeface="Microsoft YaHei" panose="020B0503020204020204" pitchFamily="34" charset="-122"/>
              </a:rPr>
              <a:t>3600 </a:t>
            </a:r>
            <a:r>
              <a:rPr lang="zh-CN" altLang="en-US" sz="1400" dirty="0">
                <a:solidFill>
                  <a:srgbClr val="222222"/>
                </a:solidFill>
                <a:latin typeface="Microsoft YaHei" panose="020B0503020204020204" pitchFamily="34" charset="-122"/>
              </a:rPr>
              <a:t>秒。</a:t>
            </a:r>
          </a:p>
          <a:p>
            <a:endParaRPr lang="zh-CN" altLang="en-US"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对比 </a:t>
            </a:r>
            <a:r>
              <a:rPr lang="en-US" altLang="zh-CN" sz="1400" dirty="0">
                <a:solidFill>
                  <a:srgbClr val="222222"/>
                </a:solidFill>
                <a:latin typeface="Times New Roman" panose="02020603050405020304" pitchFamily="18" charset="0"/>
                <a:cs typeface="Times New Roman" panose="02020603050405020304" pitchFamily="18" charset="0"/>
              </a:rPr>
              <a:t>GPSR</a:t>
            </a:r>
            <a:r>
              <a:rPr lang="zh-CN" altLang="en-US" sz="1400" dirty="0">
                <a:solidFill>
                  <a:srgbClr val="222222"/>
                </a:solidFill>
                <a:latin typeface="Microsoft YaHei" panose="020B0503020204020204" pitchFamily="34" charset="-122"/>
              </a:rPr>
              <a:t>、</a:t>
            </a:r>
            <a:r>
              <a:rPr lang="en-US" altLang="zh-CN" sz="1400" dirty="0">
                <a:solidFill>
                  <a:srgbClr val="222222"/>
                </a:solidFill>
                <a:latin typeface="Times New Roman" panose="02020603050405020304" pitchFamily="18" charset="0"/>
                <a:cs typeface="Times New Roman" panose="02020603050405020304" pitchFamily="18" charset="0"/>
              </a:rPr>
              <a:t>LB-GPSR</a:t>
            </a:r>
            <a:r>
              <a:rPr lang="zh-CN" altLang="en-US" sz="1400" dirty="0">
                <a:solidFill>
                  <a:srgbClr val="222222"/>
                </a:solidFill>
                <a:latin typeface="Microsoft YaHei" panose="020B0503020204020204" pitchFamily="34" charset="-122"/>
              </a:rPr>
              <a:t>、</a:t>
            </a:r>
            <a:r>
              <a:rPr lang="en-US" altLang="zh-CN" sz="1400" dirty="0">
                <a:solidFill>
                  <a:srgbClr val="222222"/>
                </a:solidFill>
                <a:latin typeface="Times New Roman" panose="02020603050405020304" pitchFamily="18" charset="0"/>
                <a:cs typeface="Times New Roman" panose="02020603050405020304" pitchFamily="18" charset="0"/>
              </a:rPr>
              <a:t>ACO</a:t>
            </a:r>
            <a:r>
              <a:rPr lang="en-US" altLang="zh-CN" sz="1400" dirty="0">
                <a:solidFill>
                  <a:srgbClr val="222222"/>
                </a:solidFill>
                <a:latin typeface="Microsoft YaHei" panose="020B0503020204020204" pitchFamily="34" charset="-122"/>
              </a:rPr>
              <a:t> </a:t>
            </a:r>
            <a:r>
              <a:rPr lang="zh-CN" altLang="en-US" sz="1400" dirty="0">
                <a:solidFill>
                  <a:srgbClr val="222222"/>
                </a:solidFill>
                <a:latin typeface="Microsoft YaHei" panose="020B0503020204020204" pitchFamily="34" charset="-122"/>
              </a:rPr>
              <a:t>和 </a:t>
            </a:r>
            <a:r>
              <a:rPr lang="en-US" altLang="zh-CN" sz="1400" dirty="0">
                <a:solidFill>
                  <a:srgbClr val="222222"/>
                </a:solidFill>
                <a:latin typeface="Times New Roman" panose="02020603050405020304" pitchFamily="18" charset="0"/>
                <a:cs typeface="Times New Roman" panose="02020603050405020304" pitchFamily="18" charset="0"/>
              </a:rPr>
              <a:t>RLFR</a:t>
            </a:r>
            <a:r>
              <a:rPr lang="zh-CN" altLang="en-US" sz="1400" dirty="0">
                <a:solidFill>
                  <a:srgbClr val="222222"/>
                </a:solidFill>
                <a:latin typeface="Microsoft YaHei" panose="020B0503020204020204" pitchFamily="34" charset="-122"/>
              </a:rPr>
              <a:t>。</a:t>
            </a:r>
          </a:p>
          <a:p>
            <a:endParaRPr lang="zh-CN" altLang="en-US"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考察无人机数量、通信范围和飞行速度变化。</a:t>
            </a:r>
          </a:p>
          <a:p>
            <a:endParaRPr lang="zh-CN" altLang="en-US" sz="1400" dirty="0">
              <a:solidFill>
                <a:srgbClr val="222222"/>
              </a:solidFill>
              <a:latin typeface="Microsoft YaHei" panose="020B0503020204020204" pitchFamily="34" charset="-122"/>
            </a:endParaRPr>
          </a:p>
          <a:p>
            <a:r>
              <a:rPr lang="zh-CN" altLang="en-US" sz="1400" dirty="0">
                <a:solidFill>
                  <a:srgbClr val="222222"/>
                </a:solidFill>
                <a:latin typeface="Microsoft YaHei" panose="020B0503020204020204" pitchFamily="34" charset="-122"/>
              </a:rPr>
              <a:t>结果表明，</a:t>
            </a:r>
            <a:r>
              <a:rPr lang="en-US" altLang="zh-CN" sz="1400" dirty="0">
                <a:solidFill>
                  <a:srgbClr val="222222"/>
                </a:solidFill>
                <a:latin typeface="Times New Roman" panose="02020603050405020304" pitchFamily="18" charset="0"/>
                <a:cs typeface="Times New Roman" panose="02020603050405020304" pitchFamily="18" charset="0"/>
              </a:rPr>
              <a:t>LEADR</a:t>
            </a:r>
            <a:r>
              <a:rPr lang="en-US" altLang="zh-CN" sz="1400" dirty="0">
                <a:solidFill>
                  <a:srgbClr val="222222"/>
                </a:solidFill>
                <a:latin typeface="Microsoft YaHei" panose="020B0503020204020204" pitchFamily="34" charset="-122"/>
              </a:rPr>
              <a:t> </a:t>
            </a:r>
            <a:r>
              <a:rPr lang="zh-CN" altLang="en-US" sz="1400" dirty="0">
                <a:solidFill>
                  <a:srgbClr val="222222"/>
                </a:solidFill>
                <a:latin typeface="Microsoft YaHei" panose="020B0503020204020204" pitchFamily="34" charset="-122"/>
              </a:rPr>
              <a:t>在多种动态条件下维持较高吞吐和较低丢包率，同时改善能量均衡并延长网络服务周期。</a:t>
            </a:r>
          </a:p>
        </p:txBody>
      </p:sp>
      <p:sp>
        <p:nvSpPr>
          <p:cNvPr id="11" name="矩形 10">
            <a:extLst>
              <a:ext uri="{FF2B5EF4-FFF2-40B4-BE49-F238E27FC236}">
                <a16:creationId xmlns:a16="http://schemas.microsoft.com/office/drawing/2014/main" id="{F65C6479-8764-401C-E6A3-1B05D3C79872}"/>
              </a:ext>
            </a:extLst>
          </p:cNvPr>
          <p:cNvSpPr/>
          <p:nvPr/>
        </p:nvSpPr>
        <p:spPr>
          <a:xfrm>
            <a:off x="4089400" y="1168400"/>
            <a:ext cx="3556000" cy="2159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644427D2-8A73-2AF0-291C-6125D75B6E00}"/>
              </a:ext>
            </a:extLst>
          </p:cNvPr>
          <p:cNvSpPr/>
          <p:nvPr/>
        </p:nvSpPr>
        <p:spPr>
          <a:xfrm>
            <a:off x="4191000" y="12700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2DEE990C-9561-7360-AF78-75D28593C734}"/>
              </a:ext>
            </a:extLst>
          </p:cNvPr>
          <p:cNvSpPr txBox="1"/>
          <p:nvPr/>
        </p:nvSpPr>
        <p:spPr>
          <a:xfrm>
            <a:off x="4279900" y="13335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吞吐量</a:t>
            </a:r>
          </a:p>
        </p:txBody>
      </p:sp>
      <p:pic>
        <p:nvPicPr>
          <p:cNvPr id="18" name="图片 17">
            <a:extLst>
              <a:ext uri="{FF2B5EF4-FFF2-40B4-BE49-F238E27FC236}">
                <a16:creationId xmlns:a16="http://schemas.microsoft.com/office/drawing/2014/main" id="{659B1D49-AE58-E53B-FFB5-E6B1443BC5B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241963" y="1600200"/>
            <a:ext cx="3250874" cy="1600200"/>
          </a:xfrm>
          <a:prstGeom prst="rect">
            <a:avLst/>
          </a:prstGeom>
        </p:spPr>
      </p:pic>
      <p:sp>
        <p:nvSpPr>
          <p:cNvPr id="20" name="矩形 19">
            <a:extLst>
              <a:ext uri="{FF2B5EF4-FFF2-40B4-BE49-F238E27FC236}">
                <a16:creationId xmlns:a16="http://schemas.microsoft.com/office/drawing/2014/main" id="{F4033F50-D5C8-7996-4B3D-F78B93B75B4B}"/>
              </a:ext>
            </a:extLst>
          </p:cNvPr>
          <p:cNvSpPr/>
          <p:nvPr/>
        </p:nvSpPr>
        <p:spPr>
          <a:xfrm>
            <a:off x="8128000" y="1168400"/>
            <a:ext cx="3556000" cy="2159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600AE37-CBC8-E1F1-02EC-319934129010}"/>
              </a:ext>
            </a:extLst>
          </p:cNvPr>
          <p:cNvSpPr/>
          <p:nvPr/>
        </p:nvSpPr>
        <p:spPr>
          <a:xfrm>
            <a:off x="8229600" y="12700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47796814-F6FB-326E-416C-008EE30C2706}"/>
              </a:ext>
            </a:extLst>
          </p:cNvPr>
          <p:cNvSpPr txBox="1"/>
          <p:nvPr/>
        </p:nvSpPr>
        <p:spPr>
          <a:xfrm>
            <a:off x="8318500" y="13335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丢包率</a:t>
            </a:r>
          </a:p>
        </p:txBody>
      </p:sp>
      <p:pic>
        <p:nvPicPr>
          <p:cNvPr id="26" name="图片 25">
            <a:extLst>
              <a:ext uri="{FF2B5EF4-FFF2-40B4-BE49-F238E27FC236}">
                <a16:creationId xmlns:a16="http://schemas.microsoft.com/office/drawing/2014/main" id="{329F2299-79B8-7012-D002-157852E7B42D}"/>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8286240" y="1600200"/>
            <a:ext cx="3239520" cy="1600200"/>
          </a:xfrm>
          <a:prstGeom prst="rect">
            <a:avLst/>
          </a:prstGeom>
        </p:spPr>
      </p:pic>
      <p:sp>
        <p:nvSpPr>
          <p:cNvPr id="28" name="矩形 27">
            <a:extLst>
              <a:ext uri="{FF2B5EF4-FFF2-40B4-BE49-F238E27FC236}">
                <a16:creationId xmlns:a16="http://schemas.microsoft.com/office/drawing/2014/main" id="{714E84D4-F58F-55C8-5A93-9AA6F9D8F50B}"/>
              </a:ext>
            </a:extLst>
          </p:cNvPr>
          <p:cNvSpPr/>
          <p:nvPr/>
        </p:nvSpPr>
        <p:spPr>
          <a:xfrm>
            <a:off x="4089400" y="3810000"/>
            <a:ext cx="3556000" cy="2159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12E091BE-CE0C-6A26-4353-2C4304C6B192}"/>
              </a:ext>
            </a:extLst>
          </p:cNvPr>
          <p:cNvSpPr/>
          <p:nvPr/>
        </p:nvSpPr>
        <p:spPr>
          <a:xfrm>
            <a:off x="4191000" y="39116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1E7E50FF-19D0-7B54-AC07-C85B258B6925}"/>
              </a:ext>
            </a:extLst>
          </p:cNvPr>
          <p:cNvSpPr txBox="1"/>
          <p:nvPr/>
        </p:nvSpPr>
        <p:spPr>
          <a:xfrm>
            <a:off x="4279900" y="39751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能量均衡</a:t>
            </a:r>
          </a:p>
        </p:txBody>
      </p:sp>
      <p:pic>
        <p:nvPicPr>
          <p:cNvPr id="34" name="图片 33">
            <a:extLst>
              <a:ext uri="{FF2B5EF4-FFF2-40B4-BE49-F238E27FC236}">
                <a16:creationId xmlns:a16="http://schemas.microsoft.com/office/drawing/2014/main" id="{2033DB0A-A012-6978-F421-264A9F91E861}"/>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4247640" y="4241800"/>
            <a:ext cx="3239520" cy="1600200"/>
          </a:xfrm>
          <a:prstGeom prst="rect">
            <a:avLst/>
          </a:prstGeom>
        </p:spPr>
      </p:pic>
      <p:sp>
        <p:nvSpPr>
          <p:cNvPr id="36" name="矩形 35">
            <a:extLst>
              <a:ext uri="{FF2B5EF4-FFF2-40B4-BE49-F238E27FC236}">
                <a16:creationId xmlns:a16="http://schemas.microsoft.com/office/drawing/2014/main" id="{E64506F8-6FBB-49CA-C853-996A4D9E7605}"/>
              </a:ext>
            </a:extLst>
          </p:cNvPr>
          <p:cNvSpPr/>
          <p:nvPr/>
        </p:nvSpPr>
        <p:spPr>
          <a:xfrm>
            <a:off x="8128000" y="3810000"/>
            <a:ext cx="3556000" cy="2159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69DB1A20-CDE1-EE95-1A5F-53211B949611}"/>
              </a:ext>
            </a:extLst>
          </p:cNvPr>
          <p:cNvSpPr/>
          <p:nvPr/>
        </p:nvSpPr>
        <p:spPr>
          <a:xfrm>
            <a:off x="8229600" y="39116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44BB7EA6-A8B9-FE4A-DB4F-B6DB227C40C1}"/>
              </a:ext>
            </a:extLst>
          </p:cNvPr>
          <p:cNvSpPr txBox="1"/>
          <p:nvPr/>
        </p:nvSpPr>
        <p:spPr>
          <a:xfrm>
            <a:off x="8318500" y="39751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生命周期</a:t>
            </a:r>
          </a:p>
        </p:txBody>
      </p:sp>
      <p:pic>
        <p:nvPicPr>
          <p:cNvPr id="42" name="图片 41">
            <a:extLst>
              <a:ext uri="{FF2B5EF4-FFF2-40B4-BE49-F238E27FC236}">
                <a16:creationId xmlns:a16="http://schemas.microsoft.com/office/drawing/2014/main" id="{F464E530-50B1-52F8-62CF-204AE27D0903}"/>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8280564" y="4241800"/>
            <a:ext cx="3250874" cy="1600200"/>
          </a:xfrm>
          <a:prstGeom prst="rect">
            <a:avLst/>
          </a:prstGeom>
        </p:spPr>
      </p:pic>
    </p:spTree>
    <p:extLst>
      <p:ext uri="{BB962C8B-B14F-4D97-AF65-F5344CB8AC3E}">
        <p14:creationId xmlns:p14="http://schemas.microsoft.com/office/powerpoint/2010/main" val="1807174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3D5C9-BB16-1611-E920-97E8705712EB}"/>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9C58F128-D0B7-7CA4-A6D3-7A15C6611AB6}"/>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FFFFFF"/>
                </a:solidFill>
                <a:latin typeface="Microsoft YaHei" panose="020B0503020204020204" pitchFamily="34" charset="-122"/>
              </a:rPr>
              <a:t>RQ2 </a:t>
            </a:r>
            <a:r>
              <a:rPr lang="zh-CN" altLang="en-US" sz="2400" b="1" dirty="0">
                <a:solidFill>
                  <a:srgbClr val="FFFFFF"/>
                </a:solidFill>
                <a:latin typeface="Microsoft YaHei" panose="020B0503020204020204" pitchFamily="34" charset="-122"/>
              </a:rPr>
              <a:t>选择性语义通信</a:t>
            </a:r>
          </a:p>
        </p:txBody>
      </p:sp>
      <p:sp>
        <p:nvSpPr>
          <p:cNvPr id="3" name="矩形 2">
            <a:extLst>
              <a:ext uri="{FF2B5EF4-FFF2-40B4-BE49-F238E27FC236}">
                <a16:creationId xmlns:a16="http://schemas.microsoft.com/office/drawing/2014/main" id="{8E3F0DE6-6DE0-5BAB-182E-7E42C3819F5B}"/>
              </a:ext>
            </a:extLst>
          </p:cNvPr>
          <p:cNvSpPr/>
          <p:nvPr/>
        </p:nvSpPr>
        <p:spPr>
          <a:xfrm>
            <a:off x="533400" y="1168400"/>
            <a:ext cx="3619500" cy="1295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EF06E5E8-2D6F-3BC9-9924-3B56C4B856DC}"/>
              </a:ext>
            </a:extLst>
          </p:cNvPr>
          <p:cNvSpPr/>
          <p:nvPr/>
        </p:nvSpPr>
        <p:spPr>
          <a:xfrm>
            <a:off x="533400" y="1168400"/>
            <a:ext cx="123063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3A0B077-43A8-BAA3-75C3-ABFA3B50C7BF}"/>
              </a:ext>
            </a:extLst>
          </p:cNvPr>
          <p:cNvSpPr txBox="1"/>
          <p:nvPr/>
        </p:nvSpPr>
        <p:spPr>
          <a:xfrm>
            <a:off x="762000" y="1333500"/>
            <a:ext cx="31623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问题背景</a:t>
            </a:r>
          </a:p>
        </p:txBody>
      </p:sp>
      <p:sp>
        <p:nvSpPr>
          <p:cNvPr id="9" name="文本框 8">
            <a:extLst>
              <a:ext uri="{FF2B5EF4-FFF2-40B4-BE49-F238E27FC236}">
                <a16:creationId xmlns:a16="http://schemas.microsoft.com/office/drawing/2014/main" id="{4A6352A1-089A-4C07-0001-B971F7E410F1}"/>
              </a:ext>
            </a:extLst>
          </p:cNvPr>
          <p:cNvSpPr txBox="1"/>
          <p:nvPr/>
        </p:nvSpPr>
        <p:spPr>
          <a:xfrm>
            <a:off x="762000" y="1699399"/>
            <a:ext cx="3162300" cy="646331"/>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多智能体视觉推理服务中，单个智能体通常只能获得局部观测。全量通信会带来冗余和成本。</a:t>
            </a:r>
          </a:p>
        </p:txBody>
      </p:sp>
      <p:sp>
        <p:nvSpPr>
          <p:cNvPr id="11" name="矩形 10">
            <a:extLst>
              <a:ext uri="{FF2B5EF4-FFF2-40B4-BE49-F238E27FC236}">
                <a16:creationId xmlns:a16="http://schemas.microsoft.com/office/drawing/2014/main" id="{0FBDCCCD-B189-2CBB-38A0-98A9D46C8972}"/>
              </a:ext>
            </a:extLst>
          </p:cNvPr>
          <p:cNvSpPr/>
          <p:nvPr/>
        </p:nvSpPr>
        <p:spPr>
          <a:xfrm>
            <a:off x="533400" y="2819400"/>
            <a:ext cx="3619500" cy="1295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E7950003-3930-7ADC-DA35-3022F98B1557}"/>
              </a:ext>
            </a:extLst>
          </p:cNvPr>
          <p:cNvSpPr/>
          <p:nvPr/>
        </p:nvSpPr>
        <p:spPr>
          <a:xfrm>
            <a:off x="533400" y="2819400"/>
            <a:ext cx="123063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90A93E74-501F-E9D6-4959-73040CDA3111}"/>
              </a:ext>
            </a:extLst>
          </p:cNvPr>
          <p:cNvSpPr txBox="1"/>
          <p:nvPr/>
        </p:nvSpPr>
        <p:spPr>
          <a:xfrm>
            <a:off x="762000" y="2993250"/>
            <a:ext cx="31623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研究问题</a:t>
            </a:r>
          </a:p>
        </p:txBody>
      </p:sp>
      <p:sp>
        <p:nvSpPr>
          <p:cNvPr id="18" name="文本框 17">
            <a:extLst>
              <a:ext uri="{FF2B5EF4-FFF2-40B4-BE49-F238E27FC236}">
                <a16:creationId xmlns:a16="http://schemas.microsoft.com/office/drawing/2014/main" id="{D4AA3BD7-2AD4-5DE8-EDD9-7EF30DA307BF}"/>
              </a:ext>
            </a:extLst>
          </p:cNvPr>
          <p:cNvSpPr txBox="1"/>
          <p:nvPr/>
        </p:nvSpPr>
        <p:spPr>
          <a:xfrm>
            <a:off x="762000" y="3323104"/>
            <a:ext cx="3162300" cy="646331"/>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在有限通信预算、时延和链路可靠性约束下，选择哪条语义消息、发送给谁，并采用何种语义粒度。</a:t>
            </a:r>
          </a:p>
        </p:txBody>
      </p:sp>
      <p:sp>
        <p:nvSpPr>
          <p:cNvPr id="20" name="矩形 19">
            <a:extLst>
              <a:ext uri="{FF2B5EF4-FFF2-40B4-BE49-F238E27FC236}">
                <a16:creationId xmlns:a16="http://schemas.microsoft.com/office/drawing/2014/main" id="{FBCE2301-049D-B452-FF56-80B317FBE437}"/>
              </a:ext>
            </a:extLst>
          </p:cNvPr>
          <p:cNvSpPr/>
          <p:nvPr/>
        </p:nvSpPr>
        <p:spPr>
          <a:xfrm>
            <a:off x="533400" y="4470400"/>
            <a:ext cx="3619500" cy="142823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620EB221-45A8-EB26-6EC8-182445350EBE}"/>
              </a:ext>
            </a:extLst>
          </p:cNvPr>
          <p:cNvSpPr/>
          <p:nvPr/>
        </p:nvSpPr>
        <p:spPr>
          <a:xfrm>
            <a:off x="533400" y="4470400"/>
            <a:ext cx="123063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CA254F5B-F5F5-27CF-18E7-79777C2AACD8}"/>
              </a:ext>
            </a:extLst>
          </p:cNvPr>
          <p:cNvSpPr txBox="1"/>
          <p:nvPr/>
        </p:nvSpPr>
        <p:spPr>
          <a:xfrm>
            <a:off x="762000" y="4656435"/>
            <a:ext cx="31623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解决思路</a:t>
            </a:r>
          </a:p>
        </p:txBody>
      </p:sp>
      <p:sp>
        <p:nvSpPr>
          <p:cNvPr id="26" name="文本框 25">
            <a:extLst>
              <a:ext uri="{FF2B5EF4-FFF2-40B4-BE49-F238E27FC236}">
                <a16:creationId xmlns:a16="http://schemas.microsoft.com/office/drawing/2014/main" id="{E8661F3E-96F8-0580-4224-BBD39948DDD0}"/>
              </a:ext>
            </a:extLst>
          </p:cNvPr>
          <p:cNvSpPr txBox="1"/>
          <p:nvPr/>
        </p:nvSpPr>
        <p:spPr>
          <a:xfrm>
            <a:off x="762000" y="5026451"/>
            <a:ext cx="3162300" cy="646331"/>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用冻结 </a:t>
            </a:r>
            <a:r>
              <a:rPr lang="en-US" altLang="zh-CN" sz="1400" dirty="0">
                <a:solidFill>
                  <a:srgbClr val="222222"/>
                </a:solidFill>
                <a:latin typeface="Microsoft YaHei" panose="020B0503020204020204" pitchFamily="34" charset="-122"/>
              </a:rPr>
              <a:t>VLM/LLM </a:t>
            </a:r>
            <a:r>
              <a:rPr lang="zh-CN" altLang="en-US" sz="1400" dirty="0">
                <a:solidFill>
                  <a:srgbClr val="222222"/>
                </a:solidFill>
                <a:latin typeface="Microsoft YaHei" panose="020B0503020204020204" pitchFamily="34" charset="-122"/>
              </a:rPr>
              <a:t>离线构造语义轨迹，再用链路感知强化学习策略进行选择性通信。</a:t>
            </a:r>
          </a:p>
        </p:txBody>
      </p:sp>
      <p:sp>
        <p:nvSpPr>
          <p:cNvPr id="28" name="矩形 27">
            <a:extLst>
              <a:ext uri="{FF2B5EF4-FFF2-40B4-BE49-F238E27FC236}">
                <a16:creationId xmlns:a16="http://schemas.microsoft.com/office/drawing/2014/main" id="{F111774F-7B94-C525-C480-0306D91274F4}"/>
              </a:ext>
            </a:extLst>
          </p:cNvPr>
          <p:cNvSpPr/>
          <p:nvPr/>
        </p:nvSpPr>
        <p:spPr>
          <a:xfrm>
            <a:off x="4239094" y="1024404"/>
            <a:ext cx="7812997" cy="4002047"/>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C06DE179-C872-AE62-400A-E5ADF310F8A3}"/>
              </a:ext>
            </a:extLst>
          </p:cNvPr>
          <p:cNvSpPr/>
          <p:nvPr/>
        </p:nvSpPr>
        <p:spPr>
          <a:xfrm>
            <a:off x="4340695" y="1126004"/>
            <a:ext cx="3155157" cy="284872"/>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B86996D8-98FA-8B07-23B0-1185763E5729}"/>
              </a:ext>
            </a:extLst>
          </p:cNvPr>
          <p:cNvSpPr txBox="1"/>
          <p:nvPr/>
        </p:nvSpPr>
        <p:spPr>
          <a:xfrm>
            <a:off x="4429594" y="1189504"/>
            <a:ext cx="2947884" cy="153888"/>
          </a:xfrm>
          <a:prstGeom prst="rect">
            <a:avLst/>
          </a:prstGeom>
          <a:noFill/>
        </p:spPr>
        <p:txBody>
          <a:bodyPr vert="horz" wrap="square" lIns="0" tIns="0" rIns="0" bIns="0" rtlCol="0">
            <a:spAutoFit/>
          </a:bodyPr>
          <a:lstStyle/>
          <a:p>
            <a:pPr algn="ctr"/>
            <a:r>
              <a:rPr lang="en-US" altLang="zh-CN" sz="1000" b="1" dirty="0" err="1">
                <a:solidFill>
                  <a:srgbClr val="1E4976"/>
                </a:solidFill>
                <a:latin typeface="Times New Roman" panose="02020603050405020304" pitchFamily="18" charset="0"/>
                <a:cs typeface="Times New Roman" panose="02020603050405020304" pitchFamily="18" charset="0"/>
              </a:rPr>
              <a:t>EviComRL</a:t>
            </a:r>
            <a:r>
              <a:rPr lang="en-US" altLang="zh-CN" sz="1000" b="1" dirty="0">
                <a:solidFill>
                  <a:srgbClr val="1E4976"/>
                </a:solidFill>
                <a:latin typeface="Microsoft YaHei" panose="020B0503020204020204" pitchFamily="34" charset="-122"/>
              </a:rPr>
              <a:t> </a:t>
            </a:r>
            <a:r>
              <a:rPr lang="zh-CN" altLang="en-US" sz="1000" b="1" dirty="0">
                <a:solidFill>
                  <a:srgbClr val="1E4976"/>
                </a:solidFill>
                <a:latin typeface="Microsoft YaHei" panose="020B0503020204020204" pitchFamily="34" charset="-122"/>
              </a:rPr>
              <a:t>离线语义轨迹构造与策略学习流程</a:t>
            </a:r>
          </a:p>
        </p:txBody>
      </p:sp>
      <p:sp>
        <p:nvSpPr>
          <p:cNvPr id="36" name="矩形 35">
            <a:extLst>
              <a:ext uri="{FF2B5EF4-FFF2-40B4-BE49-F238E27FC236}">
                <a16:creationId xmlns:a16="http://schemas.microsoft.com/office/drawing/2014/main" id="{308A17C2-1606-9379-9A35-C1341F475F44}"/>
              </a:ext>
            </a:extLst>
          </p:cNvPr>
          <p:cNvSpPr/>
          <p:nvPr/>
        </p:nvSpPr>
        <p:spPr>
          <a:xfrm>
            <a:off x="5348365" y="5284814"/>
            <a:ext cx="5772489" cy="767363"/>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FA192ADA-500E-332A-6D86-EF6F217E4536}"/>
              </a:ext>
            </a:extLst>
          </p:cNvPr>
          <p:cNvSpPr/>
          <p:nvPr/>
        </p:nvSpPr>
        <p:spPr>
          <a:xfrm>
            <a:off x="5348365" y="5284814"/>
            <a:ext cx="1374402" cy="108139"/>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D79F4BD8-3696-6980-645C-ED74C733F266}"/>
              </a:ext>
            </a:extLst>
          </p:cNvPr>
          <p:cNvSpPr txBox="1"/>
          <p:nvPr/>
        </p:nvSpPr>
        <p:spPr>
          <a:xfrm>
            <a:off x="5738655" y="5512816"/>
            <a:ext cx="714689"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目标</a:t>
            </a:r>
            <a:endParaRPr lang="zh-CN" altLang="en-US" sz="1400" b="1" dirty="0">
              <a:solidFill>
                <a:srgbClr val="1E4976"/>
              </a:solidFill>
              <a:latin typeface="Microsoft YaHei" panose="020B0503020204020204" pitchFamily="34" charset="-122"/>
            </a:endParaRPr>
          </a:p>
        </p:txBody>
      </p:sp>
      <p:sp>
        <p:nvSpPr>
          <p:cNvPr id="42" name="文本框 41">
            <a:extLst>
              <a:ext uri="{FF2B5EF4-FFF2-40B4-BE49-F238E27FC236}">
                <a16:creationId xmlns:a16="http://schemas.microsoft.com/office/drawing/2014/main" id="{35EF31CD-4C6A-EB9E-BE18-42E22D68EAFB}"/>
              </a:ext>
            </a:extLst>
          </p:cNvPr>
          <p:cNvSpPr txBox="1"/>
          <p:nvPr/>
        </p:nvSpPr>
        <p:spPr>
          <a:xfrm>
            <a:off x="6592965" y="5475315"/>
            <a:ext cx="4312379" cy="369332"/>
          </a:xfrm>
          <a:prstGeom prst="rect">
            <a:avLst/>
          </a:prstGeom>
          <a:noFill/>
        </p:spPr>
        <p:txBody>
          <a:bodyPr vert="horz" wrap="square" lIns="0" tIns="0" rIns="0" bIns="0" rtlCol="0">
            <a:spAutoFit/>
          </a:bodyPr>
          <a:lstStyle/>
          <a:p>
            <a:r>
              <a:rPr lang="zh-CN" altLang="en-US" sz="1200" dirty="0">
                <a:solidFill>
                  <a:srgbClr val="222222"/>
                </a:solidFill>
                <a:latin typeface="Microsoft YaHei" panose="020B0503020204020204" pitchFamily="34" charset="-122"/>
              </a:rPr>
              <a:t>在有限通信资源下，使语义消息选择同时考虑推理质量、消息成本、通信时延和送达可靠性。</a:t>
            </a:r>
          </a:p>
        </p:txBody>
      </p:sp>
      <p:pic>
        <p:nvPicPr>
          <p:cNvPr id="44" name="图形 43">
            <a:extLst>
              <a:ext uri="{FF2B5EF4-FFF2-40B4-BE49-F238E27FC236}">
                <a16:creationId xmlns:a16="http://schemas.microsoft.com/office/drawing/2014/main" id="{21D20A70-616D-42F9-841B-E3567B7F9E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0694" y="1465186"/>
            <a:ext cx="7542796" cy="3468248"/>
          </a:xfrm>
          <a:prstGeom prst="rect">
            <a:avLst/>
          </a:prstGeom>
        </p:spPr>
      </p:pic>
    </p:spTree>
    <p:extLst>
      <p:ext uri="{BB962C8B-B14F-4D97-AF65-F5344CB8AC3E}">
        <p14:creationId xmlns:p14="http://schemas.microsoft.com/office/powerpoint/2010/main" val="18700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E8FEB-061C-0102-EC4D-D6F3BB58E446}"/>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246C377F-6E6C-42A8-790D-AE15F1EAC76F}"/>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b="1" dirty="0">
                <a:solidFill>
                  <a:srgbClr val="FFFFFF"/>
                </a:solidFill>
                <a:latin typeface="Microsoft YaHei" panose="020B0503020204020204" pitchFamily="34" charset="-122"/>
              </a:rPr>
              <a:t>RQ2 </a:t>
            </a:r>
            <a:r>
              <a:rPr lang="zh-CN" altLang="en-US" sz="2400" b="1" dirty="0">
                <a:solidFill>
                  <a:srgbClr val="FFFFFF"/>
                </a:solidFill>
                <a:latin typeface="Microsoft YaHei" panose="020B0503020204020204" pitchFamily="34" charset="-122"/>
              </a:rPr>
              <a:t>实验结果</a:t>
            </a:r>
          </a:p>
        </p:txBody>
      </p:sp>
      <p:sp>
        <p:nvSpPr>
          <p:cNvPr id="3" name="矩形 2">
            <a:extLst>
              <a:ext uri="{FF2B5EF4-FFF2-40B4-BE49-F238E27FC236}">
                <a16:creationId xmlns:a16="http://schemas.microsoft.com/office/drawing/2014/main" id="{676C084D-F0F2-2928-8750-7B3635E41367}"/>
              </a:ext>
            </a:extLst>
          </p:cNvPr>
          <p:cNvSpPr/>
          <p:nvPr/>
        </p:nvSpPr>
        <p:spPr>
          <a:xfrm>
            <a:off x="533400" y="1092200"/>
            <a:ext cx="5207000" cy="3175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BA9F2A54-258B-6F73-0C41-DA94D68DDCFD}"/>
              </a:ext>
            </a:extLst>
          </p:cNvPr>
          <p:cNvSpPr/>
          <p:nvPr/>
        </p:nvSpPr>
        <p:spPr>
          <a:xfrm>
            <a:off x="635000" y="11938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EB4AED53-6C42-24B2-289C-B091B4FAB3E1}"/>
              </a:ext>
            </a:extLst>
          </p:cNvPr>
          <p:cNvSpPr txBox="1"/>
          <p:nvPr/>
        </p:nvSpPr>
        <p:spPr>
          <a:xfrm>
            <a:off x="723900" y="12573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主设置 </a:t>
            </a:r>
            <a:r>
              <a:rPr lang="en-US" altLang="zh-CN" sz="1000" b="1">
                <a:solidFill>
                  <a:srgbClr val="1E4976"/>
                </a:solidFill>
                <a:latin typeface="Microsoft YaHei" panose="020B0503020204020204" pitchFamily="34" charset="-122"/>
              </a:rPr>
              <a:t>Accuracy</a:t>
            </a:r>
            <a:endParaRPr lang="zh-CN" altLang="en-US" sz="1000" b="1">
              <a:solidFill>
                <a:srgbClr val="1E4976"/>
              </a:solidFill>
              <a:latin typeface="Microsoft YaHei" panose="020B0503020204020204" pitchFamily="34" charset="-122"/>
            </a:endParaRPr>
          </a:p>
        </p:txBody>
      </p:sp>
      <p:pic>
        <p:nvPicPr>
          <p:cNvPr id="9" name="图片 8">
            <a:extLst>
              <a:ext uri="{FF2B5EF4-FFF2-40B4-BE49-F238E27FC236}">
                <a16:creationId xmlns:a16="http://schemas.microsoft.com/office/drawing/2014/main" id="{4651A996-20D1-ADA3-A86A-0EB9E7309CC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60400" y="1607152"/>
            <a:ext cx="4953000" cy="2449897"/>
          </a:xfrm>
          <a:prstGeom prst="rect">
            <a:avLst/>
          </a:prstGeom>
        </p:spPr>
      </p:pic>
      <p:sp>
        <p:nvSpPr>
          <p:cNvPr id="11" name="矩形 10">
            <a:extLst>
              <a:ext uri="{FF2B5EF4-FFF2-40B4-BE49-F238E27FC236}">
                <a16:creationId xmlns:a16="http://schemas.microsoft.com/office/drawing/2014/main" id="{70A3C281-1906-9742-2AE4-648724C63AC2}"/>
              </a:ext>
            </a:extLst>
          </p:cNvPr>
          <p:cNvSpPr/>
          <p:nvPr/>
        </p:nvSpPr>
        <p:spPr>
          <a:xfrm>
            <a:off x="6324600" y="1092200"/>
            <a:ext cx="5207000" cy="3175000"/>
          </a:xfrm>
          <a:prstGeom prst="rect">
            <a:avLst/>
          </a:prstGeom>
          <a:solidFill>
            <a:srgbClr val="FFFFFF"/>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CC52F04-546E-84E8-08DF-040645B3396C}"/>
              </a:ext>
            </a:extLst>
          </p:cNvPr>
          <p:cNvSpPr/>
          <p:nvPr/>
        </p:nvSpPr>
        <p:spPr>
          <a:xfrm>
            <a:off x="6426200" y="1193800"/>
            <a:ext cx="1905000" cy="304800"/>
          </a:xfrm>
          <a:prstGeom prst="rect">
            <a:avLst/>
          </a:prstGeom>
          <a:solidFill>
            <a:srgbClr val="F7F9FB"/>
          </a:solidFill>
          <a:ln w="889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B51159F7-9985-2D11-FB94-990C32A34368}"/>
              </a:ext>
            </a:extLst>
          </p:cNvPr>
          <p:cNvSpPr txBox="1"/>
          <p:nvPr/>
        </p:nvSpPr>
        <p:spPr>
          <a:xfrm>
            <a:off x="6515100" y="1257300"/>
            <a:ext cx="1727200" cy="153888"/>
          </a:xfrm>
          <a:prstGeom prst="rect">
            <a:avLst/>
          </a:prstGeom>
          <a:noFill/>
        </p:spPr>
        <p:txBody>
          <a:bodyPr vert="horz" wrap="square" lIns="0" tIns="0" rIns="0" bIns="0" rtlCol="0">
            <a:spAutoFit/>
          </a:bodyPr>
          <a:lstStyle/>
          <a:p>
            <a:pPr algn="ctr"/>
            <a:r>
              <a:rPr lang="zh-CN" altLang="en-US" sz="1000" b="1">
                <a:solidFill>
                  <a:srgbClr val="1E4976"/>
                </a:solidFill>
                <a:latin typeface="Microsoft YaHei" panose="020B0503020204020204" pitchFamily="34" charset="-122"/>
              </a:rPr>
              <a:t>质量</a:t>
            </a:r>
            <a:r>
              <a:rPr lang="en-US" altLang="zh-CN" sz="1000" b="1">
                <a:solidFill>
                  <a:srgbClr val="1E4976"/>
                </a:solidFill>
                <a:latin typeface="Microsoft YaHei" panose="020B0503020204020204" pitchFamily="34" charset="-122"/>
              </a:rPr>
              <a:t>--</a:t>
            </a:r>
            <a:r>
              <a:rPr lang="zh-CN" altLang="en-US" sz="1000" b="1">
                <a:solidFill>
                  <a:srgbClr val="1E4976"/>
                </a:solidFill>
                <a:latin typeface="Microsoft YaHei" panose="020B0503020204020204" pitchFamily="34" charset="-122"/>
              </a:rPr>
              <a:t>成本折中</a:t>
            </a:r>
          </a:p>
        </p:txBody>
      </p:sp>
      <p:pic>
        <p:nvPicPr>
          <p:cNvPr id="18" name="图片 17">
            <a:extLst>
              <a:ext uri="{FF2B5EF4-FFF2-40B4-BE49-F238E27FC236}">
                <a16:creationId xmlns:a16="http://schemas.microsoft.com/office/drawing/2014/main" id="{BFC47E0D-812B-4350-8C51-9AF7FA3B7478}"/>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6932809" y="1524000"/>
            <a:ext cx="3990582" cy="2616200"/>
          </a:xfrm>
          <a:prstGeom prst="rect">
            <a:avLst/>
          </a:prstGeom>
        </p:spPr>
      </p:pic>
      <p:sp>
        <p:nvSpPr>
          <p:cNvPr id="20" name="矩形 19">
            <a:extLst>
              <a:ext uri="{FF2B5EF4-FFF2-40B4-BE49-F238E27FC236}">
                <a16:creationId xmlns:a16="http://schemas.microsoft.com/office/drawing/2014/main" id="{536224EC-C291-CB52-C326-8ADBB4C16775}"/>
              </a:ext>
            </a:extLst>
          </p:cNvPr>
          <p:cNvSpPr/>
          <p:nvPr/>
        </p:nvSpPr>
        <p:spPr>
          <a:xfrm>
            <a:off x="533400" y="4648200"/>
            <a:ext cx="3302000" cy="1497766"/>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1D5ED590-9B89-50B8-AEAD-470BC4FDA7DF}"/>
              </a:ext>
            </a:extLst>
          </p:cNvPr>
          <p:cNvSpPr/>
          <p:nvPr/>
        </p:nvSpPr>
        <p:spPr>
          <a:xfrm>
            <a:off x="533400" y="4648200"/>
            <a:ext cx="11226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4498A314-8185-44C3-3B17-DC31D1F30553}"/>
              </a:ext>
            </a:extLst>
          </p:cNvPr>
          <p:cNvSpPr txBox="1"/>
          <p:nvPr/>
        </p:nvSpPr>
        <p:spPr>
          <a:xfrm>
            <a:off x="762000" y="4824349"/>
            <a:ext cx="28448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完整实验</a:t>
            </a:r>
          </a:p>
        </p:txBody>
      </p:sp>
      <p:sp>
        <p:nvSpPr>
          <p:cNvPr id="26" name="文本框 25">
            <a:extLst>
              <a:ext uri="{FF2B5EF4-FFF2-40B4-BE49-F238E27FC236}">
                <a16:creationId xmlns:a16="http://schemas.microsoft.com/office/drawing/2014/main" id="{2EFC45AB-7489-009D-4EAD-E4046D2D1A5D}"/>
              </a:ext>
            </a:extLst>
          </p:cNvPr>
          <p:cNvSpPr txBox="1"/>
          <p:nvPr/>
        </p:nvSpPr>
        <p:spPr>
          <a:xfrm>
            <a:off x="762000" y="5196389"/>
            <a:ext cx="2844800" cy="646331"/>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基于约 </a:t>
            </a:r>
            <a:r>
              <a:rPr lang="en-US" altLang="zh-CN" sz="1400" dirty="0">
                <a:solidFill>
                  <a:srgbClr val="222222"/>
                </a:solidFill>
                <a:latin typeface="Microsoft YaHei" panose="020B0503020204020204" pitchFamily="34" charset="-122"/>
              </a:rPr>
              <a:t>3000 </a:t>
            </a:r>
            <a:r>
              <a:rPr lang="zh-CN" altLang="en-US" sz="1400" dirty="0">
                <a:solidFill>
                  <a:srgbClr val="222222"/>
                </a:solidFill>
                <a:latin typeface="Microsoft YaHei" panose="020B0503020204020204" pitchFamily="34" charset="-122"/>
              </a:rPr>
              <a:t>条语义轨迹，完成主设置、智能体数量、通信预算和关键模块消融实验</a:t>
            </a:r>
          </a:p>
        </p:txBody>
      </p:sp>
      <p:sp>
        <p:nvSpPr>
          <p:cNvPr id="28" name="矩形 27">
            <a:extLst>
              <a:ext uri="{FF2B5EF4-FFF2-40B4-BE49-F238E27FC236}">
                <a16:creationId xmlns:a16="http://schemas.microsoft.com/office/drawing/2014/main" id="{2188BF63-29A3-97C7-B71C-05B63734D4F6}"/>
              </a:ext>
            </a:extLst>
          </p:cNvPr>
          <p:cNvSpPr/>
          <p:nvPr/>
        </p:nvSpPr>
        <p:spPr>
          <a:xfrm>
            <a:off x="4445000" y="4648200"/>
            <a:ext cx="3302000" cy="1497767"/>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16FF2C06-5261-C2E6-B677-694CDC3096FA}"/>
              </a:ext>
            </a:extLst>
          </p:cNvPr>
          <p:cNvSpPr/>
          <p:nvPr/>
        </p:nvSpPr>
        <p:spPr>
          <a:xfrm>
            <a:off x="4445000" y="4648200"/>
            <a:ext cx="112268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74E70A09-59BF-2B8C-50A7-B25AA091278F}"/>
              </a:ext>
            </a:extLst>
          </p:cNvPr>
          <p:cNvSpPr txBox="1"/>
          <p:nvPr/>
        </p:nvSpPr>
        <p:spPr>
          <a:xfrm>
            <a:off x="4673600" y="4824349"/>
            <a:ext cx="28448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主要结果</a:t>
            </a:r>
          </a:p>
        </p:txBody>
      </p:sp>
      <p:sp>
        <p:nvSpPr>
          <p:cNvPr id="34" name="文本框 33">
            <a:extLst>
              <a:ext uri="{FF2B5EF4-FFF2-40B4-BE49-F238E27FC236}">
                <a16:creationId xmlns:a16="http://schemas.microsoft.com/office/drawing/2014/main" id="{40502C3E-E2BD-B0C6-73A5-5B38382C732C}"/>
              </a:ext>
            </a:extLst>
          </p:cNvPr>
          <p:cNvSpPr txBox="1"/>
          <p:nvPr/>
        </p:nvSpPr>
        <p:spPr>
          <a:xfrm>
            <a:off x="4673600" y="5196389"/>
            <a:ext cx="2844800" cy="861774"/>
          </a:xfrm>
          <a:prstGeom prst="rect">
            <a:avLst/>
          </a:prstGeom>
          <a:noFill/>
        </p:spPr>
        <p:txBody>
          <a:bodyPr vert="horz" wrap="square" lIns="0" tIns="0" rIns="0" bIns="0" rtlCol="0">
            <a:spAutoFit/>
          </a:bodyPr>
          <a:lstStyle/>
          <a:p>
            <a:r>
              <a:rPr lang="en-US" altLang="zh-CN" sz="1400" dirty="0" err="1">
                <a:solidFill>
                  <a:srgbClr val="222222"/>
                </a:solidFill>
                <a:latin typeface="Microsoft YaHei" panose="020B0503020204020204" pitchFamily="34" charset="-122"/>
              </a:rPr>
              <a:t>EviComRL</a:t>
            </a:r>
            <a:r>
              <a:rPr lang="en-US" altLang="zh-CN" sz="1400" dirty="0">
                <a:solidFill>
                  <a:srgbClr val="222222"/>
                </a:solidFill>
                <a:latin typeface="Microsoft YaHei" panose="020B0503020204020204" pitchFamily="34" charset="-122"/>
              </a:rPr>
              <a:t> </a:t>
            </a:r>
            <a:r>
              <a:rPr lang="zh-CN" altLang="en-US" sz="1400" dirty="0">
                <a:solidFill>
                  <a:srgbClr val="222222"/>
                </a:solidFill>
                <a:latin typeface="Microsoft YaHei" panose="020B0503020204020204" pitchFamily="34" charset="-122"/>
              </a:rPr>
              <a:t>在 </a:t>
            </a:r>
            <a:r>
              <a:rPr lang="en-US" altLang="zh-CN" sz="1400" dirty="0">
                <a:solidFill>
                  <a:srgbClr val="222222"/>
                </a:solidFill>
                <a:latin typeface="Microsoft YaHei" panose="020B0503020204020204" pitchFamily="34" charset="-122"/>
              </a:rPr>
              <a:t>Accuracy</a:t>
            </a:r>
            <a:r>
              <a:rPr lang="zh-CN" altLang="en-US" sz="1400" dirty="0">
                <a:solidFill>
                  <a:srgbClr val="222222"/>
                </a:solidFill>
                <a:latin typeface="Microsoft YaHei" panose="020B0503020204020204" pitchFamily="34" charset="-122"/>
              </a:rPr>
              <a:t>、</a:t>
            </a:r>
            <a:r>
              <a:rPr lang="en-US" altLang="zh-CN" sz="1400" dirty="0">
                <a:solidFill>
                  <a:srgbClr val="222222"/>
                </a:solidFill>
                <a:latin typeface="Microsoft YaHei" panose="020B0503020204020204" pitchFamily="34" charset="-122"/>
              </a:rPr>
              <a:t>Balanced Accuracy</a:t>
            </a:r>
            <a:r>
              <a:rPr lang="zh-CN" altLang="en-US" sz="1400" dirty="0">
                <a:solidFill>
                  <a:srgbClr val="222222"/>
                </a:solidFill>
                <a:latin typeface="Microsoft YaHei" panose="020B0503020204020204" pitchFamily="34" charset="-122"/>
              </a:rPr>
              <a:t>、</a:t>
            </a:r>
            <a:r>
              <a:rPr lang="en-US" altLang="zh-CN" sz="1400" dirty="0">
                <a:solidFill>
                  <a:srgbClr val="222222"/>
                </a:solidFill>
                <a:latin typeface="Microsoft YaHei" panose="020B0503020204020204" pitchFamily="34" charset="-122"/>
              </a:rPr>
              <a:t>Macro-F1 </a:t>
            </a:r>
            <a:r>
              <a:rPr lang="zh-CN" altLang="en-US" sz="1400" dirty="0">
                <a:solidFill>
                  <a:srgbClr val="222222"/>
                </a:solidFill>
                <a:latin typeface="Microsoft YaHei" panose="020B0503020204020204" pitchFamily="34" charset="-122"/>
              </a:rPr>
              <a:t>和 </a:t>
            </a:r>
            <a:r>
              <a:rPr lang="en-US" altLang="zh-CN" sz="1400" dirty="0">
                <a:solidFill>
                  <a:srgbClr val="222222"/>
                </a:solidFill>
                <a:latin typeface="Microsoft YaHei" panose="020B0503020204020204" pitchFamily="34" charset="-122"/>
              </a:rPr>
              <a:t>Effective Quality </a:t>
            </a:r>
            <a:r>
              <a:rPr lang="zh-CN" altLang="en-US" sz="1400" dirty="0">
                <a:solidFill>
                  <a:srgbClr val="222222"/>
                </a:solidFill>
                <a:latin typeface="Microsoft YaHei" panose="020B0503020204020204" pitchFamily="34" charset="-122"/>
              </a:rPr>
              <a:t>上取得当前可部署方法中的最好表现</a:t>
            </a:r>
          </a:p>
        </p:txBody>
      </p:sp>
      <p:sp>
        <p:nvSpPr>
          <p:cNvPr id="36" name="矩形 35">
            <a:extLst>
              <a:ext uri="{FF2B5EF4-FFF2-40B4-BE49-F238E27FC236}">
                <a16:creationId xmlns:a16="http://schemas.microsoft.com/office/drawing/2014/main" id="{6255B301-133E-2CB3-18BF-F07128FAB0CF}"/>
              </a:ext>
            </a:extLst>
          </p:cNvPr>
          <p:cNvSpPr/>
          <p:nvPr/>
        </p:nvSpPr>
        <p:spPr>
          <a:xfrm>
            <a:off x="8356600" y="4648199"/>
            <a:ext cx="3175000" cy="1497765"/>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BE2B3A32-9160-A42B-3F12-A7B2A5D216C5}"/>
              </a:ext>
            </a:extLst>
          </p:cNvPr>
          <p:cNvSpPr/>
          <p:nvPr/>
        </p:nvSpPr>
        <p:spPr>
          <a:xfrm>
            <a:off x="8356600" y="4648200"/>
            <a:ext cx="10795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110128D7-A9CA-24A8-300C-F319521D8072}"/>
              </a:ext>
            </a:extLst>
          </p:cNvPr>
          <p:cNvSpPr txBox="1"/>
          <p:nvPr/>
        </p:nvSpPr>
        <p:spPr>
          <a:xfrm>
            <a:off x="8585200" y="4824348"/>
            <a:ext cx="27178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仍需优化</a:t>
            </a:r>
          </a:p>
        </p:txBody>
      </p:sp>
      <p:sp>
        <p:nvSpPr>
          <p:cNvPr id="42" name="文本框 41">
            <a:extLst>
              <a:ext uri="{FF2B5EF4-FFF2-40B4-BE49-F238E27FC236}">
                <a16:creationId xmlns:a16="http://schemas.microsoft.com/office/drawing/2014/main" id="{ECA93A72-A328-B37E-3D22-204CC720E337}"/>
              </a:ext>
            </a:extLst>
          </p:cNvPr>
          <p:cNvSpPr txBox="1"/>
          <p:nvPr/>
        </p:nvSpPr>
        <p:spPr>
          <a:xfrm>
            <a:off x="8585200" y="5204508"/>
            <a:ext cx="2717800" cy="430887"/>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通信成本约束、停止策略和链路风险建模仍有进一步校准空间</a:t>
            </a:r>
          </a:p>
        </p:txBody>
      </p:sp>
      <p:sp>
        <p:nvSpPr>
          <p:cNvPr id="43" name="矩形 42">
            <a:extLst>
              <a:ext uri="{FF2B5EF4-FFF2-40B4-BE49-F238E27FC236}">
                <a16:creationId xmlns:a16="http://schemas.microsoft.com/office/drawing/2014/main" id="{55175677-FF5F-2CF2-D1BF-26AA92B1D1C1}"/>
              </a:ext>
            </a:extLst>
          </p:cNvPr>
          <p:cNvSpPr/>
          <p:nvPr/>
        </p:nvSpPr>
        <p:spPr>
          <a:xfrm>
            <a:off x="2400300" y="1566333"/>
            <a:ext cx="1716617" cy="203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71BE5A14-92DE-B575-894A-33479E4E3F34}"/>
              </a:ext>
            </a:extLst>
          </p:cNvPr>
          <p:cNvSpPr/>
          <p:nvPr/>
        </p:nvSpPr>
        <p:spPr>
          <a:xfrm>
            <a:off x="8331200" y="1566333"/>
            <a:ext cx="1460500" cy="7514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664121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94C4C-655D-B321-B440-D9A7FFC598C8}"/>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D1A2D766-C236-61C8-413B-EE9FBDA4CBE6}"/>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FFFF"/>
                </a:solidFill>
                <a:latin typeface="Microsoft YaHei" panose="020B0503020204020204" pitchFamily="34" charset="-122"/>
              </a:rPr>
              <a:t>存在问题与后续研究</a:t>
            </a:r>
          </a:p>
        </p:txBody>
      </p:sp>
      <p:sp>
        <p:nvSpPr>
          <p:cNvPr id="2" name="矩形 1">
            <a:extLst>
              <a:ext uri="{FF2B5EF4-FFF2-40B4-BE49-F238E27FC236}">
                <a16:creationId xmlns:a16="http://schemas.microsoft.com/office/drawing/2014/main" id="{8FAC1578-9846-CF02-FA3C-CBA0DE103720}"/>
              </a:ext>
            </a:extLst>
          </p:cNvPr>
          <p:cNvSpPr/>
          <p:nvPr/>
        </p:nvSpPr>
        <p:spPr>
          <a:xfrm>
            <a:off x="635000" y="1168400"/>
            <a:ext cx="3429000" cy="3679613"/>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7ACE9E6F-B24B-530F-FE73-DA761D792968}"/>
              </a:ext>
            </a:extLst>
          </p:cNvPr>
          <p:cNvSpPr/>
          <p:nvPr/>
        </p:nvSpPr>
        <p:spPr>
          <a:xfrm>
            <a:off x="635000" y="1168400"/>
            <a:ext cx="130302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5F3CFA99-3B1F-ADA1-A7E7-665B87F32E37}"/>
              </a:ext>
            </a:extLst>
          </p:cNvPr>
          <p:cNvSpPr txBox="1"/>
          <p:nvPr/>
        </p:nvSpPr>
        <p:spPr>
          <a:xfrm>
            <a:off x="863600" y="1473200"/>
            <a:ext cx="2971800" cy="276999"/>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当前不足</a:t>
            </a:r>
          </a:p>
        </p:txBody>
      </p:sp>
      <p:sp>
        <p:nvSpPr>
          <p:cNvPr id="5" name="文本框 4">
            <a:extLst>
              <a:ext uri="{FF2B5EF4-FFF2-40B4-BE49-F238E27FC236}">
                <a16:creationId xmlns:a16="http://schemas.microsoft.com/office/drawing/2014/main" id="{0099AE00-D4F9-CA81-8B3E-55C7EE516A4F}"/>
              </a:ext>
            </a:extLst>
          </p:cNvPr>
          <p:cNvSpPr txBox="1"/>
          <p:nvPr/>
        </p:nvSpPr>
        <p:spPr>
          <a:xfrm>
            <a:off x="863600" y="2057400"/>
            <a:ext cx="2971800" cy="2462213"/>
          </a:xfrm>
          <a:prstGeom prst="rect">
            <a:avLst/>
          </a:prstGeom>
          <a:noFill/>
        </p:spPr>
        <p:txBody>
          <a:bodyPr vert="horz" wrap="square" lIns="0" tIns="0" rIns="0" bIns="0" rtlCol="0">
            <a:spAutoFit/>
          </a:bodyPr>
          <a:lstStyle/>
          <a:p>
            <a:r>
              <a:rPr lang="en-US" altLang="zh-CN" sz="1600" dirty="0">
                <a:solidFill>
                  <a:srgbClr val="222222"/>
                </a:solidFill>
                <a:latin typeface="Microsoft YaHei" panose="020B0503020204020204" pitchFamily="34" charset="-122"/>
              </a:rPr>
              <a:t>1. </a:t>
            </a:r>
            <a:r>
              <a:rPr lang="zh-CN" altLang="en-US" sz="1600" dirty="0">
                <a:solidFill>
                  <a:srgbClr val="222222"/>
                </a:solidFill>
                <a:latin typeface="Microsoft YaHei" panose="020B0503020204020204" pitchFamily="34" charset="-122"/>
              </a:rPr>
              <a:t>底层链路、能量约束与上层语义消息选择仍需进一步耦合</a:t>
            </a:r>
            <a:endParaRPr lang="en-US" altLang="zh-CN" sz="1600" dirty="0">
              <a:solidFill>
                <a:srgbClr val="222222"/>
              </a:solidFill>
              <a:latin typeface="Microsoft YaHei" panose="020B0503020204020204" pitchFamily="34" charset="-122"/>
            </a:endParaRPr>
          </a:p>
          <a:p>
            <a:endParaRPr lang="en-US" altLang="zh-CN" sz="1600" dirty="0">
              <a:solidFill>
                <a:srgbClr val="222222"/>
              </a:solidFill>
              <a:latin typeface="Microsoft YaHei" panose="020B0503020204020204" pitchFamily="34" charset="-122"/>
            </a:endParaRPr>
          </a:p>
          <a:p>
            <a:r>
              <a:rPr lang="en-US" altLang="zh-CN" sz="1600" dirty="0">
                <a:solidFill>
                  <a:srgbClr val="222222"/>
                </a:solidFill>
                <a:latin typeface="Microsoft YaHei" panose="020B0503020204020204" pitchFamily="34" charset="-122"/>
              </a:rPr>
              <a:t>2. </a:t>
            </a:r>
            <a:r>
              <a:rPr lang="zh-CN" altLang="en-US" sz="1600" dirty="0">
                <a:solidFill>
                  <a:srgbClr val="222222"/>
                </a:solidFill>
                <a:latin typeface="Microsoft YaHei" panose="020B0503020204020204" pitchFamily="34" charset="-122"/>
              </a:rPr>
              <a:t>现有语义通信实验主要验证了消息选择策略，还需要放到动态受限网络中重新评估</a:t>
            </a:r>
            <a:endParaRPr lang="en-US" altLang="zh-CN" sz="1600" dirty="0">
              <a:solidFill>
                <a:srgbClr val="222222"/>
              </a:solidFill>
              <a:latin typeface="Microsoft YaHei" panose="020B0503020204020204" pitchFamily="34" charset="-122"/>
            </a:endParaRPr>
          </a:p>
          <a:p>
            <a:endParaRPr lang="en-US" altLang="zh-CN" sz="1600" dirty="0">
              <a:solidFill>
                <a:srgbClr val="222222"/>
              </a:solidFill>
              <a:latin typeface="Microsoft YaHei" panose="020B0503020204020204" pitchFamily="34" charset="-122"/>
            </a:endParaRPr>
          </a:p>
          <a:p>
            <a:r>
              <a:rPr lang="en-US" altLang="zh-CN" sz="1600" dirty="0">
                <a:solidFill>
                  <a:srgbClr val="222222"/>
                </a:solidFill>
                <a:latin typeface="Microsoft YaHei" panose="020B0503020204020204" pitchFamily="34" charset="-122"/>
              </a:rPr>
              <a:t>3. </a:t>
            </a:r>
            <a:r>
              <a:rPr lang="zh-CN" altLang="en-US" sz="1600" dirty="0">
                <a:solidFill>
                  <a:srgbClr val="222222"/>
                </a:solidFill>
                <a:latin typeface="Microsoft YaHei" panose="020B0503020204020204" pitchFamily="34" charset="-122"/>
              </a:rPr>
              <a:t>服务质量指标之间存在权衡关系，仍需分析链路可靠性、通信开销和任务效果之间的影响路径</a:t>
            </a:r>
          </a:p>
        </p:txBody>
      </p:sp>
      <p:sp>
        <p:nvSpPr>
          <p:cNvPr id="8" name="矩形 7">
            <a:extLst>
              <a:ext uri="{FF2B5EF4-FFF2-40B4-BE49-F238E27FC236}">
                <a16:creationId xmlns:a16="http://schemas.microsoft.com/office/drawing/2014/main" id="{AC4030F2-1A71-39E6-509A-4CE8F85A0A8F}"/>
              </a:ext>
            </a:extLst>
          </p:cNvPr>
          <p:cNvSpPr/>
          <p:nvPr/>
        </p:nvSpPr>
        <p:spPr>
          <a:xfrm>
            <a:off x="4787900" y="1168400"/>
            <a:ext cx="6997700" cy="1093188"/>
          </a:xfrm>
          <a:prstGeom prst="rect">
            <a:avLst/>
          </a:prstGeom>
          <a:solidFill>
            <a:srgbClr val="F3F5F7"/>
          </a:solidFill>
          <a:ln w="1143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EBFFE9FB-DA60-EBFF-B928-CA1EC1F17838}"/>
              </a:ext>
            </a:extLst>
          </p:cNvPr>
          <p:cNvSpPr txBox="1"/>
          <p:nvPr/>
        </p:nvSpPr>
        <p:spPr>
          <a:xfrm>
            <a:off x="4643967" y="1377033"/>
            <a:ext cx="1587500" cy="276999"/>
          </a:xfrm>
          <a:prstGeom prst="rect">
            <a:avLst/>
          </a:prstGeom>
          <a:noFill/>
        </p:spPr>
        <p:txBody>
          <a:bodyPr vert="horz" wrap="square" lIns="0" tIns="0" rIns="0" bIns="0" rtlCol="0">
            <a:spAutoFit/>
          </a:bodyPr>
          <a:lstStyle/>
          <a:p>
            <a:pPr algn="ctr"/>
            <a:r>
              <a:rPr lang="zh-CN" altLang="en-US" b="1" dirty="0">
                <a:solidFill>
                  <a:srgbClr val="1E4976"/>
                </a:solidFill>
                <a:latin typeface="Microsoft YaHei" panose="020B0503020204020204" pitchFamily="34" charset="-122"/>
              </a:rPr>
              <a:t>约束映射</a:t>
            </a:r>
          </a:p>
        </p:txBody>
      </p:sp>
      <p:sp>
        <p:nvSpPr>
          <p:cNvPr id="10" name="文本框 9">
            <a:extLst>
              <a:ext uri="{FF2B5EF4-FFF2-40B4-BE49-F238E27FC236}">
                <a16:creationId xmlns:a16="http://schemas.microsoft.com/office/drawing/2014/main" id="{5875DCAB-6891-B93B-9880-F550106F2ADE}"/>
              </a:ext>
            </a:extLst>
          </p:cNvPr>
          <p:cNvSpPr txBox="1"/>
          <p:nvPr/>
        </p:nvSpPr>
        <p:spPr>
          <a:xfrm>
            <a:off x="4787900" y="1833521"/>
            <a:ext cx="6388100" cy="246221"/>
          </a:xfrm>
          <a:prstGeom prst="rect">
            <a:avLst/>
          </a:prstGeom>
          <a:noFill/>
        </p:spPr>
        <p:txBody>
          <a:bodyPr vert="horz" wrap="square" lIns="0" tIns="0" rIns="0" bIns="0" rtlCol="0">
            <a:spAutoFit/>
          </a:bodyPr>
          <a:lstStyle/>
          <a:p>
            <a:pPr algn="ctr"/>
            <a:r>
              <a:rPr lang="zh-CN" altLang="en-US" sz="1600" dirty="0">
                <a:solidFill>
                  <a:srgbClr val="222222"/>
                </a:solidFill>
                <a:latin typeface="Microsoft YaHei" panose="020B0503020204020204" pitchFamily="34" charset="-122"/>
              </a:rPr>
              <a:t>将 </a:t>
            </a:r>
            <a:r>
              <a:rPr lang="en-US" altLang="zh-CN" sz="1600" dirty="0">
                <a:solidFill>
                  <a:srgbClr val="222222"/>
                </a:solidFill>
                <a:latin typeface="Times New Roman" panose="02020603050405020304" pitchFamily="18" charset="0"/>
                <a:cs typeface="Times New Roman" panose="02020603050405020304" pitchFamily="18" charset="0"/>
              </a:rPr>
              <a:t>LEADR</a:t>
            </a:r>
            <a:r>
              <a:rPr lang="en-US" altLang="zh-CN" sz="1600" dirty="0">
                <a:solidFill>
                  <a:srgbClr val="222222"/>
                </a:solidFill>
                <a:latin typeface="Microsoft YaHei" panose="020B0503020204020204" pitchFamily="34" charset="-122"/>
              </a:rPr>
              <a:t> </a:t>
            </a:r>
            <a:r>
              <a:rPr lang="zh-CN" altLang="en-US" sz="1600" dirty="0">
                <a:solidFill>
                  <a:srgbClr val="222222"/>
                </a:solidFill>
                <a:latin typeface="Microsoft YaHei" panose="020B0503020204020204" pitchFamily="34" charset="-122"/>
              </a:rPr>
              <a:t>输出的链路质量、节点能量和传输代价引入语义通信环境</a:t>
            </a:r>
          </a:p>
        </p:txBody>
      </p:sp>
      <p:sp>
        <p:nvSpPr>
          <p:cNvPr id="11" name="矩形 10">
            <a:extLst>
              <a:ext uri="{FF2B5EF4-FFF2-40B4-BE49-F238E27FC236}">
                <a16:creationId xmlns:a16="http://schemas.microsoft.com/office/drawing/2014/main" id="{CDCB2DB3-C342-02E9-29B7-FFDA29872B22}"/>
              </a:ext>
            </a:extLst>
          </p:cNvPr>
          <p:cNvSpPr/>
          <p:nvPr/>
        </p:nvSpPr>
        <p:spPr>
          <a:xfrm>
            <a:off x="4787900" y="3007887"/>
            <a:ext cx="6997700" cy="1168316"/>
          </a:xfrm>
          <a:prstGeom prst="rect">
            <a:avLst/>
          </a:prstGeom>
          <a:solidFill>
            <a:srgbClr val="EEF3F7"/>
          </a:solidFill>
          <a:ln w="1143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C1A09743-16C0-E63E-1677-425151C50CDD}"/>
              </a:ext>
            </a:extLst>
          </p:cNvPr>
          <p:cNvSpPr txBox="1"/>
          <p:nvPr/>
        </p:nvSpPr>
        <p:spPr>
          <a:xfrm>
            <a:off x="4559300" y="3238719"/>
            <a:ext cx="1841500" cy="276999"/>
          </a:xfrm>
          <a:prstGeom prst="rect">
            <a:avLst/>
          </a:prstGeom>
          <a:noFill/>
        </p:spPr>
        <p:txBody>
          <a:bodyPr vert="horz" wrap="square" lIns="0" tIns="0" rIns="0" bIns="0" rtlCol="0">
            <a:spAutoFit/>
          </a:bodyPr>
          <a:lstStyle/>
          <a:p>
            <a:pPr algn="ctr"/>
            <a:r>
              <a:rPr lang="zh-CN" altLang="en-US" b="1" dirty="0">
                <a:solidFill>
                  <a:srgbClr val="1E4976"/>
                </a:solidFill>
                <a:latin typeface="Microsoft YaHei" panose="020B0503020204020204" pitchFamily="34" charset="-122"/>
              </a:rPr>
              <a:t>策略评估</a:t>
            </a:r>
          </a:p>
        </p:txBody>
      </p:sp>
      <p:sp>
        <p:nvSpPr>
          <p:cNvPr id="13" name="文本框 12">
            <a:extLst>
              <a:ext uri="{FF2B5EF4-FFF2-40B4-BE49-F238E27FC236}">
                <a16:creationId xmlns:a16="http://schemas.microsoft.com/office/drawing/2014/main" id="{ADDE8A18-D914-4FEC-CEAA-F54A4AAADCA3}"/>
              </a:ext>
            </a:extLst>
          </p:cNvPr>
          <p:cNvSpPr txBox="1"/>
          <p:nvPr/>
        </p:nvSpPr>
        <p:spPr>
          <a:xfrm>
            <a:off x="4940301" y="3719087"/>
            <a:ext cx="6515098" cy="246221"/>
          </a:xfrm>
          <a:prstGeom prst="rect">
            <a:avLst/>
          </a:prstGeom>
          <a:noFill/>
        </p:spPr>
        <p:txBody>
          <a:bodyPr vert="horz" wrap="square" lIns="0" tIns="0" rIns="0" bIns="0" rtlCol="0">
            <a:spAutoFit/>
          </a:bodyPr>
          <a:lstStyle/>
          <a:p>
            <a:pPr algn="ctr"/>
            <a:r>
              <a:rPr lang="zh-CN" altLang="en-US" sz="1600" dirty="0">
                <a:solidFill>
                  <a:srgbClr val="222222"/>
                </a:solidFill>
                <a:latin typeface="Microsoft YaHei" panose="020B0503020204020204" pitchFamily="34" charset="-122"/>
              </a:rPr>
              <a:t>在动态通信条件下重新评估 </a:t>
            </a:r>
            <a:r>
              <a:rPr lang="en-US" altLang="zh-CN" sz="1600" dirty="0" err="1">
                <a:solidFill>
                  <a:srgbClr val="222222"/>
                </a:solidFill>
                <a:latin typeface="Times New Roman" panose="02020603050405020304" pitchFamily="18" charset="0"/>
                <a:cs typeface="Times New Roman" panose="02020603050405020304" pitchFamily="18" charset="0"/>
              </a:rPr>
              <a:t>EviComRL</a:t>
            </a:r>
            <a:r>
              <a:rPr lang="zh-CN" altLang="en-US" sz="1600" dirty="0">
                <a:solidFill>
                  <a:srgbClr val="222222"/>
                </a:solidFill>
                <a:latin typeface="Microsoft YaHei" panose="020B0503020204020204" pitchFamily="34" charset="-122"/>
              </a:rPr>
              <a:t>，观察语义消息选择策略的稳定性</a:t>
            </a:r>
          </a:p>
        </p:txBody>
      </p:sp>
      <p:sp>
        <p:nvSpPr>
          <p:cNvPr id="14" name="矩形 13">
            <a:extLst>
              <a:ext uri="{FF2B5EF4-FFF2-40B4-BE49-F238E27FC236}">
                <a16:creationId xmlns:a16="http://schemas.microsoft.com/office/drawing/2014/main" id="{808143BD-576B-455C-5515-7A5DDCF132F0}"/>
              </a:ext>
            </a:extLst>
          </p:cNvPr>
          <p:cNvSpPr/>
          <p:nvPr/>
        </p:nvSpPr>
        <p:spPr>
          <a:xfrm>
            <a:off x="4788382" y="4875916"/>
            <a:ext cx="6997700" cy="1318421"/>
          </a:xfrm>
          <a:prstGeom prst="rect">
            <a:avLst/>
          </a:prstGeom>
          <a:solidFill>
            <a:srgbClr val="F3F5F7"/>
          </a:solidFill>
          <a:ln w="1143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247000B6-24E8-8074-8E9D-C98BCB97AA65}"/>
              </a:ext>
            </a:extLst>
          </p:cNvPr>
          <p:cNvSpPr txBox="1"/>
          <p:nvPr/>
        </p:nvSpPr>
        <p:spPr>
          <a:xfrm>
            <a:off x="4691017" y="5082963"/>
            <a:ext cx="1587500" cy="276999"/>
          </a:xfrm>
          <a:prstGeom prst="rect">
            <a:avLst/>
          </a:prstGeom>
          <a:noFill/>
        </p:spPr>
        <p:txBody>
          <a:bodyPr vert="horz" wrap="square" lIns="0" tIns="0" rIns="0" bIns="0" rtlCol="0">
            <a:spAutoFit/>
          </a:bodyPr>
          <a:lstStyle/>
          <a:p>
            <a:pPr algn="ctr"/>
            <a:r>
              <a:rPr lang="zh-CN" altLang="en-US" b="1" dirty="0">
                <a:solidFill>
                  <a:srgbClr val="1E4976"/>
                </a:solidFill>
                <a:latin typeface="Microsoft YaHei" panose="020B0503020204020204" pitchFamily="34" charset="-122"/>
              </a:rPr>
              <a:t>质量分析</a:t>
            </a:r>
          </a:p>
        </p:txBody>
      </p:sp>
      <p:sp>
        <p:nvSpPr>
          <p:cNvPr id="16" name="文本框 15">
            <a:extLst>
              <a:ext uri="{FF2B5EF4-FFF2-40B4-BE49-F238E27FC236}">
                <a16:creationId xmlns:a16="http://schemas.microsoft.com/office/drawing/2014/main" id="{C338ED03-1F2A-0870-F8E2-82068EF43FFA}"/>
              </a:ext>
            </a:extLst>
          </p:cNvPr>
          <p:cNvSpPr txBox="1"/>
          <p:nvPr/>
        </p:nvSpPr>
        <p:spPr>
          <a:xfrm>
            <a:off x="4940782" y="5538418"/>
            <a:ext cx="6515099" cy="492443"/>
          </a:xfrm>
          <a:prstGeom prst="rect">
            <a:avLst/>
          </a:prstGeom>
          <a:noFill/>
        </p:spPr>
        <p:txBody>
          <a:bodyPr vert="horz" wrap="square" lIns="0" tIns="0" rIns="0" bIns="0" rtlCol="0">
            <a:spAutoFit/>
          </a:bodyPr>
          <a:lstStyle/>
          <a:p>
            <a:r>
              <a:rPr lang="zh-CN" altLang="en-US" sz="1600" dirty="0">
                <a:solidFill>
                  <a:srgbClr val="222222"/>
                </a:solidFill>
                <a:latin typeface="Microsoft YaHei" panose="020B0503020204020204" pitchFamily="34" charset="-122"/>
              </a:rPr>
              <a:t>围绕数据持续送达、语义证据利用和最终服务质量，分析不同资源约束下的性能变化</a:t>
            </a:r>
          </a:p>
        </p:txBody>
      </p:sp>
      <p:cxnSp>
        <p:nvCxnSpPr>
          <p:cNvPr id="18" name="直接连接符 17">
            <a:extLst>
              <a:ext uri="{FF2B5EF4-FFF2-40B4-BE49-F238E27FC236}">
                <a16:creationId xmlns:a16="http://schemas.microsoft.com/office/drawing/2014/main" id="{FC284F1C-4C62-349D-B8CB-7D1F1FADBED2}"/>
              </a:ext>
            </a:extLst>
          </p:cNvPr>
          <p:cNvCxnSpPr>
            <a:cxnSpLocks/>
          </p:cNvCxnSpPr>
          <p:nvPr/>
        </p:nvCxnSpPr>
        <p:spPr>
          <a:xfrm>
            <a:off x="8212669" y="2487939"/>
            <a:ext cx="0" cy="294477"/>
          </a:xfrm>
          <a:prstGeom prst="line">
            <a:avLst/>
          </a:prstGeom>
          <a:ln w="1905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20" name="矩形 19">
            <a:extLst>
              <a:ext uri="{FF2B5EF4-FFF2-40B4-BE49-F238E27FC236}">
                <a16:creationId xmlns:a16="http://schemas.microsoft.com/office/drawing/2014/main" id="{6B2B12B5-7F9E-65E4-D76A-B475EDE758A3}"/>
              </a:ext>
            </a:extLst>
          </p:cNvPr>
          <p:cNvSpPr/>
          <p:nvPr/>
        </p:nvSpPr>
        <p:spPr>
          <a:xfrm>
            <a:off x="635000" y="5030390"/>
            <a:ext cx="3429000" cy="1318420"/>
          </a:xfrm>
          <a:prstGeom prst="rect">
            <a:avLst/>
          </a:prstGeom>
          <a:solidFill>
            <a:srgbClr val="F8FAFC"/>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63C18CB6-5037-C31C-B36C-362E5B58E0DA}"/>
              </a:ext>
            </a:extLst>
          </p:cNvPr>
          <p:cNvSpPr txBox="1"/>
          <p:nvPr/>
        </p:nvSpPr>
        <p:spPr>
          <a:xfrm>
            <a:off x="863600" y="5235991"/>
            <a:ext cx="627017" cy="553998"/>
          </a:xfrm>
          <a:prstGeom prst="rect">
            <a:avLst/>
          </a:prstGeom>
          <a:noFill/>
        </p:spPr>
        <p:txBody>
          <a:bodyPr vert="horz" wrap="square" lIns="0" tIns="0" rIns="0" bIns="0" rtlCol="0">
            <a:spAutoFit/>
          </a:bodyPr>
          <a:lstStyle/>
          <a:p>
            <a:r>
              <a:rPr lang="zh-CN" altLang="en-US" b="1" dirty="0">
                <a:solidFill>
                  <a:srgbClr val="1E4976"/>
                </a:solidFill>
                <a:latin typeface="Microsoft YaHei" panose="020B0503020204020204" pitchFamily="34" charset="-122"/>
              </a:rPr>
              <a:t>后续目标</a:t>
            </a:r>
          </a:p>
        </p:txBody>
      </p:sp>
      <p:sp>
        <p:nvSpPr>
          <p:cNvPr id="22" name="文本框 21">
            <a:extLst>
              <a:ext uri="{FF2B5EF4-FFF2-40B4-BE49-F238E27FC236}">
                <a16:creationId xmlns:a16="http://schemas.microsoft.com/office/drawing/2014/main" id="{9DFCD555-66EB-C5B1-639E-FA666CF70783}"/>
              </a:ext>
            </a:extLst>
          </p:cNvPr>
          <p:cNvSpPr txBox="1"/>
          <p:nvPr/>
        </p:nvSpPr>
        <p:spPr>
          <a:xfrm>
            <a:off x="1490617" y="5208641"/>
            <a:ext cx="2416629" cy="984885"/>
          </a:xfrm>
          <a:prstGeom prst="rect">
            <a:avLst/>
          </a:prstGeom>
          <a:noFill/>
        </p:spPr>
        <p:txBody>
          <a:bodyPr vert="horz" wrap="square" lIns="0" tIns="0" rIns="0" bIns="0" rtlCol="0">
            <a:spAutoFit/>
          </a:bodyPr>
          <a:lstStyle/>
          <a:p>
            <a:r>
              <a:rPr lang="zh-CN" altLang="en-US" sz="1600" dirty="0">
                <a:solidFill>
                  <a:srgbClr val="222222"/>
                </a:solidFill>
                <a:latin typeface="Microsoft YaHei" panose="020B0503020204020204" pitchFamily="34" charset="-122"/>
              </a:rPr>
              <a:t>形成从服务数据传输、语义证据选择到服务质量评估的完整实验分析，为论文后续章节提供统一支撑</a:t>
            </a:r>
          </a:p>
        </p:txBody>
      </p:sp>
      <p:cxnSp>
        <p:nvCxnSpPr>
          <p:cNvPr id="36" name="直接连接符 35">
            <a:extLst>
              <a:ext uri="{FF2B5EF4-FFF2-40B4-BE49-F238E27FC236}">
                <a16:creationId xmlns:a16="http://schemas.microsoft.com/office/drawing/2014/main" id="{9CF7EEC6-0948-8FF5-4EC8-E13C85A51403}"/>
              </a:ext>
            </a:extLst>
          </p:cNvPr>
          <p:cNvCxnSpPr>
            <a:cxnSpLocks/>
          </p:cNvCxnSpPr>
          <p:nvPr/>
        </p:nvCxnSpPr>
        <p:spPr>
          <a:xfrm>
            <a:off x="8212669" y="4384146"/>
            <a:ext cx="0" cy="294477"/>
          </a:xfrm>
          <a:prstGeom prst="line">
            <a:avLst/>
          </a:prstGeom>
          <a:ln w="19050">
            <a:solidFill>
              <a:srgbClr val="7C8792"/>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368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A0BA9-9016-6158-56D5-BFB9C31FAB6F}"/>
            </a:ext>
          </a:extLst>
        </p:cNvPr>
        <p:cNvGrpSpPr/>
        <p:nvPr/>
      </p:nvGrpSpPr>
      <p:grpSpPr>
        <a:xfrm>
          <a:off x="0" y="0"/>
          <a:ext cx="0" cy="0"/>
          <a:chOff x="0" y="0"/>
          <a:chExt cx="0" cy="0"/>
        </a:xfrm>
      </p:grpSpPr>
      <p:sp>
        <p:nvSpPr>
          <p:cNvPr id="17" name="文本框 3">
            <a:extLst>
              <a:ext uri="{FF2B5EF4-FFF2-40B4-BE49-F238E27FC236}">
                <a16:creationId xmlns:a16="http://schemas.microsoft.com/office/drawing/2014/main" id="{F70D1D3B-5E2C-C3A0-1043-A7F9FB3CB240}"/>
              </a:ext>
            </a:extLst>
          </p:cNvPr>
          <p:cNvSpPr txBox="1"/>
          <p:nvPr/>
        </p:nvSpPr>
        <p:spPr>
          <a:xfrm>
            <a:off x="297712" y="6090"/>
            <a:ext cx="9151088" cy="601440"/>
          </a:xfrm>
          <a:prstGeom prst="rect">
            <a:avLst/>
          </a:prstGeom>
          <a:noFill/>
          <a:ln>
            <a:noFill/>
          </a:ln>
        </p:spPr>
        <p:txBody>
          <a:bodyPr wrap="square"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rgbClr val="FFFFFF"/>
                </a:solidFill>
                <a:latin typeface="Microsoft YaHei" panose="020B0503020204020204" pitchFamily="34" charset="-122"/>
              </a:rPr>
              <a:t>后期计划与预期成果</a:t>
            </a:r>
          </a:p>
        </p:txBody>
      </p:sp>
      <p:sp>
        <p:nvSpPr>
          <p:cNvPr id="2" name="矩形 1">
            <a:extLst>
              <a:ext uri="{FF2B5EF4-FFF2-40B4-BE49-F238E27FC236}">
                <a16:creationId xmlns:a16="http://schemas.microsoft.com/office/drawing/2014/main" id="{55CC9EA9-0BB3-F3F8-7B23-6C23BB81241E}"/>
              </a:ext>
            </a:extLst>
          </p:cNvPr>
          <p:cNvSpPr/>
          <p:nvPr/>
        </p:nvSpPr>
        <p:spPr>
          <a:xfrm>
            <a:off x="643467" y="16256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A88121D-9F58-3B32-6165-43E2D0B8DA32}"/>
              </a:ext>
            </a:extLst>
          </p:cNvPr>
          <p:cNvSpPr txBox="1"/>
          <p:nvPr/>
        </p:nvSpPr>
        <p:spPr>
          <a:xfrm>
            <a:off x="757767" y="18796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2026.07--2026.08</a:t>
            </a:r>
            <a:endParaRPr lang="zh-CN" altLang="en-US" sz="1200" b="1">
              <a:solidFill>
                <a:srgbClr val="1E4976"/>
              </a:solidFill>
              <a:latin typeface="Microsoft YaHei" panose="020B0503020204020204" pitchFamily="34" charset="-122"/>
            </a:endParaRPr>
          </a:p>
        </p:txBody>
      </p:sp>
      <p:sp>
        <p:nvSpPr>
          <p:cNvPr id="4" name="文本框 3">
            <a:extLst>
              <a:ext uri="{FF2B5EF4-FFF2-40B4-BE49-F238E27FC236}">
                <a16:creationId xmlns:a16="http://schemas.microsoft.com/office/drawing/2014/main" id="{41E69DE7-D996-31F8-208A-8AF780F23494}"/>
              </a:ext>
            </a:extLst>
          </p:cNvPr>
          <p:cNvSpPr txBox="1"/>
          <p:nvPr/>
        </p:nvSpPr>
        <p:spPr>
          <a:xfrm>
            <a:off x="783167" y="23876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统一评估框架与链路、能量状态映射设计</a:t>
            </a:r>
          </a:p>
        </p:txBody>
      </p:sp>
      <p:cxnSp>
        <p:nvCxnSpPr>
          <p:cNvPr id="5" name="直接连接符 4">
            <a:extLst>
              <a:ext uri="{FF2B5EF4-FFF2-40B4-BE49-F238E27FC236}">
                <a16:creationId xmlns:a16="http://schemas.microsoft.com/office/drawing/2014/main" id="{00B00DCB-31CF-B00C-D8A3-62A3F6281A72}"/>
              </a:ext>
            </a:extLst>
          </p:cNvPr>
          <p:cNvCxnSpPr/>
          <p:nvPr/>
        </p:nvCxnSpPr>
        <p:spPr>
          <a:xfrm>
            <a:off x="2523067" y="2463800"/>
            <a:ext cx="279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6" name="矩形 5">
            <a:extLst>
              <a:ext uri="{FF2B5EF4-FFF2-40B4-BE49-F238E27FC236}">
                <a16:creationId xmlns:a16="http://schemas.microsoft.com/office/drawing/2014/main" id="{405009B5-9DFE-5524-AE38-ED123CF770F7}"/>
              </a:ext>
            </a:extLst>
          </p:cNvPr>
          <p:cNvSpPr/>
          <p:nvPr/>
        </p:nvSpPr>
        <p:spPr>
          <a:xfrm>
            <a:off x="2840567" y="16256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F235EB23-8073-2B0D-1B1B-FEC89D3E279A}"/>
              </a:ext>
            </a:extLst>
          </p:cNvPr>
          <p:cNvSpPr txBox="1"/>
          <p:nvPr/>
        </p:nvSpPr>
        <p:spPr>
          <a:xfrm>
            <a:off x="2954867" y="18796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2026.09--2026.10</a:t>
            </a:r>
            <a:endParaRPr lang="zh-CN" altLang="en-US" sz="1200" b="1">
              <a:solidFill>
                <a:srgbClr val="1E4976"/>
              </a:solidFill>
              <a:latin typeface="Microsoft YaHei" panose="020B0503020204020204" pitchFamily="34" charset="-122"/>
            </a:endParaRPr>
          </a:p>
        </p:txBody>
      </p:sp>
      <p:sp>
        <p:nvSpPr>
          <p:cNvPr id="8" name="文本框 7">
            <a:extLst>
              <a:ext uri="{FF2B5EF4-FFF2-40B4-BE49-F238E27FC236}">
                <a16:creationId xmlns:a16="http://schemas.microsoft.com/office/drawing/2014/main" id="{E7E8CEFC-4A24-CB7D-E341-E35728C5522A}"/>
              </a:ext>
            </a:extLst>
          </p:cNvPr>
          <p:cNvSpPr txBox="1"/>
          <p:nvPr/>
        </p:nvSpPr>
        <p:spPr>
          <a:xfrm>
            <a:off x="2980267" y="23876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动态链路质量与能量约束下的主实验</a:t>
            </a:r>
          </a:p>
        </p:txBody>
      </p:sp>
      <p:cxnSp>
        <p:nvCxnSpPr>
          <p:cNvPr id="9" name="直接连接符 8">
            <a:extLst>
              <a:ext uri="{FF2B5EF4-FFF2-40B4-BE49-F238E27FC236}">
                <a16:creationId xmlns:a16="http://schemas.microsoft.com/office/drawing/2014/main" id="{94F9521A-96EE-283A-46D8-DE8154C0F323}"/>
              </a:ext>
            </a:extLst>
          </p:cNvPr>
          <p:cNvCxnSpPr/>
          <p:nvPr/>
        </p:nvCxnSpPr>
        <p:spPr>
          <a:xfrm>
            <a:off x="4720167" y="2463800"/>
            <a:ext cx="279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0" name="矩形 9">
            <a:extLst>
              <a:ext uri="{FF2B5EF4-FFF2-40B4-BE49-F238E27FC236}">
                <a16:creationId xmlns:a16="http://schemas.microsoft.com/office/drawing/2014/main" id="{5512612B-DA4C-1FF6-169C-7A9B89DCB2CE}"/>
              </a:ext>
            </a:extLst>
          </p:cNvPr>
          <p:cNvSpPr/>
          <p:nvPr/>
        </p:nvSpPr>
        <p:spPr>
          <a:xfrm>
            <a:off x="5037667" y="16256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96C7470-DAA8-DDFA-3347-23BB8E7C3064}"/>
              </a:ext>
            </a:extLst>
          </p:cNvPr>
          <p:cNvSpPr txBox="1"/>
          <p:nvPr/>
        </p:nvSpPr>
        <p:spPr>
          <a:xfrm>
            <a:off x="5151967" y="18796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2026.10--2026.11</a:t>
            </a:r>
            <a:endParaRPr lang="zh-CN" altLang="en-US" sz="1200" b="1">
              <a:solidFill>
                <a:srgbClr val="1E4976"/>
              </a:solidFill>
              <a:latin typeface="Microsoft YaHei" panose="020B0503020204020204" pitchFamily="34" charset="-122"/>
            </a:endParaRPr>
          </a:p>
        </p:txBody>
      </p:sp>
      <p:sp>
        <p:nvSpPr>
          <p:cNvPr id="12" name="文本框 11">
            <a:extLst>
              <a:ext uri="{FF2B5EF4-FFF2-40B4-BE49-F238E27FC236}">
                <a16:creationId xmlns:a16="http://schemas.microsoft.com/office/drawing/2014/main" id="{59BBD35C-3B39-3508-9CDF-A57585DB4A98}"/>
              </a:ext>
            </a:extLst>
          </p:cNvPr>
          <p:cNvSpPr txBox="1"/>
          <p:nvPr/>
        </p:nvSpPr>
        <p:spPr>
          <a:xfrm>
            <a:off x="5177367" y="23876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结果分析、指标整理和章节撰写</a:t>
            </a:r>
          </a:p>
        </p:txBody>
      </p:sp>
      <p:cxnSp>
        <p:nvCxnSpPr>
          <p:cNvPr id="13" name="直接连接符 12">
            <a:extLst>
              <a:ext uri="{FF2B5EF4-FFF2-40B4-BE49-F238E27FC236}">
                <a16:creationId xmlns:a16="http://schemas.microsoft.com/office/drawing/2014/main" id="{3AA3141B-7EB8-E48B-39E1-C105C716BA54}"/>
              </a:ext>
            </a:extLst>
          </p:cNvPr>
          <p:cNvCxnSpPr/>
          <p:nvPr/>
        </p:nvCxnSpPr>
        <p:spPr>
          <a:xfrm>
            <a:off x="6917267" y="2463800"/>
            <a:ext cx="279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4" name="矩形 13">
            <a:extLst>
              <a:ext uri="{FF2B5EF4-FFF2-40B4-BE49-F238E27FC236}">
                <a16:creationId xmlns:a16="http://schemas.microsoft.com/office/drawing/2014/main" id="{8EA1FB3E-49BE-036A-0577-CE283D488CD5}"/>
              </a:ext>
            </a:extLst>
          </p:cNvPr>
          <p:cNvSpPr/>
          <p:nvPr/>
        </p:nvSpPr>
        <p:spPr>
          <a:xfrm>
            <a:off x="7234767" y="16256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20709E80-20C8-5411-B658-02C7CEAB1EC8}"/>
              </a:ext>
            </a:extLst>
          </p:cNvPr>
          <p:cNvSpPr txBox="1"/>
          <p:nvPr/>
        </p:nvSpPr>
        <p:spPr>
          <a:xfrm>
            <a:off x="7349067" y="18796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2026.11--2026.12</a:t>
            </a:r>
            <a:endParaRPr lang="zh-CN" altLang="en-US" sz="1200" b="1">
              <a:solidFill>
                <a:srgbClr val="1E4976"/>
              </a:solidFill>
              <a:latin typeface="Microsoft YaHei" panose="020B0503020204020204" pitchFamily="34" charset="-122"/>
            </a:endParaRPr>
          </a:p>
        </p:txBody>
      </p:sp>
      <p:sp>
        <p:nvSpPr>
          <p:cNvPr id="16" name="文本框 15">
            <a:extLst>
              <a:ext uri="{FF2B5EF4-FFF2-40B4-BE49-F238E27FC236}">
                <a16:creationId xmlns:a16="http://schemas.microsoft.com/office/drawing/2014/main" id="{BCEAEEA3-3E8F-55F9-1FFD-017D34A56EA9}"/>
              </a:ext>
            </a:extLst>
          </p:cNvPr>
          <p:cNvSpPr txBox="1"/>
          <p:nvPr/>
        </p:nvSpPr>
        <p:spPr>
          <a:xfrm>
            <a:off x="7374467" y="23876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学位论文初稿和相关成果整理</a:t>
            </a:r>
          </a:p>
        </p:txBody>
      </p:sp>
      <p:cxnSp>
        <p:nvCxnSpPr>
          <p:cNvPr id="18" name="直接连接符 17">
            <a:extLst>
              <a:ext uri="{FF2B5EF4-FFF2-40B4-BE49-F238E27FC236}">
                <a16:creationId xmlns:a16="http://schemas.microsoft.com/office/drawing/2014/main" id="{66B8ED5F-E562-E031-8718-1C825E2FE866}"/>
              </a:ext>
            </a:extLst>
          </p:cNvPr>
          <p:cNvCxnSpPr/>
          <p:nvPr/>
        </p:nvCxnSpPr>
        <p:spPr>
          <a:xfrm>
            <a:off x="9114367" y="2463800"/>
            <a:ext cx="279400" cy="0"/>
          </a:xfrm>
          <a:prstGeom prst="line">
            <a:avLst/>
          </a:prstGeom>
          <a:ln w="17780">
            <a:solidFill>
              <a:srgbClr val="7C8792"/>
            </a:solidFill>
            <a:tailEnd type="arrow"/>
          </a:ln>
        </p:spPr>
        <p:style>
          <a:lnRef idx="2">
            <a:schemeClr val="accent1"/>
          </a:lnRef>
          <a:fillRef idx="0">
            <a:schemeClr val="accent1"/>
          </a:fillRef>
          <a:effectRef idx="1">
            <a:schemeClr val="accent1"/>
          </a:effectRef>
          <a:fontRef idx="minor">
            <a:schemeClr val="tx1"/>
          </a:fontRef>
        </p:style>
      </p:cxnSp>
      <p:sp>
        <p:nvSpPr>
          <p:cNvPr id="19" name="矩形 18">
            <a:extLst>
              <a:ext uri="{FF2B5EF4-FFF2-40B4-BE49-F238E27FC236}">
                <a16:creationId xmlns:a16="http://schemas.microsoft.com/office/drawing/2014/main" id="{7F8E3EED-BA55-AD11-969F-7DFB65806158}"/>
              </a:ext>
            </a:extLst>
          </p:cNvPr>
          <p:cNvSpPr/>
          <p:nvPr/>
        </p:nvSpPr>
        <p:spPr>
          <a:xfrm>
            <a:off x="9431867" y="1625600"/>
            <a:ext cx="1841500" cy="1676400"/>
          </a:xfrm>
          <a:prstGeom prst="rect">
            <a:avLst/>
          </a:prstGeom>
          <a:solidFill>
            <a:srgbClr val="F3F5F7"/>
          </a:solidFill>
          <a:ln w="10160">
            <a:solidFill>
              <a:srgbClr val="D5DC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FD67D22-6FA1-EACC-47E9-0F11060B53BD}"/>
              </a:ext>
            </a:extLst>
          </p:cNvPr>
          <p:cNvSpPr txBox="1"/>
          <p:nvPr/>
        </p:nvSpPr>
        <p:spPr>
          <a:xfrm>
            <a:off x="9546167" y="1879600"/>
            <a:ext cx="1600200" cy="184666"/>
          </a:xfrm>
          <a:prstGeom prst="rect">
            <a:avLst/>
          </a:prstGeom>
          <a:noFill/>
        </p:spPr>
        <p:txBody>
          <a:bodyPr vert="horz" wrap="square" lIns="0" tIns="0" rIns="0" bIns="0" rtlCol="0">
            <a:spAutoFit/>
          </a:bodyPr>
          <a:lstStyle/>
          <a:p>
            <a:pPr algn="ctr"/>
            <a:r>
              <a:rPr lang="en-US" altLang="zh-CN" sz="1200" b="1">
                <a:solidFill>
                  <a:srgbClr val="1E4976"/>
                </a:solidFill>
                <a:latin typeface="Microsoft YaHei" panose="020B0503020204020204" pitchFamily="34" charset="-122"/>
              </a:rPr>
              <a:t>2026.12--2027.01</a:t>
            </a:r>
            <a:endParaRPr lang="zh-CN" altLang="en-US" sz="1200" b="1">
              <a:solidFill>
                <a:srgbClr val="1E4976"/>
              </a:solidFill>
              <a:latin typeface="Microsoft YaHei" panose="020B0503020204020204" pitchFamily="34" charset="-122"/>
            </a:endParaRPr>
          </a:p>
        </p:txBody>
      </p:sp>
      <p:sp>
        <p:nvSpPr>
          <p:cNvPr id="21" name="文本框 20">
            <a:extLst>
              <a:ext uri="{FF2B5EF4-FFF2-40B4-BE49-F238E27FC236}">
                <a16:creationId xmlns:a16="http://schemas.microsoft.com/office/drawing/2014/main" id="{52448F64-1001-D3D7-0BF1-2BE58E675A37}"/>
              </a:ext>
            </a:extLst>
          </p:cNvPr>
          <p:cNvSpPr txBox="1"/>
          <p:nvPr/>
        </p:nvSpPr>
        <p:spPr>
          <a:xfrm>
            <a:off x="9571567" y="2387600"/>
            <a:ext cx="1549400" cy="369332"/>
          </a:xfrm>
          <a:prstGeom prst="rect">
            <a:avLst/>
          </a:prstGeom>
          <a:noFill/>
        </p:spPr>
        <p:txBody>
          <a:bodyPr vert="horz" wrap="square" lIns="0" tIns="0" rIns="0" bIns="0" rtlCol="0">
            <a:spAutoFit/>
          </a:bodyPr>
          <a:lstStyle/>
          <a:p>
            <a:pPr algn="ctr"/>
            <a:r>
              <a:rPr lang="zh-CN" altLang="en-US" sz="1200">
                <a:solidFill>
                  <a:srgbClr val="222222"/>
                </a:solidFill>
                <a:latin typeface="Microsoft YaHei" panose="020B0503020204020204" pitchFamily="34" charset="-122"/>
              </a:rPr>
              <a:t>论文修改、查重与送审准备</a:t>
            </a:r>
          </a:p>
        </p:txBody>
      </p:sp>
      <p:sp>
        <p:nvSpPr>
          <p:cNvPr id="22" name="矩形 21">
            <a:extLst>
              <a:ext uri="{FF2B5EF4-FFF2-40B4-BE49-F238E27FC236}">
                <a16:creationId xmlns:a16="http://schemas.microsoft.com/office/drawing/2014/main" id="{52A62779-1557-1C05-D297-2F2C2078A2D7}"/>
              </a:ext>
            </a:extLst>
          </p:cNvPr>
          <p:cNvSpPr/>
          <p:nvPr/>
        </p:nvSpPr>
        <p:spPr>
          <a:xfrm>
            <a:off x="973667" y="3962400"/>
            <a:ext cx="3175000" cy="1524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65F0AC7-CFEE-82B6-4947-F87CD30170A4}"/>
              </a:ext>
            </a:extLst>
          </p:cNvPr>
          <p:cNvSpPr/>
          <p:nvPr/>
        </p:nvSpPr>
        <p:spPr>
          <a:xfrm>
            <a:off x="973667" y="3962400"/>
            <a:ext cx="10795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D7D469EC-DDDA-2527-99CC-9BFF4FD1E29F}"/>
              </a:ext>
            </a:extLst>
          </p:cNvPr>
          <p:cNvSpPr txBox="1"/>
          <p:nvPr/>
        </p:nvSpPr>
        <p:spPr>
          <a:xfrm>
            <a:off x="1202267" y="4241800"/>
            <a:ext cx="2717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预期成果一</a:t>
            </a:r>
          </a:p>
        </p:txBody>
      </p:sp>
      <p:sp>
        <p:nvSpPr>
          <p:cNvPr id="25" name="文本框 24">
            <a:extLst>
              <a:ext uri="{FF2B5EF4-FFF2-40B4-BE49-F238E27FC236}">
                <a16:creationId xmlns:a16="http://schemas.microsoft.com/office/drawing/2014/main" id="{32F213BC-B88C-EFEB-1C01-C5F94B53228C}"/>
              </a:ext>
            </a:extLst>
          </p:cNvPr>
          <p:cNvSpPr txBox="1"/>
          <p:nvPr/>
        </p:nvSpPr>
        <p:spPr>
          <a:xfrm>
            <a:off x="1202267" y="4787900"/>
            <a:ext cx="2717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完成链路质量、能量状态和语义消息选择之间的统一建模。</a:t>
            </a:r>
          </a:p>
        </p:txBody>
      </p:sp>
      <p:sp>
        <p:nvSpPr>
          <p:cNvPr id="26" name="矩形 25">
            <a:extLst>
              <a:ext uri="{FF2B5EF4-FFF2-40B4-BE49-F238E27FC236}">
                <a16:creationId xmlns:a16="http://schemas.microsoft.com/office/drawing/2014/main" id="{23CBDCCC-FDF2-A83E-48DE-F56BA70B0A6F}"/>
              </a:ext>
            </a:extLst>
          </p:cNvPr>
          <p:cNvSpPr/>
          <p:nvPr/>
        </p:nvSpPr>
        <p:spPr>
          <a:xfrm>
            <a:off x="4478867" y="3962400"/>
            <a:ext cx="3175000" cy="1524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759EE4CF-8829-42BB-7521-CBF244CD15C7}"/>
              </a:ext>
            </a:extLst>
          </p:cNvPr>
          <p:cNvSpPr/>
          <p:nvPr/>
        </p:nvSpPr>
        <p:spPr>
          <a:xfrm>
            <a:off x="4478867" y="3962400"/>
            <a:ext cx="10795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7334217-1FE2-9BE3-FC76-76C977FA46BF}"/>
              </a:ext>
            </a:extLst>
          </p:cNvPr>
          <p:cNvSpPr txBox="1"/>
          <p:nvPr/>
        </p:nvSpPr>
        <p:spPr>
          <a:xfrm>
            <a:off x="4707467" y="4241800"/>
            <a:ext cx="2717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预期成果二</a:t>
            </a:r>
          </a:p>
        </p:txBody>
      </p:sp>
      <p:sp>
        <p:nvSpPr>
          <p:cNvPr id="29" name="文本框 28">
            <a:extLst>
              <a:ext uri="{FF2B5EF4-FFF2-40B4-BE49-F238E27FC236}">
                <a16:creationId xmlns:a16="http://schemas.microsoft.com/office/drawing/2014/main" id="{0E826D0A-AF27-686C-9D81-24C097A62D09}"/>
              </a:ext>
            </a:extLst>
          </p:cNvPr>
          <p:cNvSpPr txBox="1"/>
          <p:nvPr/>
        </p:nvSpPr>
        <p:spPr>
          <a:xfrm>
            <a:off x="4707467" y="4787900"/>
            <a:ext cx="2717800" cy="430887"/>
          </a:xfrm>
          <a:prstGeom prst="rect">
            <a:avLst/>
          </a:prstGeom>
          <a:noFill/>
        </p:spPr>
        <p:txBody>
          <a:bodyPr vert="horz" wrap="square" lIns="0" tIns="0" rIns="0" bIns="0" rtlCol="0">
            <a:spAutoFit/>
          </a:bodyPr>
          <a:lstStyle/>
          <a:p>
            <a:r>
              <a:rPr lang="zh-CN" altLang="en-US" sz="1400" dirty="0">
                <a:solidFill>
                  <a:srgbClr val="222222"/>
                </a:solidFill>
                <a:latin typeface="Microsoft YaHei" panose="020B0503020204020204" pitchFamily="34" charset="-122"/>
              </a:rPr>
              <a:t>得到 </a:t>
            </a:r>
            <a:r>
              <a:rPr lang="en-US" altLang="zh-CN" sz="1400" dirty="0" err="1">
                <a:solidFill>
                  <a:srgbClr val="222222"/>
                </a:solidFill>
                <a:latin typeface="Times New Roman" panose="02020603050405020304" pitchFamily="18" charset="0"/>
                <a:cs typeface="Times New Roman" panose="02020603050405020304" pitchFamily="18" charset="0"/>
              </a:rPr>
              <a:t>EviComRL</a:t>
            </a:r>
            <a:r>
              <a:rPr lang="en-US" altLang="zh-CN" sz="1400" dirty="0">
                <a:solidFill>
                  <a:srgbClr val="222222"/>
                </a:solidFill>
                <a:latin typeface="Microsoft YaHei" panose="020B0503020204020204" pitchFamily="34" charset="-122"/>
              </a:rPr>
              <a:t> </a:t>
            </a:r>
            <a:r>
              <a:rPr lang="zh-CN" altLang="en-US" sz="1400" dirty="0">
                <a:solidFill>
                  <a:srgbClr val="222222"/>
                </a:solidFill>
                <a:latin typeface="Microsoft YaHei" panose="020B0503020204020204" pitchFamily="34" charset="-122"/>
              </a:rPr>
              <a:t>在实际传输约束下的鲁棒性分析结论。</a:t>
            </a:r>
          </a:p>
        </p:txBody>
      </p:sp>
      <p:sp>
        <p:nvSpPr>
          <p:cNvPr id="30" name="矩形 29">
            <a:extLst>
              <a:ext uri="{FF2B5EF4-FFF2-40B4-BE49-F238E27FC236}">
                <a16:creationId xmlns:a16="http://schemas.microsoft.com/office/drawing/2014/main" id="{45140B23-2D71-E956-D80F-11D1A78B9BD3}"/>
              </a:ext>
            </a:extLst>
          </p:cNvPr>
          <p:cNvSpPr/>
          <p:nvPr/>
        </p:nvSpPr>
        <p:spPr>
          <a:xfrm>
            <a:off x="7984067" y="3962400"/>
            <a:ext cx="3175000" cy="15240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6BE1E387-1EE5-F18F-0771-CA97451DC276}"/>
              </a:ext>
            </a:extLst>
          </p:cNvPr>
          <p:cNvSpPr/>
          <p:nvPr/>
        </p:nvSpPr>
        <p:spPr>
          <a:xfrm>
            <a:off x="7984067" y="3962400"/>
            <a:ext cx="1079500" cy="76200"/>
          </a:xfrm>
          <a:prstGeom prst="rect">
            <a:avLst/>
          </a:prstGeom>
          <a:solidFill>
            <a:srgbClr val="1E497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AFAB84C5-6B5F-62AF-8119-A9D44B2BE6C4}"/>
              </a:ext>
            </a:extLst>
          </p:cNvPr>
          <p:cNvSpPr txBox="1"/>
          <p:nvPr/>
        </p:nvSpPr>
        <p:spPr>
          <a:xfrm>
            <a:off x="8212667" y="4241800"/>
            <a:ext cx="2717800" cy="276999"/>
          </a:xfrm>
          <a:prstGeom prst="rect">
            <a:avLst/>
          </a:prstGeom>
          <a:noFill/>
        </p:spPr>
        <p:txBody>
          <a:bodyPr vert="horz" wrap="square" lIns="0" tIns="0" rIns="0" bIns="0" rtlCol="0">
            <a:spAutoFit/>
          </a:bodyPr>
          <a:lstStyle/>
          <a:p>
            <a:r>
              <a:rPr lang="zh-CN" altLang="en-US" b="1">
                <a:solidFill>
                  <a:srgbClr val="1E4976"/>
                </a:solidFill>
                <a:latin typeface="Microsoft YaHei" panose="020B0503020204020204" pitchFamily="34" charset="-122"/>
              </a:rPr>
              <a:t>预期成果三</a:t>
            </a:r>
          </a:p>
        </p:txBody>
      </p:sp>
      <p:sp>
        <p:nvSpPr>
          <p:cNvPr id="33" name="文本框 32">
            <a:extLst>
              <a:ext uri="{FF2B5EF4-FFF2-40B4-BE49-F238E27FC236}">
                <a16:creationId xmlns:a16="http://schemas.microsoft.com/office/drawing/2014/main" id="{717AA4C1-F2BD-F014-46B6-25126A13005F}"/>
              </a:ext>
            </a:extLst>
          </p:cNvPr>
          <p:cNvSpPr txBox="1"/>
          <p:nvPr/>
        </p:nvSpPr>
        <p:spPr>
          <a:xfrm>
            <a:off x="8212667" y="4787900"/>
            <a:ext cx="2717800" cy="430887"/>
          </a:xfrm>
          <a:prstGeom prst="rect">
            <a:avLst/>
          </a:prstGeom>
          <a:noFill/>
        </p:spPr>
        <p:txBody>
          <a:bodyPr vert="horz" wrap="square" lIns="0" tIns="0" rIns="0" bIns="0" rtlCol="0">
            <a:spAutoFit/>
          </a:bodyPr>
          <a:lstStyle/>
          <a:p>
            <a:r>
              <a:rPr lang="zh-CN" altLang="en-US" sz="1400">
                <a:solidFill>
                  <a:srgbClr val="222222"/>
                </a:solidFill>
                <a:latin typeface="Microsoft YaHei" panose="020B0503020204020204" pitchFamily="34" charset="-122"/>
              </a:rPr>
              <a:t>完成学位论文整体撰写，并形成具备投稿条件的后续研究工作。</a:t>
            </a:r>
          </a:p>
        </p:txBody>
      </p:sp>
    </p:spTree>
    <p:extLst>
      <p:ext uri="{BB962C8B-B14F-4D97-AF65-F5344CB8AC3E}">
        <p14:creationId xmlns:p14="http://schemas.microsoft.com/office/powerpoint/2010/main" val="25366936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304079A-BFB3-A8B3-8077-F2D8FB7E36E8}"/>
              </a:ext>
            </a:extLst>
          </p:cNvPr>
          <p:cNvSpPr txBox="1"/>
          <p:nvPr/>
        </p:nvSpPr>
        <p:spPr>
          <a:xfrm>
            <a:off x="2508250" y="3107267"/>
            <a:ext cx="7175500" cy="830997"/>
          </a:xfrm>
          <a:prstGeom prst="rect">
            <a:avLst/>
          </a:prstGeom>
          <a:noFill/>
        </p:spPr>
        <p:txBody>
          <a:bodyPr vert="horz" wrap="square" lIns="0" tIns="0" rIns="0" bIns="0" rtlCol="0">
            <a:spAutoFit/>
          </a:bodyPr>
          <a:lstStyle/>
          <a:p>
            <a:pPr algn="ctr"/>
            <a:r>
              <a:rPr lang="zh-CN" altLang="en-US" sz="5400" b="1" dirty="0">
                <a:solidFill>
                  <a:srgbClr val="1E4976"/>
                </a:solidFill>
                <a:latin typeface="Microsoft YaHei" panose="020B0503020204020204" pitchFamily="34" charset="-122"/>
              </a:rPr>
              <a:t>请各位老师批评指正</a:t>
            </a:r>
          </a:p>
        </p:txBody>
      </p:sp>
    </p:spTree>
    <p:extLst>
      <p:ext uri="{BB962C8B-B14F-4D97-AF65-F5344CB8AC3E}">
        <p14:creationId xmlns:p14="http://schemas.microsoft.com/office/powerpoint/2010/main" val="2760445537"/>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洁毕业答辩PPT模板"/>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s3og5wl">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1201</Words>
  <Application>Microsoft Office PowerPoint</Application>
  <PresentationFormat>宽屏</PresentationFormat>
  <Paragraphs>146</Paragraphs>
  <Slides>12</Slides>
  <Notes>11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等线</vt:lpstr>
      <vt:lpstr>Microsoft YaHei</vt:lpstr>
      <vt:lpstr>Arial</vt:lpstr>
      <vt:lpstr>Calibri</vt:lpstr>
      <vt:lpstr>Times New Roman</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蓝色毕业答辩</dc:title>
  <dc:creator>第一PPT</dc:creator>
  <cp:keywords>www.1ppt.com</cp:keywords>
  <dc:description>www.1ppt.com</dc:description>
  <cp:lastModifiedBy>一凡 李</cp:lastModifiedBy>
  <cp:revision>24</cp:revision>
  <dcterms:created xsi:type="dcterms:W3CDTF">2018-02-27T12:12:58Z</dcterms:created>
  <dcterms:modified xsi:type="dcterms:W3CDTF">2026-06-23T19:18:40Z</dcterms:modified>
</cp:coreProperties>
</file>