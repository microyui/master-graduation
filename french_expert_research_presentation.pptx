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440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85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E3F0"/>
    <a:srgbClr val="0071BD"/>
    <a:srgbClr val="1C4885"/>
    <a:srgbClr val="20B3A1"/>
    <a:srgbClr val="D64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中度样式 3 - 强调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38"/>
    <p:restoredTop sz="94685"/>
  </p:normalViewPr>
  <p:slideViewPr>
    <p:cSldViewPr snapToGrid="0">
      <p:cViewPr varScale="1">
        <p:scale>
          <a:sx n="153" d="100"/>
          <a:sy n="153" d="100"/>
        </p:scale>
        <p:origin x="1064" y="96"/>
      </p:cViewPr>
      <p:guideLst>
        <p:guide orient="horz" pos="1185"/>
        <p:guide pos="3863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8B725A-BFDD-44D0-A8D3-61766B07B7F1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CC932-0C1F-4C94-8B9A-3944ABBB4E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7105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A7933-9FAE-227C-BB03-C0930E0B1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4088233-F69A-3620-8C51-99A2A29553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4D2D688-B04E-01A6-3B4E-A545FE36B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786AC9-5910-8D1F-44CD-E141BCFDD3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2821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743200" cy="365125"/>
          </a:xfrm>
        </p:spPr>
        <p:txBody>
          <a:bodyPr/>
          <a:lstStyle/>
          <a:p>
            <a:fld id="{C41B1F88-EAB1-E443-BF0A-2F418D313027}" type="datetime1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492874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5440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36EA45E4-1365-8B70-2EC7-17DA64EEBC73}"/>
              </a:ext>
            </a:extLst>
          </p:cNvPr>
          <p:cNvSpPr/>
          <p:nvPr userDrawn="1"/>
        </p:nvSpPr>
        <p:spPr>
          <a:xfrm>
            <a:off x="0" y="0"/>
            <a:ext cx="12192000" cy="622810"/>
          </a:xfrm>
          <a:prstGeom prst="rect">
            <a:avLst/>
          </a:prstGeom>
          <a:solidFill>
            <a:srgbClr val="0071BD"/>
          </a:solidFill>
          <a:ln w="762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15299"/>
            <a:ext cx="9445727" cy="604800"/>
          </a:xfrm>
          <a:solidFill>
            <a:srgbClr val="0071BD"/>
          </a:solidFill>
          <a:ln>
            <a:noFill/>
          </a:ln>
        </p:spPr>
        <p:txBody>
          <a:bodyPr wrap="square" rtlCol="0" anchor="ctr" anchorCtr="0">
            <a:noAutofit/>
          </a:bodyPr>
          <a:lstStyle>
            <a:lvl1pPr>
              <a:defRPr lang="zh-CN" altLang="en-US" sz="2400" b="1" dirty="0">
                <a:solidFill>
                  <a:schemeClr val="bg1"/>
                </a:solidFill>
                <a:latin typeface="+mj-ea"/>
                <a:cs typeface="+mn-ea"/>
              </a:defRPr>
            </a:lvl1pPr>
          </a:lstStyle>
          <a:p>
            <a:pPr marL="0" lvl="0"/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804544"/>
            <a:ext cx="11541760" cy="5545456"/>
          </a:xfrm>
        </p:spPr>
        <p:txBody>
          <a:bodyPr/>
          <a:lstStyle>
            <a:lvl1pPr>
              <a:lnSpc>
                <a:spcPct val="120000"/>
              </a:lnSpc>
              <a:defRPr sz="2000" b="1">
                <a:solidFill>
                  <a:schemeClr val="accent5"/>
                </a:solidFill>
              </a:defRPr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800"/>
            </a:lvl3pPr>
            <a:lvl4pPr>
              <a:lnSpc>
                <a:spcPct val="120000"/>
              </a:lnSpc>
              <a:defRPr sz="1800"/>
            </a:lvl4pPr>
            <a:lvl5pPr>
              <a:lnSpc>
                <a:spcPct val="120000"/>
              </a:lnSpc>
              <a:defRPr sz="18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12" name="图片 11" descr="图层 5">
            <a:extLst>
              <a:ext uri="{FF2B5EF4-FFF2-40B4-BE49-F238E27FC236}">
                <a16:creationId xmlns:a16="http://schemas.microsoft.com/office/drawing/2014/main" id="{160A6D67-4EB2-14A5-3AA0-976718FF2C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20400" y="0"/>
            <a:ext cx="1302304" cy="5590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5" descr="ices logo">
            <a:extLst>
              <a:ext uri="{FF2B5EF4-FFF2-40B4-BE49-F238E27FC236}">
                <a16:creationId xmlns:a16="http://schemas.microsoft.com/office/drawing/2014/main" id="{7FCB4CF6-D269-87B7-3010-F322D62BEC2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9085" y="6053456"/>
            <a:ext cx="1544934" cy="791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1981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16130-67BC-AD45-939C-7E14CA10CD52}" type="datetime1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6556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D7F0B-A96C-9F49-B58D-FD3FD239C21F}" type="datetime1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992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8325228" y="4544096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4BC61-538F-E446-9358-E5E15226B7A7}" type="datetime1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6548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43DB7-D1D0-6740-AD98-0F0196548009}" type="datetime1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778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704C9-C000-0D40-B0BC-7EE1C6658164}" type="datetime1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0765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75A5E-3423-EA44-B594-686F175511FD}" type="datetime1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421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B0D24-81ED-9C46-B4A9-8507769EE818}" type="datetime1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9586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C3F1E-85EA-5643-90BE-CA5465B44791}" type="datetime1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6612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3BAFF-AA5E-484C-91D9-CF89CE9925CB}" type="datetime1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0705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948164-943F-C14A-AB7E-1061A1A3851C}" type="datetime1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448800" y="64932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2" descr="查看图片">
            <a:extLst>
              <a:ext uri="{FF2B5EF4-FFF2-40B4-BE49-F238E27FC236}">
                <a16:creationId xmlns:a16="http://schemas.microsoft.com/office/drawing/2014/main" id="{9EA5D862-68D7-ECA1-1545-C12350C65F8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alphaModFix amt="2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28" r="3501" b="15736"/>
          <a:stretch>
            <a:fillRect/>
          </a:stretch>
        </p:blipFill>
        <p:spPr bwMode="auto">
          <a:xfrm>
            <a:off x="0" y="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6820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951AA-7034-4025-692F-BC8A054CF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164592"/>
            <a:ext cx="978408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FFFFFF"/>
                </a:solidFill>
                <a:latin typeface="Arial"/>
              </a:rPr>
              <a:t>QoS-aware Communication for Multi-agent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64592" y="896112"/>
            <a:ext cx="4434840" cy="319790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822960"/>
            <a:ext cx="1600200" cy="73152"/>
          </a:xfrm>
          <a:prstGeom prst="rect">
            <a:avLst/>
          </a:prstGeom>
          <a:solidFill>
            <a:srgbClr val="1F4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60704"/>
            <a:ext cx="4032503" cy="63241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dirty="0">
                <a:solidFill>
                  <a:srgbClr val="1F467C"/>
                </a:solidFill>
                <a:latin typeface="Arial"/>
              </a:rPr>
              <a:t>Dynamic Links and Fragile Service Quality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752557"/>
            <a:ext cx="658368" cy="27432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12" y="1828800"/>
            <a:ext cx="3886200" cy="18013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dirty="0">
                <a:solidFill>
                  <a:srgbClr val="000000"/>
                </a:solidFill>
                <a:latin typeface="Arial"/>
              </a:rPr>
              <a:t>UAVs, mobile robots, edge cameras and vehicular nodes increasingly provide field services through temporary multi-hop links.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dirty="0">
                <a:solidFill>
                  <a:srgbClr val="000000"/>
                </a:solidFill>
                <a:latin typeface="Arial"/>
              </a:rPr>
              <a:t>Sensor data, local observations and dispersed evidence all have to move through unstable links before decisions can be made.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dirty="0">
                <a:solidFill>
                  <a:srgbClr val="000000"/>
                </a:solidFill>
                <a:latin typeface="Arial"/>
              </a:rPr>
              <a:t>Here, link availability, latency, bandwidth and node energy all matter.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800600" y="896112"/>
            <a:ext cx="7223760" cy="2578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800600" y="822960"/>
            <a:ext cx="1600200" cy="73152"/>
          </a:xfrm>
          <a:prstGeom prst="rect">
            <a:avLst/>
          </a:prstGeom>
          <a:solidFill>
            <a:srgbClr val="1F4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01768" y="1060704"/>
            <a:ext cx="6821424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1F467C"/>
                </a:solidFill>
                <a:latin typeface="Arial"/>
              </a:rPr>
              <a:t>From Sustainable Transmission to Useful Semantic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10912" y="1564870"/>
            <a:ext cx="658368" cy="27432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74920" y="1828800"/>
            <a:ext cx="6675120" cy="1527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40" dirty="0">
                <a:solidFill>
                  <a:srgbClr val="000000"/>
                </a:solidFill>
                <a:latin typeface="Arial"/>
              </a:rPr>
              <a:t>The research follows this service process at two connected levels. LEADR keeps data forwarding sustainable through energy-aware routing and power control.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40" dirty="0" err="1">
                <a:solidFill>
                  <a:srgbClr val="000000"/>
                </a:solidFill>
                <a:latin typeface="Arial"/>
              </a:rPr>
              <a:t>EviComRL</a:t>
            </a:r>
            <a:r>
              <a:rPr sz="1340" dirty="0">
                <a:solidFill>
                  <a:srgbClr val="000000"/>
                </a:solidFill>
                <a:latin typeface="Arial"/>
              </a:rPr>
              <a:t> then asks which semantic evidence should be exchanged for visual reasoning when communication opportunities are limited and unreliable.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40" dirty="0">
                <a:solidFill>
                  <a:srgbClr val="000000"/>
                </a:solidFill>
                <a:latin typeface="Arial"/>
              </a:rPr>
              <a:t>The robustness analysis connects both layers by testing semantic decisions under physical link and energy dynamics.</a:t>
            </a:r>
          </a:p>
        </p:txBody>
      </p:sp>
      <p:pic>
        <p:nvPicPr>
          <p:cNvPr id="13" name="Picture 12" descr="uav_e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4498432"/>
            <a:ext cx="4426277" cy="1463455"/>
          </a:xfrm>
          <a:prstGeom prst="rect">
            <a:avLst/>
          </a:prstGeom>
        </p:spPr>
      </p:pic>
      <p:pic>
        <p:nvPicPr>
          <p:cNvPr id="14" name="Picture 13" descr="EviCom-RL-workflow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120" y="3630167"/>
            <a:ext cx="4387240" cy="2407411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800600" y="3794759"/>
            <a:ext cx="2697480" cy="238990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800600" y="3621024"/>
            <a:ext cx="886968" cy="173736"/>
          </a:xfrm>
          <a:prstGeom prst="rect">
            <a:avLst/>
          </a:prstGeom>
          <a:solidFill>
            <a:srgbClr val="1F4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3913631"/>
            <a:ext cx="210312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1F467C"/>
                </a:solidFill>
                <a:latin typeface="Arial"/>
              </a:rPr>
              <a:t>Research Question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4279392"/>
            <a:ext cx="320040" cy="27432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83480" y="4462272"/>
            <a:ext cx="2240280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60" b="0">
                <a:solidFill>
                  <a:srgbClr val="000000"/>
                </a:solidFill>
                <a:latin typeface="Arial"/>
              </a:rPr>
              <a:t>How can multi-agent services maintain communication quality when links, bandwidth and node energy are limited and changing?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537960"/>
            <a:ext cx="1554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000000"/>
                </a:solidFill>
                <a:latin typeface="Arial"/>
              </a:rPr>
              <a:t>2026/6/23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54512" y="6547104"/>
            <a:ext cx="5486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276441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蓝色简洁毕业答辩PPT模板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js3og5wl">
      <a:majorFont>
        <a:latin typeface="Arial" panose="020F0302020204030204"/>
        <a:ea typeface="微软雅黑"/>
        <a:cs typeface=""/>
      </a:majorFont>
      <a:minorFont>
        <a:latin typeface="Arial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156</Words>
  <Application>Microsoft Office PowerPoint</Application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第一PPT，www.1ppt.com</vt:lpstr>
      <vt:lpstr>PowerPoint 演示文稿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蓝色毕业答辩</dc:title>
  <dc:creator>第一PPT</dc:creator>
  <cp:keywords>www.1ppt.com</cp:keywords>
  <dc:description>www.1ppt.com</dc:description>
  <cp:lastModifiedBy>一凡 李</cp:lastModifiedBy>
  <cp:revision>11</cp:revision>
  <dcterms:created xsi:type="dcterms:W3CDTF">2018-02-27T12:12:58Z</dcterms:created>
  <dcterms:modified xsi:type="dcterms:W3CDTF">2026-06-23T15:09:35Z</dcterms:modified>
</cp:coreProperties>
</file>