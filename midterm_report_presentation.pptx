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59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FB19D5-952D-22E6-DCE6-774BCF6273A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5E3CAF7-FBE6-9972-2DEC-45F8A2DA2F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C767956-82F7-6305-900D-3EED33090426}"/>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5" name="页脚占位符 4">
            <a:extLst>
              <a:ext uri="{FF2B5EF4-FFF2-40B4-BE49-F238E27FC236}">
                <a16:creationId xmlns:a16="http://schemas.microsoft.com/office/drawing/2014/main" id="{F3EFD9E5-5E7E-A942-E1FA-4052246B60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574605-66E0-2787-B127-EFEDE86E6E47}"/>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1100802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CADD6F-0D3D-86C4-D461-B0F39231F07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BCFA46F-2B2F-9FB4-1D99-4C92A6A46B1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2A6B1CD-89FE-E67F-095D-2CCCCEA3A205}"/>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5" name="页脚占位符 4">
            <a:extLst>
              <a:ext uri="{FF2B5EF4-FFF2-40B4-BE49-F238E27FC236}">
                <a16:creationId xmlns:a16="http://schemas.microsoft.com/office/drawing/2014/main" id="{CCC49A66-B1A4-3CDD-F39B-4141F31917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CB10DE-9275-4BE3-0760-D1B579ADC5CE}"/>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3571545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8DA695-CC9E-AC98-B79B-F7192006FC4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505B36D-2231-2AF5-9000-925EC1F5E8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B59603F-D5B0-E6E6-5E9C-0A991BF1143A}"/>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5" name="页脚占位符 4">
            <a:extLst>
              <a:ext uri="{FF2B5EF4-FFF2-40B4-BE49-F238E27FC236}">
                <a16:creationId xmlns:a16="http://schemas.microsoft.com/office/drawing/2014/main" id="{E20F041D-C122-3E2A-01D0-DAA6DC9BAF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5194A4-A811-F079-C57E-1436915A00EF}"/>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4207267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A8AF1A-1AE0-C591-9A65-E00D44C36CD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3188CDE-CE36-5FFD-B3A1-6FF10714613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F217D84-87C8-07D4-5434-1CB6A9F267A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FDFBA03-5E5F-947E-2D9C-FB25F0D56122}"/>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6" name="页脚占位符 5">
            <a:extLst>
              <a:ext uri="{FF2B5EF4-FFF2-40B4-BE49-F238E27FC236}">
                <a16:creationId xmlns:a16="http://schemas.microsoft.com/office/drawing/2014/main" id="{BF901996-755C-91B3-B8DF-822DC0A6A6C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E932982-A094-A5BF-F94B-19B50C7DF863}"/>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685260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8F7BBE-7403-C342-323B-218507BE908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81E3E2B-AF4F-E655-B2C1-3399C0484D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3FE0B4B-ED1C-73F8-BC11-90AC59EE96C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A911546-48E8-27F1-DE9F-054609879E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7AE7B6E-D4CF-B9B4-6133-0A412BDB4FB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D669145-B027-959B-4F4A-BCF52E9E801F}"/>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8" name="页脚占位符 7">
            <a:extLst>
              <a:ext uri="{FF2B5EF4-FFF2-40B4-BE49-F238E27FC236}">
                <a16:creationId xmlns:a16="http://schemas.microsoft.com/office/drawing/2014/main" id="{121BAEF2-42FB-A41E-5EE6-449229FF01A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9BE3E90-4288-1C1A-F23E-8353230590F3}"/>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88253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08258B-F811-D7F7-6BF6-BD51010F8E4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8843AC0-A616-01BF-696E-DFA8BFFD0C56}"/>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4" name="页脚占位符 3">
            <a:extLst>
              <a:ext uri="{FF2B5EF4-FFF2-40B4-BE49-F238E27FC236}">
                <a16:creationId xmlns:a16="http://schemas.microsoft.com/office/drawing/2014/main" id="{A7D32674-8F25-A44B-8EFA-04E343D3C76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2A19B90-E974-E24E-6D0C-3DE8C1E4F75E}"/>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3583017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90F80A7-FD68-D7CB-C212-EA58D0F98409}"/>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3" name="页脚占位符 2">
            <a:extLst>
              <a:ext uri="{FF2B5EF4-FFF2-40B4-BE49-F238E27FC236}">
                <a16:creationId xmlns:a16="http://schemas.microsoft.com/office/drawing/2014/main" id="{E799D44D-7912-6282-A7E5-889895BB027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0D821A6-6172-7E22-89DF-E662C9385BEA}"/>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874022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305C1E-D793-4F2F-46F2-E5DC42FA508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7962CA7-41A3-9A0D-8B7B-44CB27E643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FF56B0D-1C14-96CD-6A5C-6923B15E0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C467B9-809F-A530-C80C-E1F90186E18E}"/>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6" name="页脚占位符 5">
            <a:extLst>
              <a:ext uri="{FF2B5EF4-FFF2-40B4-BE49-F238E27FC236}">
                <a16:creationId xmlns:a16="http://schemas.microsoft.com/office/drawing/2014/main" id="{14406381-9AC6-DBF4-4D88-39B277FC3C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B419BF8-54A4-E79D-B1A6-51235BB33BD7}"/>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2553143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630630-4D1D-F056-436B-089C0BDBB4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910A347-80FD-9F0F-1268-44C8074521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0B8B096-FCC2-75C4-D38E-6239658E0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0670072-039C-CB03-C485-889BDD67971D}"/>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6" name="页脚占位符 5">
            <a:extLst>
              <a:ext uri="{FF2B5EF4-FFF2-40B4-BE49-F238E27FC236}">
                <a16:creationId xmlns:a16="http://schemas.microsoft.com/office/drawing/2014/main" id="{5C0461DD-B10F-D0E0-21F2-16FC19925DE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0810D09-627E-DE3A-BB08-C6373BAF861E}"/>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5693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21AD00-D18A-E1B2-09FA-B320E1AE731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EC85BD7-C58C-5FB7-FFA0-8BA3CD27DC1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4E7D-809C-31E9-1FFF-E5DF0532603A}"/>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5" name="页脚占位符 4">
            <a:extLst>
              <a:ext uri="{FF2B5EF4-FFF2-40B4-BE49-F238E27FC236}">
                <a16:creationId xmlns:a16="http://schemas.microsoft.com/office/drawing/2014/main" id="{9E3A9145-A6A8-4123-C688-E2B30989A6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ADD894-FEB4-473A-83C1-7BEB53237BFA}"/>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3178564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DA62AE0-7CC1-B1F9-4F88-3031136889F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2BF5B4A-482F-BA87-24E0-E3DF7FF825F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A1DF06-4D05-8487-C906-0A83A33FB742}"/>
              </a:ext>
            </a:extLst>
          </p:cNvPr>
          <p:cNvSpPr>
            <a:spLocks noGrp="1"/>
          </p:cNvSpPr>
          <p:nvPr>
            <p:ph type="dt" sz="half" idx="10"/>
          </p:nvPr>
        </p:nvSpPr>
        <p:spPr/>
        <p:txBody>
          <a:bodyPr/>
          <a:lstStyle/>
          <a:p>
            <a:fld id="{D1FC497E-6193-4005-84D4-21F5AFCFB8DB}" type="datetimeFigureOut">
              <a:rPr lang="zh-CN" altLang="en-US" smtClean="0"/>
              <a:t>2026/6/24</a:t>
            </a:fld>
            <a:endParaRPr lang="zh-CN" altLang="en-US"/>
          </a:p>
        </p:txBody>
      </p:sp>
      <p:sp>
        <p:nvSpPr>
          <p:cNvPr id="5" name="页脚占位符 4">
            <a:extLst>
              <a:ext uri="{FF2B5EF4-FFF2-40B4-BE49-F238E27FC236}">
                <a16:creationId xmlns:a16="http://schemas.microsoft.com/office/drawing/2014/main" id="{18A76959-FF2E-7122-722A-796F05A648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BC9696-B20F-31C9-A768-BC337A451AEA}"/>
              </a:ext>
            </a:extLst>
          </p:cNvPr>
          <p:cNvSpPr>
            <a:spLocks noGrp="1"/>
          </p:cNvSpPr>
          <p:nvPr>
            <p:ph type="sldNum" sz="quarter" idx="12"/>
          </p:nvPr>
        </p:nvSpPr>
        <p:spPr/>
        <p:txBody>
          <a:body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1416318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9B94965-F087-F402-28A3-10C16BDEEB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AFAA6B2-88A2-7534-86D4-CD9F1AA851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00EC65-2AB5-F37D-BECE-4641B88DF5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FC497E-6193-4005-84D4-21F5AFCFB8DB}" type="datetimeFigureOut">
              <a:rPr lang="zh-CN" altLang="en-US" smtClean="0"/>
              <a:t>2026/6/24</a:t>
            </a:fld>
            <a:endParaRPr lang="zh-CN" altLang="en-US"/>
          </a:p>
        </p:txBody>
      </p:sp>
      <p:sp>
        <p:nvSpPr>
          <p:cNvPr id="5" name="页脚占位符 4">
            <a:extLst>
              <a:ext uri="{FF2B5EF4-FFF2-40B4-BE49-F238E27FC236}">
                <a16:creationId xmlns:a16="http://schemas.microsoft.com/office/drawing/2014/main" id="{4BC3BE0D-0BF6-1059-F690-35712CC1F6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07BF3B3-351E-7EAA-5F73-31F0517CE5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FDAE4B-92FF-47FB-973E-DA0E5FEDCEF2}" type="slidenum">
              <a:rPr lang="zh-CN" altLang="en-US" smtClean="0"/>
              <a:t>‹#›</a:t>
            </a:fld>
            <a:endParaRPr lang="zh-CN" altLang="en-US"/>
          </a:p>
        </p:txBody>
      </p:sp>
    </p:spTree>
    <p:extLst>
      <p:ext uri="{BB962C8B-B14F-4D97-AF65-F5344CB8AC3E}">
        <p14:creationId xmlns:p14="http://schemas.microsoft.com/office/powerpoint/2010/main" val="4223997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A7D9732-4390-2077-8FE8-569A6F716D6D}"/>
              </a:ext>
            </a:extLst>
          </p:cNvPr>
          <p:cNvSpPr/>
          <p:nvPr/>
        </p:nvSpPr>
        <p:spPr>
          <a:xfrm>
            <a:off x="0" y="0"/>
            <a:ext cx="12192000" cy="8382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38E3F83D-F438-4B76-1B37-56B53C56F669}"/>
              </a:ext>
            </a:extLst>
          </p:cNvPr>
          <p:cNvSpPr txBox="1"/>
          <p:nvPr/>
        </p:nvSpPr>
        <p:spPr>
          <a:xfrm>
            <a:off x="457200" y="241300"/>
            <a:ext cx="3302000" cy="307777"/>
          </a:xfrm>
          <a:prstGeom prst="rect">
            <a:avLst/>
          </a:prstGeom>
          <a:noFill/>
        </p:spPr>
        <p:txBody>
          <a:bodyPr vert="horz" wrap="square" lIns="0" tIns="0" rIns="0" bIns="0" rtlCol="0">
            <a:spAutoFit/>
          </a:bodyPr>
          <a:lstStyle/>
          <a:p>
            <a:r>
              <a:rPr lang="zh-CN" altLang="en-US" sz="2000" b="1">
                <a:solidFill>
                  <a:srgbClr val="FFFFFF"/>
                </a:solidFill>
                <a:latin typeface="Microsoft YaHei" panose="020B0503020204020204" pitchFamily="34" charset="-122"/>
              </a:rPr>
              <a:t>硕士学位中期报告</a:t>
            </a:r>
          </a:p>
        </p:txBody>
      </p:sp>
      <p:sp>
        <p:nvSpPr>
          <p:cNvPr id="4" name="文本框 3">
            <a:extLst>
              <a:ext uri="{FF2B5EF4-FFF2-40B4-BE49-F238E27FC236}">
                <a16:creationId xmlns:a16="http://schemas.microsoft.com/office/drawing/2014/main" id="{FFD55017-1163-4C8C-B3E6-690D8861E7A4}"/>
              </a:ext>
            </a:extLst>
          </p:cNvPr>
          <p:cNvSpPr txBox="1"/>
          <p:nvPr/>
        </p:nvSpPr>
        <p:spPr>
          <a:xfrm>
            <a:off x="10414000" y="292100"/>
            <a:ext cx="1270000" cy="184666"/>
          </a:xfrm>
          <a:prstGeom prst="rect">
            <a:avLst/>
          </a:prstGeom>
          <a:noFill/>
        </p:spPr>
        <p:txBody>
          <a:bodyPr vert="horz" wrap="square" lIns="0" tIns="0" rIns="0" bIns="0" rtlCol="0">
            <a:spAutoFit/>
          </a:bodyPr>
          <a:lstStyle/>
          <a:p>
            <a:pPr algn="r"/>
            <a:r>
              <a:rPr lang="en-US" altLang="zh-CN" sz="1200">
                <a:solidFill>
                  <a:srgbClr val="E7F3FA"/>
                </a:solidFill>
                <a:latin typeface="Microsoft YaHei" panose="020B0503020204020204" pitchFamily="34" charset="-122"/>
              </a:rPr>
              <a:t>2026/06/25</a:t>
            </a:r>
            <a:endParaRPr lang="zh-CN" altLang="en-US" sz="1200">
              <a:solidFill>
                <a:srgbClr val="E7F3FA"/>
              </a:solidFill>
              <a:latin typeface="Microsoft YaHei" panose="020B0503020204020204" pitchFamily="34" charset="-122"/>
            </a:endParaRPr>
          </a:p>
        </p:txBody>
      </p:sp>
      <p:sp>
        <p:nvSpPr>
          <p:cNvPr id="5" name="文本框 4">
            <a:extLst>
              <a:ext uri="{FF2B5EF4-FFF2-40B4-BE49-F238E27FC236}">
                <a16:creationId xmlns:a16="http://schemas.microsoft.com/office/drawing/2014/main" id="{CC3EC1FA-72A1-61A0-1E92-B7EFF4963789}"/>
              </a:ext>
            </a:extLst>
          </p:cNvPr>
          <p:cNvSpPr txBox="1"/>
          <p:nvPr/>
        </p:nvSpPr>
        <p:spPr>
          <a:xfrm>
            <a:off x="698500" y="1498600"/>
            <a:ext cx="8064500" cy="892552"/>
          </a:xfrm>
          <a:prstGeom prst="rect">
            <a:avLst/>
          </a:prstGeom>
          <a:noFill/>
        </p:spPr>
        <p:txBody>
          <a:bodyPr vert="horz" wrap="square" lIns="0" tIns="0" rIns="0" bIns="0" rtlCol="0">
            <a:spAutoFit/>
          </a:bodyPr>
          <a:lstStyle/>
          <a:p>
            <a:r>
              <a:rPr lang="zh-CN" altLang="en-US" sz="2900" b="1">
                <a:solidFill>
                  <a:srgbClr val="102A43"/>
                </a:solidFill>
                <a:latin typeface="Microsoft YaHei" panose="020B0503020204020204" pitchFamily="34" charset="-122"/>
              </a:rPr>
              <a:t>面向动态资源受限多智能体网络的</a:t>
            </a:r>
          </a:p>
          <a:p>
            <a:r>
              <a:rPr lang="zh-CN" altLang="en-US" sz="2900" b="1">
                <a:solidFill>
                  <a:srgbClr val="102A43"/>
                </a:solidFill>
                <a:latin typeface="Microsoft YaHei" panose="020B0503020204020204" pitchFamily="34" charset="-122"/>
              </a:rPr>
              <a:t>服务质量感知协同通信优化方法研究</a:t>
            </a:r>
          </a:p>
        </p:txBody>
      </p:sp>
      <p:sp>
        <p:nvSpPr>
          <p:cNvPr id="6" name="文本框 5">
            <a:extLst>
              <a:ext uri="{FF2B5EF4-FFF2-40B4-BE49-F238E27FC236}">
                <a16:creationId xmlns:a16="http://schemas.microsoft.com/office/drawing/2014/main" id="{F4626129-2F53-8B6A-FE27-70D1E38395B4}"/>
              </a:ext>
            </a:extLst>
          </p:cNvPr>
          <p:cNvSpPr txBox="1"/>
          <p:nvPr/>
        </p:nvSpPr>
        <p:spPr>
          <a:xfrm>
            <a:off x="736600" y="2819400"/>
            <a:ext cx="5334000" cy="246221"/>
          </a:xfrm>
          <a:prstGeom prst="rect">
            <a:avLst/>
          </a:prstGeom>
          <a:noFill/>
        </p:spPr>
        <p:txBody>
          <a:bodyPr vert="horz" wrap="square" lIns="0" tIns="0" rIns="0" bIns="0" rtlCol="0">
            <a:spAutoFit/>
          </a:bodyPr>
          <a:lstStyle/>
          <a:p>
            <a:r>
              <a:rPr lang="zh-CN" altLang="en-US" sz="1600">
                <a:solidFill>
                  <a:srgbClr val="52677A"/>
                </a:solidFill>
                <a:latin typeface="Microsoft YaHei" panose="020B0503020204020204" pitchFamily="34" charset="-122"/>
              </a:rPr>
              <a:t>研究内容、当前进展与后期规划</a:t>
            </a:r>
          </a:p>
        </p:txBody>
      </p:sp>
      <p:sp>
        <p:nvSpPr>
          <p:cNvPr id="7" name="矩形 6">
            <a:extLst>
              <a:ext uri="{FF2B5EF4-FFF2-40B4-BE49-F238E27FC236}">
                <a16:creationId xmlns:a16="http://schemas.microsoft.com/office/drawing/2014/main" id="{EFCB4EEF-3527-6FD9-0C25-2CB9D9BCE8BC}"/>
              </a:ext>
            </a:extLst>
          </p:cNvPr>
          <p:cNvSpPr/>
          <p:nvPr/>
        </p:nvSpPr>
        <p:spPr>
          <a:xfrm>
            <a:off x="736600" y="3708400"/>
            <a:ext cx="4953000" cy="1422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C5F7D05-F688-8BDC-1298-4BDDCFB45A08}"/>
              </a:ext>
            </a:extLst>
          </p:cNvPr>
          <p:cNvSpPr/>
          <p:nvPr/>
        </p:nvSpPr>
        <p:spPr>
          <a:xfrm>
            <a:off x="736600" y="3708400"/>
            <a:ext cx="16840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B43CBFA-6C29-51C4-27B5-465D850D9DA8}"/>
              </a:ext>
            </a:extLst>
          </p:cNvPr>
          <p:cNvSpPr txBox="1"/>
          <p:nvPr/>
        </p:nvSpPr>
        <p:spPr>
          <a:xfrm>
            <a:off x="965200" y="3987800"/>
            <a:ext cx="4495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研究对象</a:t>
            </a:r>
          </a:p>
        </p:txBody>
      </p:sp>
      <p:sp>
        <p:nvSpPr>
          <p:cNvPr id="10" name="文本框 9">
            <a:extLst>
              <a:ext uri="{FF2B5EF4-FFF2-40B4-BE49-F238E27FC236}">
                <a16:creationId xmlns:a16="http://schemas.microsoft.com/office/drawing/2014/main" id="{590240DD-8EF9-3924-1C42-AE194D93CD4A}"/>
              </a:ext>
            </a:extLst>
          </p:cNvPr>
          <p:cNvSpPr txBox="1"/>
          <p:nvPr/>
        </p:nvSpPr>
        <p:spPr>
          <a:xfrm>
            <a:off x="965200" y="4533900"/>
            <a:ext cx="4495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动态边缘网络中的多智能体服务通信。关注数据持续回传、语义证据利用以及由链路和能量约束引起的服务质量变化。</a:t>
            </a:r>
          </a:p>
        </p:txBody>
      </p:sp>
      <p:sp>
        <p:nvSpPr>
          <p:cNvPr id="11" name="矩形 10">
            <a:extLst>
              <a:ext uri="{FF2B5EF4-FFF2-40B4-BE49-F238E27FC236}">
                <a16:creationId xmlns:a16="http://schemas.microsoft.com/office/drawing/2014/main" id="{17F368E4-9F74-5C0D-B0E5-50DEA72AC7E1}"/>
              </a:ext>
            </a:extLst>
          </p:cNvPr>
          <p:cNvSpPr/>
          <p:nvPr/>
        </p:nvSpPr>
        <p:spPr>
          <a:xfrm>
            <a:off x="6223000" y="3708400"/>
            <a:ext cx="4572000" cy="1422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13FDDD0-83FC-C6A7-31BF-112DB87A9874}"/>
              </a:ext>
            </a:extLst>
          </p:cNvPr>
          <p:cNvSpPr/>
          <p:nvPr/>
        </p:nvSpPr>
        <p:spPr>
          <a:xfrm>
            <a:off x="6223000" y="3708400"/>
            <a:ext cx="15544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CE2D6979-41F7-FCA2-31A1-E763FE0D38DB}"/>
              </a:ext>
            </a:extLst>
          </p:cNvPr>
          <p:cNvSpPr txBox="1"/>
          <p:nvPr/>
        </p:nvSpPr>
        <p:spPr>
          <a:xfrm>
            <a:off x="6451600" y="3987800"/>
            <a:ext cx="411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报告内容</a:t>
            </a:r>
          </a:p>
        </p:txBody>
      </p:sp>
      <p:sp>
        <p:nvSpPr>
          <p:cNvPr id="14" name="文本框 13">
            <a:extLst>
              <a:ext uri="{FF2B5EF4-FFF2-40B4-BE49-F238E27FC236}">
                <a16:creationId xmlns:a16="http://schemas.microsoft.com/office/drawing/2014/main" id="{ACE726AB-96B9-FBEB-A5A2-4561756BD3F8}"/>
              </a:ext>
            </a:extLst>
          </p:cNvPr>
          <p:cNvSpPr txBox="1"/>
          <p:nvPr/>
        </p:nvSpPr>
        <p:spPr>
          <a:xfrm>
            <a:off x="6451600" y="4533900"/>
            <a:ext cx="41148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研究问题与总体进展</a:t>
            </a:r>
          </a:p>
          <a:p>
            <a:r>
              <a:rPr lang="en-US" altLang="zh-CN" sz="1400">
                <a:solidFill>
                  <a:srgbClr val="222222"/>
                </a:solidFill>
                <a:latin typeface="Microsoft YaHei" panose="020B0503020204020204" pitchFamily="34" charset="-122"/>
              </a:rPr>
              <a:t>LEADR </a:t>
            </a:r>
            <a:r>
              <a:rPr lang="zh-CN" altLang="en-US" sz="1400">
                <a:solidFill>
                  <a:srgbClr val="222222"/>
                </a:solidFill>
                <a:latin typeface="Microsoft YaHei" panose="020B0503020204020204" pitchFamily="34" charset="-122"/>
              </a:rPr>
              <a:t>与 </a:t>
            </a:r>
            <a:r>
              <a:rPr lang="en-US" altLang="zh-CN" sz="1400">
                <a:solidFill>
                  <a:srgbClr val="222222"/>
                </a:solidFill>
                <a:latin typeface="Microsoft YaHei" panose="020B0503020204020204" pitchFamily="34" charset="-122"/>
              </a:rPr>
              <a:t>EviComRL </a:t>
            </a:r>
            <a:r>
              <a:rPr lang="zh-CN" altLang="en-US" sz="1400">
                <a:solidFill>
                  <a:srgbClr val="222222"/>
                </a:solidFill>
                <a:latin typeface="Microsoft YaHei" panose="020B0503020204020204" pitchFamily="34" charset="-122"/>
              </a:rPr>
              <a:t>已完成工作</a:t>
            </a:r>
          </a:p>
          <a:p>
            <a:r>
              <a:rPr lang="zh-CN" altLang="en-US" sz="1400">
                <a:solidFill>
                  <a:srgbClr val="222222"/>
                </a:solidFill>
                <a:latin typeface="Microsoft YaHei" panose="020B0503020204020204" pitchFamily="34" charset="-122"/>
              </a:rPr>
              <a:t>动态链路与能量约束下的后续计划</a:t>
            </a:r>
          </a:p>
        </p:txBody>
      </p:sp>
      <p:sp>
        <p:nvSpPr>
          <p:cNvPr id="15" name="文本框 14">
            <a:extLst>
              <a:ext uri="{FF2B5EF4-FFF2-40B4-BE49-F238E27FC236}">
                <a16:creationId xmlns:a16="http://schemas.microsoft.com/office/drawing/2014/main" id="{D6207B52-BD59-2EC7-C665-8B97088DA9DF}"/>
              </a:ext>
            </a:extLst>
          </p:cNvPr>
          <p:cNvSpPr txBox="1"/>
          <p:nvPr/>
        </p:nvSpPr>
        <p:spPr>
          <a:xfrm>
            <a:off x="736600" y="5778500"/>
            <a:ext cx="3556000" cy="184666"/>
          </a:xfrm>
          <a:prstGeom prst="rect">
            <a:avLst/>
          </a:prstGeom>
          <a:noFill/>
        </p:spPr>
        <p:txBody>
          <a:bodyPr vert="horz" wrap="square" lIns="0" tIns="0" rIns="0" bIns="0" rtlCol="0">
            <a:spAutoFit/>
          </a:bodyPr>
          <a:lstStyle/>
          <a:p>
            <a:r>
              <a:rPr lang="zh-CN" altLang="en-US" sz="1200">
                <a:solidFill>
                  <a:srgbClr val="52677A"/>
                </a:solidFill>
                <a:latin typeface="Microsoft YaHei" panose="020B0503020204020204" pitchFamily="34" charset="-122"/>
              </a:rPr>
              <a:t>计算学部 </a:t>
            </a:r>
            <a:r>
              <a:rPr lang="en-US" altLang="zh-CN" sz="1200">
                <a:solidFill>
                  <a:srgbClr val="52677A"/>
                </a:solidFill>
                <a:latin typeface="Microsoft YaHei" panose="020B0503020204020204" pitchFamily="34" charset="-122"/>
              </a:rPr>
              <a:t>· </a:t>
            </a:r>
            <a:r>
              <a:rPr lang="zh-CN" altLang="en-US" sz="1200">
                <a:solidFill>
                  <a:srgbClr val="52677A"/>
                </a:solidFill>
                <a:latin typeface="Microsoft YaHei" panose="020B0503020204020204" pitchFamily="34" charset="-122"/>
              </a:rPr>
              <a:t>计算机科学与技术</a:t>
            </a:r>
          </a:p>
        </p:txBody>
      </p:sp>
      <p:sp>
        <p:nvSpPr>
          <p:cNvPr id="16" name="文本框 15">
            <a:extLst>
              <a:ext uri="{FF2B5EF4-FFF2-40B4-BE49-F238E27FC236}">
                <a16:creationId xmlns:a16="http://schemas.microsoft.com/office/drawing/2014/main" id="{12DCFABE-24C4-7651-57F0-48182D19298A}"/>
              </a:ext>
            </a:extLst>
          </p:cNvPr>
          <p:cNvSpPr txBox="1"/>
          <p:nvPr/>
        </p:nvSpPr>
        <p:spPr>
          <a:xfrm>
            <a:off x="736600" y="6070600"/>
            <a:ext cx="1143000" cy="215444"/>
          </a:xfrm>
          <a:prstGeom prst="rect">
            <a:avLst/>
          </a:prstGeom>
          <a:noFill/>
        </p:spPr>
        <p:txBody>
          <a:bodyPr vert="horz" wrap="square" lIns="0" tIns="0" rIns="0" bIns="0" rtlCol="0">
            <a:spAutoFit/>
          </a:bodyPr>
          <a:lstStyle/>
          <a:p>
            <a:r>
              <a:rPr lang="zh-CN" altLang="en-US" sz="1400" b="1">
                <a:solidFill>
                  <a:srgbClr val="102A43"/>
                </a:solidFill>
                <a:latin typeface="Microsoft YaHei" panose="020B0503020204020204" pitchFamily="34" charset="-122"/>
              </a:rPr>
              <a:t>李一凡</a:t>
            </a:r>
          </a:p>
        </p:txBody>
      </p:sp>
    </p:spTree>
    <p:extLst>
      <p:ext uri="{BB962C8B-B14F-4D97-AF65-F5344CB8AC3E}">
        <p14:creationId xmlns:p14="http://schemas.microsoft.com/office/powerpoint/2010/main" val="3368200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8904C43-3AA5-51E2-180E-17EF357BCF88}"/>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B3718266-64C7-8269-691C-DA29185957E3}"/>
              </a:ext>
            </a:extLst>
          </p:cNvPr>
          <p:cNvSpPr txBox="1"/>
          <p:nvPr/>
        </p:nvSpPr>
        <p:spPr>
          <a:xfrm>
            <a:off x="381000" y="165100"/>
            <a:ext cx="9334500" cy="338554"/>
          </a:xfrm>
          <a:prstGeom prst="rect">
            <a:avLst/>
          </a:prstGeom>
          <a:noFill/>
        </p:spPr>
        <p:txBody>
          <a:bodyPr vert="horz" wrap="square" lIns="0" tIns="0" rIns="0" bIns="0" rtlCol="0">
            <a:spAutoFit/>
          </a:bodyPr>
          <a:lstStyle/>
          <a:p>
            <a:r>
              <a:rPr lang="zh-CN" altLang="en-US" sz="2200" b="1">
                <a:solidFill>
                  <a:srgbClr val="FFFFFF"/>
                </a:solidFill>
                <a:latin typeface="Microsoft YaHei" panose="020B0503020204020204" pitchFamily="34" charset="-122"/>
              </a:rPr>
              <a:t>研究对象与问题</a:t>
            </a:r>
          </a:p>
        </p:txBody>
      </p:sp>
      <p:sp>
        <p:nvSpPr>
          <p:cNvPr id="4" name="文本框 3">
            <a:extLst>
              <a:ext uri="{FF2B5EF4-FFF2-40B4-BE49-F238E27FC236}">
                <a16:creationId xmlns:a16="http://schemas.microsoft.com/office/drawing/2014/main" id="{8E893209-D2E3-00FE-9EA2-FAEAE20B7CDF}"/>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E3D9013B-45DD-507D-F1B1-A54678E1414D}"/>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02</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142FE064-DCA0-CB04-CD1B-805220F9C269}"/>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0C8B75BE-B290-0A06-B53B-4A5D4FCCEA27}"/>
              </a:ext>
            </a:extLst>
          </p:cNvPr>
          <p:cNvSpPr/>
          <p:nvPr/>
        </p:nvSpPr>
        <p:spPr>
          <a:xfrm>
            <a:off x="508000" y="1092200"/>
            <a:ext cx="5143500" cy="37846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6F84F4A-D8C9-5E80-22F3-9C45953EE2D8}"/>
              </a:ext>
            </a:extLst>
          </p:cNvPr>
          <p:cNvSpPr/>
          <p:nvPr/>
        </p:nvSpPr>
        <p:spPr>
          <a:xfrm>
            <a:off x="508000" y="1092200"/>
            <a:ext cx="174879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EB0FBC9-7A62-5435-4B19-2F0C35822D7E}"/>
              </a:ext>
            </a:extLst>
          </p:cNvPr>
          <p:cNvSpPr txBox="1"/>
          <p:nvPr/>
        </p:nvSpPr>
        <p:spPr>
          <a:xfrm>
            <a:off x="736600" y="1371600"/>
            <a:ext cx="46863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动态边缘服务</a:t>
            </a:r>
          </a:p>
        </p:txBody>
      </p:sp>
      <p:sp>
        <p:nvSpPr>
          <p:cNvPr id="10" name="文本框 9">
            <a:extLst>
              <a:ext uri="{FF2B5EF4-FFF2-40B4-BE49-F238E27FC236}">
                <a16:creationId xmlns:a16="http://schemas.microsoft.com/office/drawing/2014/main" id="{D52EC8AB-6CB9-6FF7-E91F-25DA7B504D9C}"/>
              </a:ext>
            </a:extLst>
          </p:cNvPr>
          <p:cNvSpPr txBox="1"/>
          <p:nvPr/>
        </p:nvSpPr>
        <p:spPr>
          <a:xfrm>
            <a:off x="736600" y="1917700"/>
            <a:ext cx="4686300" cy="1292662"/>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在灾后应急通信、低空巡检、临时网络覆盖和协同感知任务中，无人机、移动机器人、边缘摄像头和车联网节点需要通过临时多跳链路共同完成数据回传与任务推理。</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服务质量不仅来自单个节点的感知或计算能力，也取决于无线链路、节点能量和局部通信决策能否协同工作。</a:t>
            </a:r>
          </a:p>
        </p:txBody>
      </p:sp>
      <p:sp>
        <p:nvSpPr>
          <p:cNvPr id="11" name="矩形 10">
            <a:extLst>
              <a:ext uri="{FF2B5EF4-FFF2-40B4-BE49-F238E27FC236}">
                <a16:creationId xmlns:a16="http://schemas.microsoft.com/office/drawing/2014/main" id="{EC773FB6-EB3E-5501-D7E4-D1EC43C4960F}"/>
              </a:ext>
            </a:extLst>
          </p:cNvPr>
          <p:cNvSpPr/>
          <p:nvPr/>
        </p:nvSpPr>
        <p:spPr>
          <a:xfrm>
            <a:off x="6159500" y="1092200"/>
            <a:ext cx="5143500" cy="37846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07E1B1F-4A50-9EFA-B70B-E4EF0FC0AC9E}"/>
              </a:ext>
            </a:extLst>
          </p:cNvPr>
          <p:cNvSpPr/>
          <p:nvPr/>
        </p:nvSpPr>
        <p:spPr>
          <a:xfrm>
            <a:off x="6159500" y="1092200"/>
            <a:ext cx="174879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18BD7CFB-7883-F36E-F3C9-E850C8220D38}"/>
              </a:ext>
            </a:extLst>
          </p:cNvPr>
          <p:cNvSpPr txBox="1"/>
          <p:nvPr/>
        </p:nvSpPr>
        <p:spPr>
          <a:xfrm>
            <a:off x="6388100" y="1371600"/>
            <a:ext cx="46863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通信决策影响服务质量</a:t>
            </a:r>
          </a:p>
        </p:txBody>
      </p:sp>
      <p:sp>
        <p:nvSpPr>
          <p:cNvPr id="14" name="文本框 13">
            <a:extLst>
              <a:ext uri="{FF2B5EF4-FFF2-40B4-BE49-F238E27FC236}">
                <a16:creationId xmlns:a16="http://schemas.microsoft.com/office/drawing/2014/main" id="{C35938BB-B49F-191B-32FF-AFF31A47C6FA}"/>
              </a:ext>
            </a:extLst>
          </p:cNvPr>
          <p:cNvSpPr txBox="1"/>
          <p:nvPr/>
        </p:nvSpPr>
        <p:spPr>
          <a:xfrm>
            <a:off x="6388100" y="1917700"/>
            <a:ext cx="4686300" cy="1723549"/>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节点移动会改变拓扑和链路质量，使带宽、时延窗口和通信机会随时间变化。</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节点能量有限，长期依赖少数中继节点会形成能量热点，造成节点失效和服务中断。</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关键语义证据若未及时送达，协同推理难以形成可靠判断；全量发送又会增加带宽占用、时延和丢包风险。</a:t>
            </a:r>
          </a:p>
        </p:txBody>
      </p:sp>
      <p:sp>
        <p:nvSpPr>
          <p:cNvPr id="15" name="矩形 14">
            <a:extLst>
              <a:ext uri="{FF2B5EF4-FFF2-40B4-BE49-F238E27FC236}">
                <a16:creationId xmlns:a16="http://schemas.microsoft.com/office/drawing/2014/main" id="{8F5C56A2-7FA3-6C7E-F9BB-49D9B80820E4}"/>
              </a:ext>
            </a:extLst>
          </p:cNvPr>
          <p:cNvSpPr/>
          <p:nvPr/>
        </p:nvSpPr>
        <p:spPr>
          <a:xfrm>
            <a:off x="1333500" y="5397500"/>
            <a:ext cx="9525000" cy="736600"/>
          </a:xfrm>
          <a:prstGeom prst="rect">
            <a:avLst/>
          </a:prstGeom>
          <a:solidFill>
            <a:srgbClr val="E9EEF2"/>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04A9A223-EF83-4A79-4B67-8E98B2B944D0}"/>
              </a:ext>
            </a:extLst>
          </p:cNvPr>
          <p:cNvSpPr txBox="1"/>
          <p:nvPr/>
        </p:nvSpPr>
        <p:spPr>
          <a:xfrm>
            <a:off x="1676400" y="5613400"/>
            <a:ext cx="8890000" cy="246221"/>
          </a:xfrm>
          <a:prstGeom prst="rect">
            <a:avLst/>
          </a:prstGeom>
          <a:noFill/>
        </p:spPr>
        <p:txBody>
          <a:bodyPr vert="horz" wrap="square" lIns="0" tIns="0" rIns="0" bIns="0" rtlCol="0">
            <a:spAutoFit/>
          </a:bodyPr>
          <a:lstStyle/>
          <a:p>
            <a:pPr algn="ctr"/>
            <a:r>
              <a:rPr lang="zh-CN" altLang="en-US" sz="1600" b="1">
                <a:solidFill>
                  <a:srgbClr val="1E4976"/>
                </a:solidFill>
                <a:latin typeface="Microsoft YaHei" panose="020B0503020204020204" pitchFamily="34" charset="-122"/>
              </a:rPr>
              <a:t>本课题研究通信策略如何同时影响数据持续送达、语义证据利用和最终服务质量。</a:t>
            </a:r>
          </a:p>
        </p:txBody>
      </p:sp>
    </p:spTree>
    <p:extLst>
      <p:ext uri="{BB962C8B-B14F-4D97-AF65-F5344CB8AC3E}">
        <p14:creationId xmlns:p14="http://schemas.microsoft.com/office/powerpoint/2010/main" val="89144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3EBF72A-D9C7-6B96-04A4-007F063C1943}"/>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5EDA122-A914-95CF-955A-9844DAA460BA}"/>
              </a:ext>
            </a:extLst>
          </p:cNvPr>
          <p:cNvSpPr txBox="1"/>
          <p:nvPr/>
        </p:nvSpPr>
        <p:spPr>
          <a:xfrm>
            <a:off x="381000" y="165100"/>
            <a:ext cx="9334500" cy="338554"/>
          </a:xfrm>
          <a:prstGeom prst="rect">
            <a:avLst/>
          </a:prstGeom>
          <a:noFill/>
        </p:spPr>
        <p:txBody>
          <a:bodyPr vert="horz" wrap="square" lIns="0" tIns="0" rIns="0" bIns="0" rtlCol="0">
            <a:spAutoFit/>
          </a:bodyPr>
          <a:lstStyle/>
          <a:p>
            <a:r>
              <a:rPr lang="zh-CN" altLang="en-US" sz="2200" b="1">
                <a:solidFill>
                  <a:srgbClr val="FFFFFF"/>
                </a:solidFill>
                <a:latin typeface="Microsoft YaHei" panose="020B0503020204020204" pitchFamily="34" charset="-122"/>
              </a:rPr>
              <a:t>研究内容关系</a:t>
            </a:r>
          </a:p>
        </p:txBody>
      </p:sp>
      <p:sp>
        <p:nvSpPr>
          <p:cNvPr id="4" name="文本框 3">
            <a:extLst>
              <a:ext uri="{FF2B5EF4-FFF2-40B4-BE49-F238E27FC236}">
                <a16:creationId xmlns:a16="http://schemas.microsoft.com/office/drawing/2014/main" id="{E7498472-0F65-0514-487D-EB30609D93E4}"/>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1405B6F1-2FE6-84C8-2F7D-13D4D8291C4D}"/>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03</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15DBD42C-6156-6068-6D1D-ED73A6A95967}"/>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12D4894E-42D6-9339-4FCD-997A211230F8}"/>
              </a:ext>
            </a:extLst>
          </p:cNvPr>
          <p:cNvSpPr/>
          <p:nvPr/>
        </p:nvSpPr>
        <p:spPr>
          <a:xfrm>
            <a:off x="508000" y="1066800"/>
            <a:ext cx="8128000" cy="48514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F054DA4-B7C6-6A22-047C-C357C8789E3C}"/>
              </a:ext>
            </a:extLst>
          </p:cNvPr>
          <p:cNvSpPr/>
          <p:nvPr/>
        </p:nvSpPr>
        <p:spPr>
          <a:xfrm>
            <a:off x="609600" y="11684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52BF8842-9D18-7571-EE5F-FCE6A0DE996E}"/>
              </a:ext>
            </a:extLst>
          </p:cNvPr>
          <p:cNvSpPr txBox="1"/>
          <p:nvPr/>
        </p:nvSpPr>
        <p:spPr>
          <a:xfrm>
            <a:off x="698500" y="12319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研究内容框架</a:t>
            </a:r>
          </a:p>
        </p:txBody>
      </p:sp>
      <p:pic>
        <p:nvPicPr>
          <p:cNvPr id="11" name="图片 10">
            <a:extLst>
              <a:ext uri="{FF2B5EF4-FFF2-40B4-BE49-F238E27FC236}">
                <a16:creationId xmlns:a16="http://schemas.microsoft.com/office/drawing/2014/main" id="{EA68A96F-D155-1A27-3388-A04BCCD2A90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35000" y="1524295"/>
            <a:ext cx="7874000" cy="4241209"/>
          </a:xfrm>
          <a:prstGeom prst="rect">
            <a:avLst/>
          </a:prstGeom>
        </p:spPr>
      </p:pic>
      <p:sp>
        <p:nvSpPr>
          <p:cNvPr id="12" name="矩形 11">
            <a:extLst>
              <a:ext uri="{FF2B5EF4-FFF2-40B4-BE49-F238E27FC236}">
                <a16:creationId xmlns:a16="http://schemas.microsoft.com/office/drawing/2014/main" id="{7D3ED279-1D6F-7D7C-E01E-5D73299C7A19}"/>
              </a:ext>
            </a:extLst>
          </p:cNvPr>
          <p:cNvSpPr/>
          <p:nvPr/>
        </p:nvSpPr>
        <p:spPr>
          <a:xfrm>
            <a:off x="9017000" y="1066800"/>
            <a:ext cx="2413000" cy="1270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3B88BA7-EF73-040C-9D22-553925452347}"/>
              </a:ext>
            </a:extLst>
          </p:cNvPr>
          <p:cNvSpPr/>
          <p:nvPr/>
        </p:nvSpPr>
        <p:spPr>
          <a:xfrm>
            <a:off x="9017000" y="1066800"/>
            <a:ext cx="8204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94E2DAB9-3AE7-0A50-0CAA-2F479F5CEBEE}"/>
              </a:ext>
            </a:extLst>
          </p:cNvPr>
          <p:cNvSpPr txBox="1"/>
          <p:nvPr/>
        </p:nvSpPr>
        <p:spPr>
          <a:xfrm>
            <a:off x="9245600" y="1346200"/>
            <a:ext cx="1955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服务数据回传</a:t>
            </a:r>
          </a:p>
        </p:txBody>
      </p:sp>
      <p:sp>
        <p:nvSpPr>
          <p:cNvPr id="15" name="文本框 14">
            <a:extLst>
              <a:ext uri="{FF2B5EF4-FFF2-40B4-BE49-F238E27FC236}">
                <a16:creationId xmlns:a16="http://schemas.microsoft.com/office/drawing/2014/main" id="{12F625F0-6ABB-BCA6-2314-511E39F1E26F}"/>
              </a:ext>
            </a:extLst>
          </p:cNvPr>
          <p:cNvSpPr txBox="1"/>
          <p:nvPr/>
        </p:nvSpPr>
        <p:spPr>
          <a:xfrm>
            <a:off x="9245600" y="1892300"/>
            <a:ext cx="19558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研究分布式路由与功率控制，为动态网络中的可靠传输提供支撑。</a:t>
            </a:r>
          </a:p>
        </p:txBody>
      </p:sp>
      <p:sp>
        <p:nvSpPr>
          <p:cNvPr id="16" name="矩形 15">
            <a:extLst>
              <a:ext uri="{FF2B5EF4-FFF2-40B4-BE49-F238E27FC236}">
                <a16:creationId xmlns:a16="http://schemas.microsoft.com/office/drawing/2014/main" id="{808D6201-728D-2E59-CCB6-5B376AE6BFD7}"/>
              </a:ext>
            </a:extLst>
          </p:cNvPr>
          <p:cNvSpPr/>
          <p:nvPr/>
        </p:nvSpPr>
        <p:spPr>
          <a:xfrm>
            <a:off x="9017000" y="2819400"/>
            <a:ext cx="2413000" cy="1270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D4541E81-2A1E-051E-A46C-155E9D1309D4}"/>
              </a:ext>
            </a:extLst>
          </p:cNvPr>
          <p:cNvSpPr/>
          <p:nvPr/>
        </p:nvSpPr>
        <p:spPr>
          <a:xfrm>
            <a:off x="9017000" y="2819400"/>
            <a:ext cx="8204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D63D7EE6-FA8A-85CA-F110-67C6954926F7}"/>
              </a:ext>
            </a:extLst>
          </p:cNvPr>
          <p:cNvSpPr txBox="1"/>
          <p:nvPr/>
        </p:nvSpPr>
        <p:spPr>
          <a:xfrm>
            <a:off x="9245600" y="3098800"/>
            <a:ext cx="1955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语义证据选择</a:t>
            </a:r>
          </a:p>
        </p:txBody>
      </p:sp>
      <p:sp>
        <p:nvSpPr>
          <p:cNvPr id="19" name="文本框 18">
            <a:extLst>
              <a:ext uri="{FF2B5EF4-FFF2-40B4-BE49-F238E27FC236}">
                <a16:creationId xmlns:a16="http://schemas.microsoft.com/office/drawing/2014/main" id="{9DF04F27-43B9-65E6-8FA0-862ED3339C47}"/>
              </a:ext>
            </a:extLst>
          </p:cNvPr>
          <p:cNvSpPr txBox="1"/>
          <p:nvPr/>
        </p:nvSpPr>
        <p:spPr>
          <a:xfrm>
            <a:off x="9245600" y="3644900"/>
            <a:ext cx="19558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在有限通信预算和不可靠链路下，学习选择对协同推理更有价值的消息。</a:t>
            </a:r>
          </a:p>
        </p:txBody>
      </p:sp>
      <p:sp>
        <p:nvSpPr>
          <p:cNvPr id="20" name="矩形 19">
            <a:extLst>
              <a:ext uri="{FF2B5EF4-FFF2-40B4-BE49-F238E27FC236}">
                <a16:creationId xmlns:a16="http://schemas.microsoft.com/office/drawing/2014/main" id="{20BCC09B-4EC6-FECF-7D59-9C8BDEB69A04}"/>
              </a:ext>
            </a:extLst>
          </p:cNvPr>
          <p:cNvSpPr/>
          <p:nvPr/>
        </p:nvSpPr>
        <p:spPr>
          <a:xfrm>
            <a:off x="9017000" y="4572000"/>
            <a:ext cx="2413000" cy="1270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512D8D4-589C-4768-E02D-F767396F9F26}"/>
              </a:ext>
            </a:extLst>
          </p:cNvPr>
          <p:cNvSpPr/>
          <p:nvPr/>
        </p:nvSpPr>
        <p:spPr>
          <a:xfrm>
            <a:off x="9017000" y="4572000"/>
            <a:ext cx="8204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61D92DB-7AAB-62B2-B0D4-0B7041E4E97B}"/>
              </a:ext>
            </a:extLst>
          </p:cNvPr>
          <p:cNvSpPr txBox="1"/>
          <p:nvPr/>
        </p:nvSpPr>
        <p:spPr>
          <a:xfrm>
            <a:off x="9245600" y="4851400"/>
            <a:ext cx="1955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稳定性分析</a:t>
            </a:r>
          </a:p>
        </p:txBody>
      </p:sp>
      <p:sp>
        <p:nvSpPr>
          <p:cNvPr id="23" name="文本框 22">
            <a:extLst>
              <a:ext uri="{FF2B5EF4-FFF2-40B4-BE49-F238E27FC236}">
                <a16:creationId xmlns:a16="http://schemas.microsoft.com/office/drawing/2014/main" id="{B2398CFC-CFC6-DA69-7658-B10DE7C4E51A}"/>
              </a:ext>
            </a:extLst>
          </p:cNvPr>
          <p:cNvSpPr txBox="1"/>
          <p:nvPr/>
        </p:nvSpPr>
        <p:spPr>
          <a:xfrm>
            <a:off x="9245600" y="5397500"/>
            <a:ext cx="19558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把链路质量、功率控制和节点能量变化引入语义通信环境。</a:t>
            </a:r>
          </a:p>
        </p:txBody>
      </p:sp>
      <p:cxnSp>
        <p:nvCxnSpPr>
          <p:cNvPr id="24" name="直接连接符 23">
            <a:extLst>
              <a:ext uri="{FF2B5EF4-FFF2-40B4-BE49-F238E27FC236}">
                <a16:creationId xmlns:a16="http://schemas.microsoft.com/office/drawing/2014/main" id="{E0D8C0AC-6D3E-AF20-7974-1D7C39CA7C3E}"/>
              </a:ext>
            </a:extLst>
          </p:cNvPr>
          <p:cNvCxnSpPr/>
          <p:nvPr/>
        </p:nvCxnSpPr>
        <p:spPr>
          <a:xfrm>
            <a:off x="10223500" y="2336800"/>
            <a:ext cx="0" cy="48260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cxnSp>
        <p:nvCxnSpPr>
          <p:cNvPr id="25" name="直接连接符 24">
            <a:extLst>
              <a:ext uri="{FF2B5EF4-FFF2-40B4-BE49-F238E27FC236}">
                <a16:creationId xmlns:a16="http://schemas.microsoft.com/office/drawing/2014/main" id="{12361862-8C48-3FFC-A820-7340C9548CB6}"/>
              </a:ext>
            </a:extLst>
          </p:cNvPr>
          <p:cNvCxnSpPr/>
          <p:nvPr/>
        </p:nvCxnSpPr>
        <p:spPr>
          <a:xfrm>
            <a:off x="10223500" y="4089400"/>
            <a:ext cx="0" cy="48260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1189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A0513BB-E3F7-5093-B760-05BFD6E53BE2}"/>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02D09E20-3784-F981-A2D2-6DD36AE8733B}"/>
              </a:ext>
            </a:extLst>
          </p:cNvPr>
          <p:cNvSpPr txBox="1"/>
          <p:nvPr/>
        </p:nvSpPr>
        <p:spPr>
          <a:xfrm>
            <a:off x="381000" y="165100"/>
            <a:ext cx="9334500" cy="338554"/>
          </a:xfrm>
          <a:prstGeom prst="rect">
            <a:avLst/>
          </a:prstGeom>
          <a:noFill/>
        </p:spPr>
        <p:txBody>
          <a:bodyPr vert="horz" wrap="square" lIns="0" tIns="0" rIns="0" bIns="0" rtlCol="0">
            <a:spAutoFit/>
          </a:bodyPr>
          <a:lstStyle/>
          <a:p>
            <a:r>
              <a:rPr lang="zh-CN" altLang="en-US" sz="2200" b="1">
                <a:solidFill>
                  <a:srgbClr val="FFFFFF"/>
                </a:solidFill>
                <a:latin typeface="Microsoft YaHei" panose="020B0503020204020204" pitchFamily="34" charset="-122"/>
              </a:rPr>
              <a:t>当前研究进展</a:t>
            </a:r>
          </a:p>
        </p:txBody>
      </p:sp>
      <p:sp>
        <p:nvSpPr>
          <p:cNvPr id="4" name="文本框 3">
            <a:extLst>
              <a:ext uri="{FF2B5EF4-FFF2-40B4-BE49-F238E27FC236}">
                <a16:creationId xmlns:a16="http://schemas.microsoft.com/office/drawing/2014/main" id="{B6EBC9D5-9D5F-BB31-21BA-0BD435CA604F}"/>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E483E3BC-7716-B6E9-7100-8070187EEB46}"/>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04</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5C761777-80C8-5512-FC65-69EAB2DAFC46}"/>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0EA9A8A7-B170-E776-FE96-2BD5143D7157}"/>
              </a:ext>
            </a:extLst>
          </p:cNvPr>
          <p:cNvSpPr/>
          <p:nvPr/>
        </p:nvSpPr>
        <p:spPr>
          <a:xfrm>
            <a:off x="571500" y="1244600"/>
            <a:ext cx="3365500" cy="40005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9E1C50E-CEFD-B902-78EC-3B40AC97F121}"/>
              </a:ext>
            </a:extLst>
          </p:cNvPr>
          <p:cNvSpPr/>
          <p:nvPr/>
        </p:nvSpPr>
        <p:spPr>
          <a:xfrm>
            <a:off x="571500" y="1244600"/>
            <a:ext cx="114427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D5A0A0DE-3E5E-171D-2FF6-259FF7E4FD25}"/>
              </a:ext>
            </a:extLst>
          </p:cNvPr>
          <p:cNvSpPr txBox="1"/>
          <p:nvPr/>
        </p:nvSpPr>
        <p:spPr>
          <a:xfrm>
            <a:off x="800100" y="1524000"/>
            <a:ext cx="2908300" cy="276999"/>
          </a:xfrm>
          <a:prstGeom prst="rect">
            <a:avLst/>
          </a:prstGeom>
          <a:noFill/>
        </p:spPr>
        <p:txBody>
          <a:bodyPr vert="horz" wrap="square" lIns="0" tIns="0" rIns="0" bIns="0" rtlCol="0">
            <a:spAutoFit/>
          </a:bodyPr>
          <a:lstStyle/>
          <a:p>
            <a:r>
              <a:rPr lang="en-US" altLang="zh-CN" b="1">
                <a:solidFill>
                  <a:srgbClr val="1E4976"/>
                </a:solidFill>
                <a:latin typeface="Microsoft YaHei" panose="020B0503020204020204" pitchFamily="34" charset="-122"/>
              </a:rPr>
              <a:t>RQ1 </a:t>
            </a:r>
            <a:r>
              <a:rPr lang="zh-CN" altLang="en-US" b="1">
                <a:solidFill>
                  <a:srgbClr val="1E4976"/>
                </a:solidFill>
                <a:latin typeface="Microsoft YaHei" panose="020B0503020204020204" pitchFamily="34" charset="-122"/>
              </a:rPr>
              <a:t>服务数据传输</a:t>
            </a:r>
          </a:p>
        </p:txBody>
      </p:sp>
      <p:sp>
        <p:nvSpPr>
          <p:cNvPr id="10" name="文本框 9">
            <a:extLst>
              <a:ext uri="{FF2B5EF4-FFF2-40B4-BE49-F238E27FC236}">
                <a16:creationId xmlns:a16="http://schemas.microsoft.com/office/drawing/2014/main" id="{AB8FA76F-B78B-BFC2-C428-FA8CB7987F0E}"/>
              </a:ext>
            </a:extLst>
          </p:cNvPr>
          <p:cNvSpPr txBox="1"/>
          <p:nvPr/>
        </p:nvSpPr>
        <p:spPr>
          <a:xfrm>
            <a:off x="800100" y="2070100"/>
            <a:ext cx="2908300" cy="1723549"/>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已完成问题建模、算法设计、理论推导、仿真实现和对比实验。</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提出 </a:t>
            </a:r>
            <a:r>
              <a:rPr lang="en-US" altLang="zh-CN" sz="1400">
                <a:solidFill>
                  <a:srgbClr val="222222"/>
                </a:solidFill>
                <a:latin typeface="Microsoft YaHei" panose="020B0503020204020204" pitchFamily="34" charset="-122"/>
              </a:rPr>
              <a:t>LEADR</a:t>
            </a:r>
            <a:r>
              <a:rPr lang="zh-CN" altLang="en-US" sz="1400">
                <a:solidFill>
                  <a:srgbClr val="222222"/>
                </a:solidFill>
                <a:latin typeface="Microsoft YaHei" panose="020B0503020204020204" pitchFamily="34" charset="-122"/>
              </a:rPr>
              <a:t>，通过分布式路由与功率联合决策均衡节点能耗。</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成果发表于服务计算领域 </a:t>
            </a:r>
            <a:r>
              <a:rPr lang="en-US" altLang="zh-CN" sz="1400">
                <a:solidFill>
                  <a:srgbClr val="222222"/>
                </a:solidFill>
                <a:latin typeface="Microsoft YaHei" panose="020B0503020204020204" pitchFamily="34" charset="-122"/>
              </a:rPr>
              <a:t>CCF-B </a:t>
            </a:r>
            <a:r>
              <a:rPr lang="zh-CN" altLang="en-US" sz="1400">
                <a:solidFill>
                  <a:srgbClr val="222222"/>
                </a:solidFill>
                <a:latin typeface="Microsoft YaHei" panose="020B0503020204020204" pitchFamily="34" charset="-122"/>
              </a:rPr>
              <a:t>类国际会议 </a:t>
            </a:r>
            <a:r>
              <a:rPr lang="en-US" altLang="zh-CN" sz="1400">
                <a:solidFill>
                  <a:srgbClr val="222222"/>
                </a:solidFill>
                <a:latin typeface="Microsoft YaHei" panose="020B0503020204020204" pitchFamily="34" charset="-122"/>
              </a:rPr>
              <a:t>ICSOC 2025</a:t>
            </a:r>
            <a:r>
              <a:rPr lang="zh-CN" altLang="en-US" sz="1400">
                <a:solidFill>
                  <a:srgbClr val="222222"/>
                </a:solidFill>
                <a:latin typeface="Microsoft YaHei" panose="020B0503020204020204" pitchFamily="34" charset="-122"/>
              </a:rPr>
              <a:t>。</a:t>
            </a:r>
          </a:p>
        </p:txBody>
      </p:sp>
      <p:sp>
        <p:nvSpPr>
          <p:cNvPr id="11" name="矩形 10">
            <a:extLst>
              <a:ext uri="{FF2B5EF4-FFF2-40B4-BE49-F238E27FC236}">
                <a16:creationId xmlns:a16="http://schemas.microsoft.com/office/drawing/2014/main" id="{6833C62D-1584-3258-9158-D329401A79AC}"/>
              </a:ext>
            </a:extLst>
          </p:cNvPr>
          <p:cNvSpPr/>
          <p:nvPr/>
        </p:nvSpPr>
        <p:spPr>
          <a:xfrm>
            <a:off x="4406900" y="1244600"/>
            <a:ext cx="3365500" cy="40005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B757AF4-0D85-507A-4F3A-C154AED8E97F}"/>
              </a:ext>
            </a:extLst>
          </p:cNvPr>
          <p:cNvSpPr/>
          <p:nvPr/>
        </p:nvSpPr>
        <p:spPr>
          <a:xfrm>
            <a:off x="4406900" y="1244600"/>
            <a:ext cx="114427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E786D4CA-B3BF-72E9-35BB-D81CA46FF7D1}"/>
              </a:ext>
            </a:extLst>
          </p:cNvPr>
          <p:cNvSpPr txBox="1"/>
          <p:nvPr/>
        </p:nvSpPr>
        <p:spPr>
          <a:xfrm>
            <a:off x="4635500" y="1524000"/>
            <a:ext cx="2908300" cy="276999"/>
          </a:xfrm>
          <a:prstGeom prst="rect">
            <a:avLst/>
          </a:prstGeom>
          <a:noFill/>
        </p:spPr>
        <p:txBody>
          <a:bodyPr vert="horz" wrap="square" lIns="0" tIns="0" rIns="0" bIns="0" rtlCol="0">
            <a:spAutoFit/>
          </a:bodyPr>
          <a:lstStyle/>
          <a:p>
            <a:r>
              <a:rPr lang="en-US" altLang="zh-CN" b="1">
                <a:solidFill>
                  <a:srgbClr val="1E4976"/>
                </a:solidFill>
                <a:latin typeface="Microsoft YaHei" panose="020B0503020204020204" pitchFamily="34" charset="-122"/>
              </a:rPr>
              <a:t>RQ2 </a:t>
            </a:r>
            <a:r>
              <a:rPr lang="zh-CN" altLang="en-US" b="1">
                <a:solidFill>
                  <a:srgbClr val="1E4976"/>
                </a:solidFill>
                <a:latin typeface="Microsoft YaHei" panose="020B0503020204020204" pitchFamily="34" charset="-122"/>
              </a:rPr>
              <a:t>协同推理服务</a:t>
            </a:r>
          </a:p>
        </p:txBody>
      </p:sp>
      <p:sp>
        <p:nvSpPr>
          <p:cNvPr id="14" name="文本框 13">
            <a:extLst>
              <a:ext uri="{FF2B5EF4-FFF2-40B4-BE49-F238E27FC236}">
                <a16:creationId xmlns:a16="http://schemas.microsoft.com/office/drawing/2014/main" id="{F7F93335-4A45-A106-E7A3-E803B71266FF}"/>
              </a:ext>
            </a:extLst>
          </p:cNvPr>
          <p:cNvSpPr txBox="1"/>
          <p:nvPr/>
        </p:nvSpPr>
        <p:spPr>
          <a:xfrm>
            <a:off x="4635500" y="2070100"/>
            <a:ext cx="2908300" cy="1508105"/>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已完成离线语义轨迹构造、链路可靠性建模、强化学习策略实现和完整实验。</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实验基于约 </a:t>
            </a:r>
            <a:r>
              <a:rPr lang="en-US" altLang="zh-CN" sz="1400">
                <a:solidFill>
                  <a:srgbClr val="222222"/>
                </a:solidFill>
                <a:latin typeface="Microsoft YaHei" panose="020B0503020204020204" pitchFamily="34" charset="-122"/>
              </a:rPr>
              <a:t>3000 </a:t>
            </a:r>
            <a:r>
              <a:rPr lang="zh-CN" altLang="en-US" sz="1400">
                <a:solidFill>
                  <a:srgbClr val="222222"/>
                </a:solidFill>
                <a:latin typeface="Microsoft YaHei" panose="020B0503020204020204" pitchFamily="34" charset="-122"/>
              </a:rPr>
              <a:t>条 </a:t>
            </a:r>
            <a:r>
              <a:rPr lang="en-US" altLang="zh-CN" sz="1400">
                <a:solidFill>
                  <a:srgbClr val="222222"/>
                </a:solidFill>
                <a:latin typeface="Microsoft YaHei" panose="020B0503020204020204" pitchFamily="34" charset="-122"/>
              </a:rPr>
              <a:t>trace</a:t>
            </a:r>
            <a:r>
              <a:rPr lang="zh-CN" altLang="en-US" sz="1400">
                <a:solidFill>
                  <a:srgbClr val="222222"/>
                </a:solidFill>
                <a:latin typeface="Microsoft YaHei" panose="020B0503020204020204" pitchFamily="34" charset="-122"/>
              </a:rPr>
              <a:t>，覆盖主设置、智能体数量、通信预算和关键模块消融。</a:t>
            </a:r>
          </a:p>
        </p:txBody>
      </p:sp>
      <p:sp>
        <p:nvSpPr>
          <p:cNvPr id="15" name="矩形 14">
            <a:extLst>
              <a:ext uri="{FF2B5EF4-FFF2-40B4-BE49-F238E27FC236}">
                <a16:creationId xmlns:a16="http://schemas.microsoft.com/office/drawing/2014/main" id="{F621C5A4-F782-F8E9-1C98-970AE09BED7F}"/>
              </a:ext>
            </a:extLst>
          </p:cNvPr>
          <p:cNvSpPr/>
          <p:nvPr/>
        </p:nvSpPr>
        <p:spPr>
          <a:xfrm>
            <a:off x="8242300" y="1244600"/>
            <a:ext cx="3365500" cy="40005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0CDA81E0-1BC2-46D1-40AD-3352A21FFAD8}"/>
              </a:ext>
            </a:extLst>
          </p:cNvPr>
          <p:cNvSpPr/>
          <p:nvPr/>
        </p:nvSpPr>
        <p:spPr>
          <a:xfrm>
            <a:off x="8242300" y="1244600"/>
            <a:ext cx="114427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DC3D834A-4DC6-AEE6-C4EA-D9A6F0B19B79}"/>
              </a:ext>
            </a:extLst>
          </p:cNvPr>
          <p:cNvSpPr txBox="1"/>
          <p:nvPr/>
        </p:nvSpPr>
        <p:spPr>
          <a:xfrm>
            <a:off x="8470900" y="1524000"/>
            <a:ext cx="2908300" cy="276999"/>
          </a:xfrm>
          <a:prstGeom prst="rect">
            <a:avLst/>
          </a:prstGeom>
          <a:noFill/>
        </p:spPr>
        <p:txBody>
          <a:bodyPr vert="horz" wrap="square" lIns="0" tIns="0" rIns="0" bIns="0" rtlCol="0">
            <a:spAutoFit/>
          </a:bodyPr>
          <a:lstStyle/>
          <a:p>
            <a:r>
              <a:rPr lang="en-US" altLang="zh-CN" b="1">
                <a:solidFill>
                  <a:srgbClr val="1E4976"/>
                </a:solidFill>
                <a:latin typeface="Microsoft YaHei" panose="020B0503020204020204" pitchFamily="34" charset="-122"/>
              </a:rPr>
              <a:t>RQ3 </a:t>
            </a:r>
            <a:r>
              <a:rPr lang="zh-CN" altLang="en-US" b="1">
                <a:solidFill>
                  <a:srgbClr val="1E4976"/>
                </a:solidFill>
                <a:latin typeface="Microsoft YaHei" panose="020B0503020204020204" pitchFamily="34" charset="-122"/>
              </a:rPr>
              <a:t>稳定性分析</a:t>
            </a:r>
          </a:p>
        </p:txBody>
      </p:sp>
      <p:sp>
        <p:nvSpPr>
          <p:cNvPr id="18" name="文本框 17">
            <a:extLst>
              <a:ext uri="{FF2B5EF4-FFF2-40B4-BE49-F238E27FC236}">
                <a16:creationId xmlns:a16="http://schemas.microsoft.com/office/drawing/2014/main" id="{13CAB6CF-8844-6EA0-4FA0-91FD5D4FB83F}"/>
              </a:ext>
            </a:extLst>
          </p:cNvPr>
          <p:cNvSpPr txBox="1"/>
          <p:nvPr/>
        </p:nvSpPr>
        <p:spPr>
          <a:xfrm>
            <a:off x="8470900" y="2070100"/>
            <a:ext cx="2908300" cy="1292662"/>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已明确研究目标、对比条件和评价指标。</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后续将把 </a:t>
            </a:r>
            <a:r>
              <a:rPr lang="en-US" altLang="zh-CN" sz="1400">
                <a:solidFill>
                  <a:srgbClr val="222222"/>
                </a:solidFill>
                <a:latin typeface="Microsoft YaHei" panose="020B0503020204020204" pitchFamily="34" charset="-122"/>
              </a:rPr>
              <a:t>LEADR </a:t>
            </a:r>
            <a:r>
              <a:rPr lang="zh-CN" altLang="en-US" sz="1400">
                <a:solidFill>
                  <a:srgbClr val="222222"/>
                </a:solidFill>
                <a:latin typeface="Microsoft YaHei" panose="020B0503020204020204" pitchFamily="34" charset="-122"/>
              </a:rPr>
              <a:t>输出的链路质量、功率控制结果、节点能量和存活状态映射到语义消息选择环境。</a:t>
            </a:r>
          </a:p>
        </p:txBody>
      </p:sp>
      <p:sp>
        <p:nvSpPr>
          <p:cNvPr id="19" name="矩形 18">
            <a:extLst>
              <a:ext uri="{FF2B5EF4-FFF2-40B4-BE49-F238E27FC236}">
                <a16:creationId xmlns:a16="http://schemas.microsoft.com/office/drawing/2014/main" id="{E82254D5-EA61-F4A1-AC93-227C525C75C5}"/>
              </a:ext>
            </a:extLst>
          </p:cNvPr>
          <p:cNvSpPr/>
          <p:nvPr/>
        </p:nvSpPr>
        <p:spPr>
          <a:xfrm>
            <a:off x="1206500" y="5461000"/>
            <a:ext cx="1397000" cy="355600"/>
          </a:xfrm>
          <a:prstGeom prst="rect">
            <a:avLst/>
          </a:prstGeom>
          <a:solidFill>
            <a:srgbClr val="FFFFFF"/>
          </a:solidFill>
          <a:ln w="8890">
            <a:solidFill>
              <a:srgbClr val="AEB8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4037B3D-2D42-44A1-D44F-965B9D933008}"/>
              </a:ext>
            </a:extLst>
          </p:cNvPr>
          <p:cNvSpPr txBox="1"/>
          <p:nvPr/>
        </p:nvSpPr>
        <p:spPr>
          <a:xfrm>
            <a:off x="1295400" y="5524500"/>
            <a:ext cx="1219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已完成</a:t>
            </a:r>
          </a:p>
        </p:txBody>
      </p:sp>
      <p:sp>
        <p:nvSpPr>
          <p:cNvPr id="21" name="矩形 20">
            <a:extLst>
              <a:ext uri="{FF2B5EF4-FFF2-40B4-BE49-F238E27FC236}">
                <a16:creationId xmlns:a16="http://schemas.microsoft.com/office/drawing/2014/main" id="{A6507435-633A-AFE5-9ECD-38F5E488E18F}"/>
              </a:ext>
            </a:extLst>
          </p:cNvPr>
          <p:cNvSpPr/>
          <p:nvPr/>
        </p:nvSpPr>
        <p:spPr>
          <a:xfrm>
            <a:off x="5041900" y="5461000"/>
            <a:ext cx="1397000" cy="355600"/>
          </a:xfrm>
          <a:prstGeom prst="rect">
            <a:avLst/>
          </a:prstGeom>
          <a:solidFill>
            <a:srgbClr val="FFFFFF"/>
          </a:solidFill>
          <a:ln w="8890">
            <a:solidFill>
              <a:srgbClr val="AEB8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D7C88A76-DBFE-D565-C446-A7B24CEF529B}"/>
              </a:ext>
            </a:extLst>
          </p:cNvPr>
          <p:cNvSpPr txBox="1"/>
          <p:nvPr/>
        </p:nvSpPr>
        <p:spPr>
          <a:xfrm>
            <a:off x="5130800" y="5524500"/>
            <a:ext cx="1219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已完成</a:t>
            </a:r>
          </a:p>
        </p:txBody>
      </p:sp>
      <p:sp>
        <p:nvSpPr>
          <p:cNvPr id="23" name="矩形 22">
            <a:extLst>
              <a:ext uri="{FF2B5EF4-FFF2-40B4-BE49-F238E27FC236}">
                <a16:creationId xmlns:a16="http://schemas.microsoft.com/office/drawing/2014/main" id="{38ACC288-EC92-0634-0922-7C0204098EB3}"/>
              </a:ext>
            </a:extLst>
          </p:cNvPr>
          <p:cNvSpPr/>
          <p:nvPr/>
        </p:nvSpPr>
        <p:spPr>
          <a:xfrm>
            <a:off x="8890000" y="5461000"/>
            <a:ext cx="1524000" cy="355600"/>
          </a:xfrm>
          <a:prstGeom prst="rect">
            <a:avLst/>
          </a:prstGeom>
          <a:solidFill>
            <a:srgbClr val="FFFFFF"/>
          </a:solidFill>
          <a:ln w="8890">
            <a:solidFill>
              <a:srgbClr val="AEB8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A9460AA6-3F14-65DF-1586-22F217391B20}"/>
              </a:ext>
            </a:extLst>
          </p:cNvPr>
          <p:cNvSpPr txBox="1"/>
          <p:nvPr/>
        </p:nvSpPr>
        <p:spPr>
          <a:xfrm>
            <a:off x="8978900" y="5524500"/>
            <a:ext cx="1346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后续推进</a:t>
            </a:r>
          </a:p>
        </p:txBody>
      </p:sp>
    </p:spTree>
    <p:extLst>
      <p:ext uri="{BB962C8B-B14F-4D97-AF65-F5344CB8AC3E}">
        <p14:creationId xmlns:p14="http://schemas.microsoft.com/office/powerpoint/2010/main" val="2674950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7576808-D5D2-B8D0-2F76-3B4C5C76B1CE}"/>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CDE8903-7F17-F057-3BFD-D8EBADAB1126}"/>
              </a:ext>
            </a:extLst>
          </p:cNvPr>
          <p:cNvSpPr txBox="1"/>
          <p:nvPr/>
        </p:nvSpPr>
        <p:spPr>
          <a:xfrm>
            <a:off x="381000" y="165100"/>
            <a:ext cx="9334500" cy="338554"/>
          </a:xfrm>
          <a:prstGeom prst="rect">
            <a:avLst/>
          </a:prstGeom>
          <a:noFill/>
        </p:spPr>
        <p:txBody>
          <a:bodyPr vert="horz" wrap="square" lIns="0" tIns="0" rIns="0" bIns="0" rtlCol="0">
            <a:spAutoFit/>
          </a:bodyPr>
          <a:lstStyle/>
          <a:p>
            <a:r>
              <a:rPr lang="en-US" altLang="zh-CN" sz="2200" b="1">
                <a:solidFill>
                  <a:srgbClr val="FFFFFF"/>
                </a:solidFill>
                <a:latin typeface="Microsoft YaHei" panose="020B0503020204020204" pitchFamily="34" charset="-122"/>
              </a:rPr>
              <a:t>RQ1 </a:t>
            </a:r>
            <a:r>
              <a:rPr lang="zh-CN" altLang="en-US" sz="2200" b="1">
                <a:solidFill>
                  <a:srgbClr val="FFFFFF"/>
                </a:solidFill>
                <a:latin typeface="Microsoft YaHei" panose="020B0503020204020204" pitchFamily="34" charset="-122"/>
              </a:rPr>
              <a:t>服务数据传输</a:t>
            </a:r>
          </a:p>
        </p:txBody>
      </p:sp>
      <p:sp>
        <p:nvSpPr>
          <p:cNvPr id="4" name="文本框 3">
            <a:extLst>
              <a:ext uri="{FF2B5EF4-FFF2-40B4-BE49-F238E27FC236}">
                <a16:creationId xmlns:a16="http://schemas.microsoft.com/office/drawing/2014/main" id="{656EB6AE-0886-A57B-4682-FD9414D1A59A}"/>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B781274D-EC60-0B3E-23E4-6D64FA9D9F9F}"/>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05</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760653A8-4DAF-60F4-D542-25074802FB92}"/>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8FC7AF3D-4859-4699-CE21-03DF6D4AFAE9}"/>
              </a:ext>
            </a:extLst>
          </p:cNvPr>
          <p:cNvSpPr/>
          <p:nvPr/>
        </p:nvSpPr>
        <p:spPr>
          <a:xfrm>
            <a:off x="533400" y="1168400"/>
            <a:ext cx="7747000" cy="32385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0059C54-C2C9-E80F-DC9C-C2225E7C6363}"/>
              </a:ext>
            </a:extLst>
          </p:cNvPr>
          <p:cNvSpPr/>
          <p:nvPr/>
        </p:nvSpPr>
        <p:spPr>
          <a:xfrm>
            <a:off x="635000" y="12700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1227B923-6085-E16F-5A44-97D9C2655ED2}"/>
              </a:ext>
            </a:extLst>
          </p:cNvPr>
          <p:cNvSpPr txBox="1"/>
          <p:nvPr/>
        </p:nvSpPr>
        <p:spPr>
          <a:xfrm>
            <a:off x="723900" y="13335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高动态 </a:t>
            </a:r>
            <a:r>
              <a:rPr lang="en-US" altLang="zh-CN" sz="1000" b="1">
                <a:solidFill>
                  <a:srgbClr val="1E4976"/>
                </a:solidFill>
                <a:latin typeface="Microsoft YaHei" panose="020B0503020204020204" pitchFamily="34" charset="-122"/>
              </a:rPr>
              <a:t>FANET </a:t>
            </a:r>
            <a:r>
              <a:rPr lang="zh-CN" altLang="en-US" sz="1000" b="1">
                <a:solidFill>
                  <a:srgbClr val="1E4976"/>
                </a:solidFill>
                <a:latin typeface="Microsoft YaHei" panose="020B0503020204020204" pitchFamily="34" charset="-122"/>
              </a:rPr>
              <a:t>应急通信场景</a:t>
            </a:r>
          </a:p>
        </p:txBody>
      </p:sp>
      <p:pic>
        <p:nvPicPr>
          <p:cNvPr id="11" name="图片 10">
            <a:extLst>
              <a:ext uri="{FF2B5EF4-FFF2-40B4-BE49-F238E27FC236}">
                <a16:creationId xmlns:a16="http://schemas.microsoft.com/office/drawing/2014/main" id="{51BE388E-A773-FB95-6EE8-7AF89E78B3C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60400" y="1703857"/>
            <a:ext cx="7493000" cy="2472387"/>
          </a:xfrm>
          <a:prstGeom prst="rect">
            <a:avLst/>
          </a:prstGeom>
        </p:spPr>
      </p:pic>
      <p:sp>
        <p:nvSpPr>
          <p:cNvPr id="12" name="矩形 11">
            <a:extLst>
              <a:ext uri="{FF2B5EF4-FFF2-40B4-BE49-F238E27FC236}">
                <a16:creationId xmlns:a16="http://schemas.microsoft.com/office/drawing/2014/main" id="{C68D0455-00D0-9FA9-0808-EE264DA77690}"/>
              </a:ext>
            </a:extLst>
          </p:cNvPr>
          <p:cNvSpPr/>
          <p:nvPr/>
        </p:nvSpPr>
        <p:spPr>
          <a:xfrm>
            <a:off x="8686800" y="1168400"/>
            <a:ext cx="2768600" cy="32385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3B955BD-3327-0411-FDF8-B945A384A81D}"/>
              </a:ext>
            </a:extLst>
          </p:cNvPr>
          <p:cNvSpPr/>
          <p:nvPr/>
        </p:nvSpPr>
        <p:spPr>
          <a:xfrm>
            <a:off x="8686800" y="1168400"/>
            <a:ext cx="941324"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5EDAA62-E969-8E3F-657B-35385D3E8684}"/>
              </a:ext>
            </a:extLst>
          </p:cNvPr>
          <p:cNvSpPr txBox="1"/>
          <p:nvPr/>
        </p:nvSpPr>
        <p:spPr>
          <a:xfrm>
            <a:off x="8915400" y="1447800"/>
            <a:ext cx="23114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问题焦点</a:t>
            </a:r>
          </a:p>
        </p:txBody>
      </p:sp>
      <p:sp>
        <p:nvSpPr>
          <p:cNvPr id="15" name="文本框 14">
            <a:extLst>
              <a:ext uri="{FF2B5EF4-FFF2-40B4-BE49-F238E27FC236}">
                <a16:creationId xmlns:a16="http://schemas.microsoft.com/office/drawing/2014/main" id="{BC0C3EDE-93FF-3350-BCFF-626693E8FA25}"/>
              </a:ext>
            </a:extLst>
          </p:cNvPr>
          <p:cNvSpPr txBox="1"/>
          <p:nvPr/>
        </p:nvSpPr>
        <p:spPr>
          <a:xfrm>
            <a:off x="8915400" y="1993900"/>
            <a:ext cx="2311400" cy="1938992"/>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地面通信基础设施受损时，无人机作为临时空中中继，将灾区现场数据多跳回传至数据中心。</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若路由策略只追求短期路径收益，低能量或拥塞节点可能被反复使用，进而引发网络分裂和服务中断。</a:t>
            </a:r>
          </a:p>
        </p:txBody>
      </p:sp>
      <p:sp>
        <p:nvSpPr>
          <p:cNvPr id="16" name="矩形 15">
            <a:extLst>
              <a:ext uri="{FF2B5EF4-FFF2-40B4-BE49-F238E27FC236}">
                <a16:creationId xmlns:a16="http://schemas.microsoft.com/office/drawing/2014/main" id="{A9F7A479-FCA9-5F5C-2E11-6E63C2BF4AAB}"/>
              </a:ext>
            </a:extLst>
          </p:cNvPr>
          <p:cNvSpPr/>
          <p:nvPr/>
        </p:nvSpPr>
        <p:spPr>
          <a:xfrm>
            <a:off x="533400" y="4851400"/>
            <a:ext cx="3302000" cy="11176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3B637230-985C-8280-F698-1EFC72C2CC57}"/>
              </a:ext>
            </a:extLst>
          </p:cNvPr>
          <p:cNvSpPr/>
          <p:nvPr/>
        </p:nvSpPr>
        <p:spPr>
          <a:xfrm>
            <a:off x="533400" y="4851400"/>
            <a:ext cx="11226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E98E8618-0F6A-16FB-0601-D5F8E0E00AF1}"/>
              </a:ext>
            </a:extLst>
          </p:cNvPr>
          <p:cNvSpPr txBox="1"/>
          <p:nvPr/>
        </p:nvSpPr>
        <p:spPr>
          <a:xfrm>
            <a:off x="762000" y="5130800"/>
            <a:ext cx="284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建模对象</a:t>
            </a:r>
          </a:p>
        </p:txBody>
      </p:sp>
      <p:sp>
        <p:nvSpPr>
          <p:cNvPr id="19" name="文本框 18">
            <a:extLst>
              <a:ext uri="{FF2B5EF4-FFF2-40B4-BE49-F238E27FC236}">
                <a16:creationId xmlns:a16="http://schemas.microsoft.com/office/drawing/2014/main" id="{2DC68BC0-EF4B-0A12-2C32-CFE3E39A192B}"/>
              </a:ext>
            </a:extLst>
          </p:cNvPr>
          <p:cNvSpPr txBox="1"/>
          <p:nvPr/>
        </p:nvSpPr>
        <p:spPr>
          <a:xfrm>
            <a:off x="762000" y="5676900"/>
            <a:ext cx="2844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无人机移动、链路通信、数据队列和节点能量消耗。</a:t>
            </a:r>
          </a:p>
        </p:txBody>
      </p:sp>
      <p:sp>
        <p:nvSpPr>
          <p:cNvPr id="20" name="矩形 19">
            <a:extLst>
              <a:ext uri="{FF2B5EF4-FFF2-40B4-BE49-F238E27FC236}">
                <a16:creationId xmlns:a16="http://schemas.microsoft.com/office/drawing/2014/main" id="{AC02D98B-1DA4-3385-B934-FF98F9462324}"/>
              </a:ext>
            </a:extLst>
          </p:cNvPr>
          <p:cNvSpPr/>
          <p:nvPr/>
        </p:nvSpPr>
        <p:spPr>
          <a:xfrm>
            <a:off x="4445000" y="4851400"/>
            <a:ext cx="3302000" cy="11176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5AD5197-952A-801B-649B-310916FD25A2}"/>
              </a:ext>
            </a:extLst>
          </p:cNvPr>
          <p:cNvSpPr/>
          <p:nvPr/>
        </p:nvSpPr>
        <p:spPr>
          <a:xfrm>
            <a:off x="4445000" y="4851400"/>
            <a:ext cx="11226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C63F30BF-3A39-BB3E-6705-ED01B0A8969D}"/>
              </a:ext>
            </a:extLst>
          </p:cNvPr>
          <p:cNvSpPr txBox="1"/>
          <p:nvPr/>
        </p:nvSpPr>
        <p:spPr>
          <a:xfrm>
            <a:off x="4673600" y="5130800"/>
            <a:ext cx="284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优化目标</a:t>
            </a:r>
          </a:p>
        </p:txBody>
      </p:sp>
      <p:sp>
        <p:nvSpPr>
          <p:cNvPr id="23" name="文本框 22">
            <a:extLst>
              <a:ext uri="{FF2B5EF4-FFF2-40B4-BE49-F238E27FC236}">
                <a16:creationId xmlns:a16="http://schemas.microsoft.com/office/drawing/2014/main" id="{5C98246E-51B4-9467-EFF4-A9DD0532E930}"/>
              </a:ext>
            </a:extLst>
          </p:cNvPr>
          <p:cNvSpPr txBox="1"/>
          <p:nvPr/>
        </p:nvSpPr>
        <p:spPr>
          <a:xfrm>
            <a:off x="4673600" y="5676900"/>
            <a:ext cx="2844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在保障吞吐和降低丢包的同时，均衡全网能耗。</a:t>
            </a:r>
          </a:p>
        </p:txBody>
      </p:sp>
      <p:sp>
        <p:nvSpPr>
          <p:cNvPr id="24" name="矩形 23">
            <a:extLst>
              <a:ext uri="{FF2B5EF4-FFF2-40B4-BE49-F238E27FC236}">
                <a16:creationId xmlns:a16="http://schemas.microsoft.com/office/drawing/2014/main" id="{9A588085-FA10-DA9F-4E4E-A26A7996A271}"/>
              </a:ext>
            </a:extLst>
          </p:cNvPr>
          <p:cNvSpPr/>
          <p:nvPr/>
        </p:nvSpPr>
        <p:spPr>
          <a:xfrm>
            <a:off x="8356600" y="4851400"/>
            <a:ext cx="3098800" cy="11176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184E91D1-6EC7-ADA9-D438-17930B80A571}"/>
              </a:ext>
            </a:extLst>
          </p:cNvPr>
          <p:cNvSpPr/>
          <p:nvPr/>
        </p:nvSpPr>
        <p:spPr>
          <a:xfrm>
            <a:off x="8356600" y="4851400"/>
            <a:ext cx="1053592"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8F8022DA-557B-6E48-7C5A-79BA76A72A7F}"/>
              </a:ext>
            </a:extLst>
          </p:cNvPr>
          <p:cNvSpPr txBox="1"/>
          <p:nvPr/>
        </p:nvSpPr>
        <p:spPr>
          <a:xfrm>
            <a:off x="8585200" y="5130800"/>
            <a:ext cx="26416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服务含义</a:t>
            </a:r>
          </a:p>
        </p:txBody>
      </p:sp>
      <p:sp>
        <p:nvSpPr>
          <p:cNvPr id="27" name="文本框 26">
            <a:extLst>
              <a:ext uri="{FF2B5EF4-FFF2-40B4-BE49-F238E27FC236}">
                <a16:creationId xmlns:a16="http://schemas.microsoft.com/office/drawing/2014/main" id="{899ABE50-7475-CD1E-95AA-C5D06D064A9F}"/>
              </a:ext>
            </a:extLst>
          </p:cNvPr>
          <p:cNvSpPr txBox="1"/>
          <p:nvPr/>
        </p:nvSpPr>
        <p:spPr>
          <a:xfrm>
            <a:off x="8585200" y="5676900"/>
            <a:ext cx="26416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延长网络能够持续提供数据回传服务的时间。</a:t>
            </a:r>
          </a:p>
        </p:txBody>
      </p:sp>
    </p:spTree>
    <p:extLst>
      <p:ext uri="{BB962C8B-B14F-4D97-AF65-F5344CB8AC3E}">
        <p14:creationId xmlns:p14="http://schemas.microsoft.com/office/powerpoint/2010/main" val="85712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8D444AF-C8ED-162B-DD98-A0B42791882E}"/>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143B453-FB21-F694-4517-CA49BE976F5F}"/>
              </a:ext>
            </a:extLst>
          </p:cNvPr>
          <p:cNvSpPr txBox="1"/>
          <p:nvPr/>
        </p:nvSpPr>
        <p:spPr>
          <a:xfrm>
            <a:off x="381000" y="165100"/>
            <a:ext cx="9334500" cy="338554"/>
          </a:xfrm>
          <a:prstGeom prst="rect">
            <a:avLst/>
          </a:prstGeom>
          <a:noFill/>
        </p:spPr>
        <p:txBody>
          <a:bodyPr vert="horz" wrap="square" lIns="0" tIns="0" rIns="0" bIns="0" rtlCol="0">
            <a:spAutoFit/>
          </a:bodyPr>
          <a:lstStyle/>
          <a:p>
            <a:r>
              <a:rPr lang="en-US" altLang="zh-CN" sz="2200" b="1">
                <a:solidFill>
                  <a:srgbClr val="FFFFFF"/>
                </a:solidFill>
                <a:latin typeface="Microsoft YaHei" panose="020B0503020204020204" pitchFamily="34" charset="-122"/>
              </a:rPr>
              <a:t>LEADR </a:t>
            </a:r>
            <a:r>
              <a:rPr lang="zh-CN" altLang="en-US" sz="2200" b="1">
                <a:solidFill>
                  <a:srgbClr val="FFFFFF"/>
                </a:solidFill>
                <a:latin typeface="Microsoft YaHei" panose="020B0503020204020204" pitchFamily="34" charset="-122"/>
              </a:rPr>
              <a:t>方法设计</a:t>
            </a:r>
          </a:p>
        </p:txBody>
      </p:sp>
      <p:sp>
        <p:nvSpPr>
          <p:cNvPr id="4" name="文本框 3">
            <a:extLst>
              <a:ext uri="{FF2B5EF4-FFF2-40B4-BE49-F238E27FC236}">
                <a16:creationId xmlns:a16="http://schemas.microsoft.com/office/drawing/2014/main" id="{72C9B9B8-34E1-E448-91D0-5DC2E2E83090}"/>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0C5AB466-B342-703E-03F0-AF24D2BA05FE}"/>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06</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7C482AD2-24F4-4D72-65F7-1CACCF7A803F}"/>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09E410DA-CD2F-9C29-EE1F-6B608A62CE20}"/>
              </a:ext>
            </a:extLst>
          </p:cNvPr>
          <p:cNvSpPr/>
          <p:nvPr/>
        </p:nvSpPr>
        <p:spPr>
          <a:xfrm>
            <a:off x="584200" y="1143000"/>
            <a:ext cx="3810000" cy="4216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6B8B7E6-9609-43DC-3D7E-8A14F16665C5}"/>
              </a:ext>
            </a:extLst>
          </p:cNvPr>
          <p:cNvSpPr/>
          <p:nvPr/>
        </p:nvSpPr>
        <p:spPr>
          <a:xfrm>
            <a:off x="584200" y="1143000"/>
            <a:ext cx="12954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C01F5BA-6C42-B4C5-D70E-9782DBB1DA0C}"/>
              </a:ext>
            </a:extLst>
          </p:cNvPr>
          <p:cNvSpPr txBox="1"/>
          <p:nvPr/>
        </p:nvSpPr>
        <p:spPr>
          <a:xfrm>
            <a:off x="812800" y="1422400"/>
            <a:ext cx="3352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基本思想</a:t>
            </a:r>
          </a:p>
        </p:txBody>
      </p:sp>
      <p:sp>
        <p:nvSpPr>
          <p:cNvPr id="10" name="文本框 9">
            <a:extLst>
              <a:ext uri="{FF2B5EF4-FFF2-40B4-BE49-F238E27FC236}">
                <a16:creationId xmlns:a16="http://schemas.microsoft.com/office/drawing/2014/main" id="{3AC0B8FE-81AD-C008-E131-1CE027F521FC}"/>
              </a:ext>
            </a:extLst>
          </p:cNvPr>
          <p:cNvSpPr txBox="1"/>
          <p:nvPr/>
        </p:nvSpPr>
        <p:spPr>
          <a:xfrm>
            <a:off x="812800" y="1968500"/>
            <a:ext cx="3352800" cy="1292662"/>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将长期能量约束下的全网吞吐优化问题，转化为每个节点在每个时隙内的局部决策。</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节点仅依赖本地状态和邻居广播信息完成下一跳选择与发射功率控制，不需要全局控制器和未来拓扑信息。</a:t>
            </a:r>
          </a:p>
        </p:txBody>
      </p:sp>
      <p:sp>
        <p:nvSpPr>
          <p:cNvPr id="11" name="矩形 10">
            <a:extLst>
              <a:ext uri="{FF2B5EF4-FFF2-40B4-BE49-F238E27FC236}">
                <a16:creationId xmlns:a16="http://schemas.microsoft.com/office/drawing/2014/main" id="{1C5B52C0-30C8-6034-19AD-57740C286858}"/>
              </a:ext>
            </a:extLst>
          </p:cNvPr>
          <p:cNvSpPr/>
          <p:nvPr/>
        </p:nvSpPr>
        <p:spPr>
          <a:xfrm>
            <a:off x="4953000" y="1346200"/>
            <a:ext cx="1524000" cy="1549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B8100BF4-7D6E-C663-9124-BAEBD07F0188}"/>
              </a:ext>
            </a:extLst>
          </p:cNvPr>
          <p:cNvSpPr txBox="1"/>
          <p:nvPr/>
        </p:nvSpPr>
        <p:spPr>
          <a:xfrm>
            <a:off x="5105400" y="1625600"/>
            <a:ext cx="12192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状态广播</a:t>
            </a:r>
          </a:p>
        </p:txBody>
      </p:sp>
      <p:sp>
        <p:nvSpPr>
          <p:cNvPr id="13" name="文本框 12">
            <a:extLst>
              <a:ext uri="{FF2B5EF4-FFF2-40B4-BE49-F238E27FC236}">
                <a16:creationId xmlns:a16="http://schemas.microsoft.com/office/drawing/2014/main" id="{D3ED40C6-AE6E-D97F-B39E-FF94E3E661EC}"/>
              </a:ext>
            </a:extLst>
          </p:cNvPr>
          <p:cNvSpPr txBox="1"/>
          <p:nvPr/>
        </p:nvSpPr>
        <p:spPr>
          <a:xfrm>
            <a:off x="5118100" y="2082800"/>
            <a:ext cx="1193800" cy="553998"/>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位置、速度、剩余能量、数据队列</a:t>
            </a:r>
          </a:p>
        </p:txBody>
      </p:sp>
      <p:cxnSp>
        <p:nvCxnSpPr>
          <p:cNvPr id="14" name="直接连接符 13">
            <a:extLst>
              <a:ext uri="{FF2B5EF4-FFF2-40B4-BE49-F238E27FC236}">
                <a16:creationId xmlns:a16="http://schemas.microsoft.com/office/drawing/2014/main" id="{A96A6695-7DEB-C537-5C64-45F943325393}"/>
              </a:ext>
            </a:extLst>
          </p:cNvPr>
          <p:cNvCxnSpPr/>
          <p:nvPr/>
        </p:nvCxnSpPr>
        <p:spPr>
          <a:xfrm>
            <a:off x="6540500" y="2120900"/>
            <a:ext cx="1905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5" name="矩形 14">
            <a:extLst>
              <a:ext uri="{FF2B5EF4-FFF2-40B4-BE49-F238E27FC236}">
                <a16:creationId xmlns:a16="http://schemas.microsoft.com/office/drawing/2014/main" id="{A0A01F6B-BAD6-05D2-2960-F690A3135852}"/>
              </a:ext>
            </a:extLst>
          </p:cNvPr>
          <p:cNvSpPr/>
          <p:nvPr/>
        </p:nvSpPr>
        <p:spPr>
          <a:xfrm>
            <a:off x="6807200" y="1346200"/>
            <a:ext cx="1524000" cy="1549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04DC7593-3786-8F10-F937-91B359FEB538}"/>
              </a:ext>
            </a:extLst>
          </p:cNvPr>
          <p:cNvSpPr txBox="1"/>
          <p:nvPr/>
        </p:nvSpPr>
        <p:spPr>
          <a:xfrm>
            <a:off x="6959600" y="1625600"/>
            <a:ext cx="12192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功率控制</a:t>
            </a:r>
          </a:p>
        </p:txBody>
      </p:sp>
      <p:sp>
        <p:nvSpPr>
          <p:cNvPr id="17" name="文本框 16">
            <a:extLst>
              <a:ext uri="{FF2B5EF4-FFF2-40B4-BE49-F238E27FC236}">
                <a16:creationId xmlns:a16="http://schemas.microsoft.com/office/drawing/2014/main" id="{72FB3B5C-217F-A6BB-03C1-24703D8DB396}"/>
              </a:ext>
            </a:extLst>
          </p:cNvPr>
          <p:cNvSpPr txBox="1"/>
          <p:nvPr/>
        </p:nvSpPr>
        <p:spPr>
          <a:xfrm>
            <a:off x="6972300" y="2082800"/>
            <a:ext cx="11938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平衡链路收益与通信能耗</a:t>
            </a:r>
          </a:p>
        </p:txBody>
      </p:sp>
      <p:cxnSp>
        <p:nvCxnSpPr>
          <p:cNvPr id="18" name="直接连接符 17">
            <a:extLst>
              <a:ext uri="{FF2B5EF4-FFF2-40B4-BE49-F238E27FC236}">
                <a16:creationId xmlns:a16="http://schemas.microsoft.com/office/drawing/2014/main" id="{FF4A1215-0F24-5960-7B4C-E6F9DF30A09F}"/>
              </a:ext>
            </a:extLst>
          </p:cNvPr>
          <p:cNvCxnSpPr/>
          <p:nvPr/>
        </p:nvCxnSpPr>
        <p:spPr>
          <a:xfrm>
            <a:off x="8394700" y="2120900"/>
            <a:ext cx="1905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9" name="矩形 18">
            <a:extLst>
              <a:ext uri="{FF2B5EF4-FFF2-40B4-BE49-F238E27FC236}">
                <a16:creationId xmlns:a16="http://schemas.microsoft.com/office/drawing/2014/main" id="{D60B3E1F-66E4-4175-8DC5-F1851077C169}"/>
              </a:ext>
            </a:extLst>
          </p:cNvPr>
          <p:cNvSpPr/>
          <p:nvPr/>
        </p:nvSpPr>
        <p:spPr>
          <a:xfrm>
            <a:off x="8661400" y="1346200"/>
            <a:ext cx="1524000" cy="1549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0FFD23F-24A8-5DAA-DE76-53536ABA7FB7}"/>
              </a:ext>
            </a:extLst>
          </p:cNvPr>
          <p:cNvSpPr txBox="1"/>
          <p:nvPr/>
        </p:nvSpPr>
        <p:spPr>
          <a:xfrm>
            <a:off x="8813800" y="1625600"/>
            <a:ext cx="12192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链路评估</a:t>
            </a:r>
          </a:p>
        </p:txBody>
      </p:sp>
      <p:sp>
        <p:nvSpPr>
          <p:cNvPr id="21" name="文本框 20">
            <a:extLst>
              <a:ext uri="{FF2B5EF4-FFF2-40B4-BE49-F238E27FC236}">
                <a16:creationId xmlns:a16="http://schemas.microsoft.com/office/drawing/2014/main" id="{958DC011-54EF-6EBF-595D-EB118B7FD037}"/>
              </a:ext>
            </a:extLst>
          </p:cNvPr>
          <p:cNvSpPr txBox="1"/>
          <p:nvPr/>
        </p:nvSpPr>
        <p:spPr>
          <a:xfrm>
            <a:off x="8826500" y="2082800"/>
            <a:ext cx="11938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融合速率、能量和地理进度</a:t>
            </a:r>
          </a:p>
        </p:txBody>
      </p:sp>
      <p:cxnSp>
        <p:nvCxnSpPr>
          <p:cNvPr id="22" name="直接连接符 21">
            <a:extLst>
              <a:ext uri="{FF2B5EF4-FFF2-40B4-BE49-F238E27FC236}">
                <a16:creationId xmlns:a16="http://schemas.microsoft.com/office/drawing/2014/main" id="{1BC5E0F3-CA5C-949E-608E-962DD15A2EF5}"/>
              </a:ext>
            </a:extLst>
          </p:cNvPr>
          <p:cNvCxnSpPr/>
          <p:nvPr/>
        </p:nvCxnSpPr>
        <p:spPr>
          <a:xfrm>
            <a:off x="10248900" y="2120900"/>
            <a:ext cx="1905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23" name="矩形 22">
            <a:extLst>
              <a:ext uri="{FF2B5EF4-FFF2-40B4-BE49-F238E27FC236}">
                <a16:creationId xmlns:a16="http://schemas.microsoft.com/office/drawing/2014/main" id="{76EFE58E-7A9A-E783-7DAB-AB70012DB7F4}"/>
              </a:ext>
            </a:extLst>
          </p:cNvPr>
          <p:cNvSpPr/>
          <p:nvPr/>
        </p:nvSpPr>
        <p:spPr>
          <a:xfrm>
            <a:off x="10515600" y="1346200"/>
            <a:ext cx="1524000" cy="1549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17308238-9AA9-CD57-CD86-592F0C3DF026}"/>
              </a:ext>
            </a:extLst>
          </p:cNvPr>
          <p:cNvSpPr txBox="1"/>
          <p:nvPr/>
        </p:nvSpPr>
        <p:spPr>
          <a:xfrm>
            <a:off x="10668000" y="1625600"/>
            <a:ext cx="12192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路由执行</a:t>
            </a:r>
          </a:p>
        </p:txBody>
      </p:sp>
      <p:sp>
        <p:nvSpPr>
          <p:cNvPr id="25" name="文本框 24">
            <a:extLst>
              <a:ext uri="{FF2B5EF4-FFF2-40B4-BE49-F238E27FC236}">
                <a16:creationId xmlns:a16="http://schemas.microsoft.com/office/drawing/2014/main" id="{919A745E-1188-780C-BC8E-A20539AF5C2B}"/>
              </a:ext>
            </a:extLst>
          </p:cNvPr>
          <p:cNvSpPr txBox="1"/>
          <p:nvPr/>
        </p:nvSpPr>
        <p:spPr>
          <a:xfrm>
            <a:off x="10680700" y="2082800"/>
            <a:ext cx="11938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选择权重最大的合法下一跳</a:t>
            </a:r>
          </a:p>
        </p:txBody>
      </p:sp>
      <p:sp>
        <p:nvSpPr>
          <p:cNvPr id="26" name="矩形 25">
            <a:extLst>
              <a:ext uri="{FF2B5EF4-FFF2-40B4-BE49-F238E27FC236}">
                <a16:creationId xmlns:a16="http://schemas.microsoft.com/office/drawing/2014/main" id="{49808694-406D-F514-319F-A3EAB10E8266}"/>
              </a:ext>
            </a:extLst>
          </p:cNvPr>
          <p:cNvSpPr/>
          <p:nvPr/>
        </p:nvSpPr>
        <p:spPr>
          <a:xfrm>
            <a:off x="4953000" y="3556000"/>
            <a:ext cx="7086600" cy="15748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B17E72C6-CDBE-D50B-ABBC-6302CAB4A4A4}"/>
              </a:ext>
            </a:extLst>
          </p:cNvPr>
          <p:cNvSpPr/>
          <p:nvPr/>
        </p:nvSpPr>
        <p:spPr>
          <a:xfrm>
            <a:off x="4953000" y="3556000"/>
            <a:ext cx="19050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5764AA46-5DBE-D74B-5415-781A5D55CF43}"/>
              </a:ext>
            </a:extLst>
          </p:cNvPr>
          <p:cNvSpPr txBox="1"/>
          <p:nvPr/>
        </p:nvSpPr>
        <p:spPr>
          <a:xfrm>
            <a:off x="5181600" y="3835400"/>
            <a:ext cx="66294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方法特点</a:t>
            </a:r>
          </a:p>
        </p:txBody>
      </p:sp>
      <p:sp>
        <p:nvSpPr>
          <p:cNvPr id="29" name="文本框 28">
            <a:extLst>
              <a:ext uri="{FF2B5EF4-FFF2-40B4-BE49-F238E27FC236}">
                <a16:creationId xmlns:a16="http://schemas.microsoft.com/office/drawing/2014/main" id="{98563438-6227-5BB7-5066-B6E026C53CBA}"/>
              </a:ext>
            </a:extLst>
          </p:cNvPr>
          <p:cNvSpPr txBox="1"/>
          <p:nvPr/>
        </p:nvSpPr>
        <p:spPr>
          <a:xfrm>
            <a:off x="5181600" y="4381500"/>
            <a:ext cx="66294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单节点单时隙复杂度为 </a:t>
            </a:r>
            <a:r>
              <a:rPr lang="en-US" altLang="zh-CN" sz="1400">
                <a:solidFill>
                  <a:srgbClr val="222222"/>
                </a:solidFill>
                <a:latin typeface="Microsoft YaHei" panose="020B0503020204020204" pitchFamily="34" charset="-122"/>
              </a:rPr>
              <a:t>O(N_i)</a:t>
            </a:r>
            <a:r>
              <a:rPr lang="zh-CN" altLang="en-US" sz="1400">
                <a:solidFill>
                  <a:srgbClr val="222222"/>
                </a:solidFill>
                <a:latin typeface="Microsoft YaHei" panose="020B0503020204020204" pitchFamily="34" charset="-122"/>
              </a:rPr>
              <a:t>，适合机载实时执行。</a:t>
            </a:r>
          </a:p>
          <a:p>
            <a:r>
              <a:rPr lang="zh-CN" altLang="en-US" sz="1400">
                <a:solidFill>
                  <a:srgbClr val="222222"/>
                </a:solidFill>
                <a:latin typeface="Microsoft YaHei" panose="020B0503020204020204" pitchFamily="34" charset="-122"/>
              </a:rPr>
              <a:t>通过虚拟能量队列刻画长期能量约束，减少局部能量热点。</a:t>
            </a:r>
          </a:p>
          <a:p>
            <a:r>
              <a:rPr lang="zh-CN" altLang="en-US" sz="1400">
                <a:solidFill>
                  <a:srgbClr val="222222"/>
                </a:solidFill>
                <a:latin typeface="Microsoft YaHei" panose="020B0503020204020204" pitchFamily="34" charset="-122"/>
              </a:rPr>
              <a:t>在吞吐收益、链路代价和节点剩余能量之间进行联合权衡。</a:t>
            </a:r>
          </a:p>
        </p:txBody>
      </p:sp>
    </p:spTree>
    <p:extLst>
      <p:ext uri="{BB962C8B-B14F-4D97-AF65-F5344CB8AC3E}">
        <p14:creationId xmlns:p14="http://schemas.microsoft.com/office/powerpoint/2010/main" val="888244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F26D876-9486-4427-1F06-8877019B0179}"/>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7F1AF25D-04F8-8C9D-712E-F1237111C5D9}"/>
              </a:ext>
            </a:extLst>
          </p:cNvPr>
          <p:cNvSpPr txBox="1"/>
          <p:nvPr/>
        </p:nvSpPr>
        <p:spPr>
          <a:xfrm>
            <a:off x="381000" y="165100"/>
            <a:ext cx="9334500" cy="338554"/>
          </a:xfrm>
          <a:prstGeom prst="rect">
            <a:avLst/>
          </a:prstGeom>
          <a:noFill/>
        </p:spPr>
        <p:txBody>
          <a:bodyPr vert="horz" wrap="square" lIns="0" tIns="0" rIns="0" bIns="0" rtlCol="0">
            <a:spAutoFit/>
          </a:bodyPr>
          <a:lstStyle/>
          <a:p>
            <a:r>
              <a:rPr lang="en-US" altLang="zh-CN" sz="2200" b="1">
                <a:solidFill>
                  <a:srgbClr val="FFFFFF"/>
                </a:solidFill>
                <a:latin typeface="Microsoft YaHei" panose="020B0503020204020204" pitchFamily="34" charset="-122"/>
              </a:rPr>
              <a:t>RQ1 </a:t>
            </a:r>
            <a:r>
              <a:rPr lang="zh-CN" altLang="en-US" sz="2200" b="1">
                <a:solidFill>
                  <a:srgbClr val="FFFFFF"/>
                </a:solidFill>
                <a:latin typeface="Microsoft YaHei" panose="020B0503020204020204" pitchFamily="34" charset="-122"/>
              </a:rPr>
              <a:t>实验结果</a:t>
            </a:r>
          </a:p>
        </p:txBody>
      </p:sp>
      <p:sp>
        <p:nvSpPr>
          <p:cNvPr id="4" name="文本框 3">
            <a:extLst>
              <a:ext uri="{FF2B5EF4-FFF2-40B4-BE49-F238E27FC236}">
                <a16:creationId xmlns:a16="http://schemas.microsoft.com/office/drawing/2014/main" id="{BBEBBA06-59E8-E264-CDA9-C18F2588FC6C}"/>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A603762F-74C4-CA40-E746-D1CEFC49D641}"/>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07</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FAF2C1F3-1AA2-0D12-896D-294DBA0D6BC0}"/>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78DE9A55-05E9-584E-8885-6185B1F4A606}"/>
              </a:ext>
            </a:extLst>
          </p:cNvPr>
          <p:cNvSpPr/>
          <p:nvPr/>
        </p:nvSpPr>
        <p:spPr>
          <a:xfrm>
            <a:off x="482600" y="1168400"/>
            <a:ext cx="3238500" cy="4318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BDF2AA4-3EF3-3A50-FAEA-BEBB9835C807}"/>
              </a:ext>
            </a:extLst>
          </p:cNvPr>
          <p:cNvSpPr/>
          <p:nvPr/>
        </p:nvSpPr>
        <p:spPr>
          <a:xfrm>
            <a:off x="482600" y="1168400"/>
            <a:ext cx="110109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75A0502-AA35-B9A2-9D02-123A1CD2E7B6}"/>
              </a:ext>
            </a:extLst>
          </p:cNvPr>
          <p:cNvSpPr txBox="1"/>
          <p:nvPr/>
        </p:nvSpPr>
        <p:spPr>
          <a:xfrm>
            <a:off x="711200" y="1447800"/>
            <a:ext cx="27813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实验设置与结论</a:t>
            </a:r>
          </a:p>
        </p:txBody>
      </p:sp>
      <p:sp>
        <p:nvSpPr>
          <p:cNvPr id="10" name="文本框 9">
            <a:extLst>
              <a:ext uri="{FF2B5EF4-FFF2-40B4-BE49-F238E27FC236}">
                <a16:creationId xmlns:a16="http://schemas.microsoft.com/office/drawing/2014/main" id="{58B27FD2-2038-D720-B9C8-E8C59C68ACF0}"/>
              </a:ext>
            </a:extLst>
          </p:cNvPr>
          <p:cNvSpPr txBox="1"/>
          <p:nvPr/>
        </p:nvSpPr>
        <p:spPr>
          <a:xfrm>
            <a:off x="711200" y="1993900"/>
            <a:ext cx="2781300" cy="2585323"/>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离散事件仿真，任务周期 </a:t>
            </a:r>
            <a:r>
              <a:rPr lang="en-US" altLang="zh-CN" sz="1400">
                <a:solidFill>
                  <a:srgbClr val="222222"/>
                </a:solidFill>
                <a:latin typeface="Microsoft YaHei" panose="020B0503020204020204" pitchFamily="34" charset="-122"/>
              </a:rPr>
              <a:t>3600 </a:t>
            </a:r>
            <a:r>
              <a:rPr lang="zh-CN" altLang="en-US" sz="1400">
                <a:solidFill>
                  <a:srgbClr val="222222"/>
                </a:solidFill>
                <a:latin typeface="Microsoft YaHei" panose="020B0503020204020204" pitchFamily="34" charset="-122"/>
              </a:rPr>
              <a:t>秒。</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对比 </a:t>
            </a:r>
            <a:r>
              <a:rPr lang="en-US" altLang="zh-CN" sz="1400">
                <a:solidFill>
                  <a:srgbClr val="222222"/>
                </a:solidFill>
                <a:latin typeface="Microsoft YaHei" panose="020B0503020204020204" pitchFamily="34" charset="-122"/>
              </a:rPr>
              <a:t>GPSR</a:t>
            </a:r>
            <a:r>
              <a:rPr lang="zh-CN" altLang="en-US" sz="1400">
                <a:solidFill>
                  <a:srgbClr val="222222"/>
                </a:solidFill>
                <a:latin typeface="Microsoft YaHei" panose="020B0503020204020204" pitchFamily="34" charset="-122"/>
              </a:rPr>
              <a:t>、</a:t>
            </a:r>
            <a:r>
              <a:rPr lang="en-US" altLang="zh-CN" sz="1400">
                <a:solidFill>
                  <a:srgbClr val="222222"/>
                </a:solidFill>
                <a:latin typeface="Microsoft YaHei" panose="020B0503020204020204" pitchFamily="34" charset="-122"/>
              </a:rPr>
              <a:t>LB-GPSR</a:t>
            </a:r>
            <a:r>
              <a:rPr lang="zh-CN" altLang="en-US" sz="1400">
                <a:solidFill>
                  <a:srgbClr val="222222"/>
                </a:solidFill>
                <a:latin typeface="Microsoft YaHei" panose="020B0503020204020204" pitchFamily="34" charset="-122"/>
              </a:rPr>
              <a:t>、</a:t>
            </a:r>
            <a:r>
              <a:rPr lang="en-US" altLang="zh-CN" sz="1400">
                <a:solidFill>
                  <a:srgbClr val="222222"/>
                </a:solidFill>
                <a:latin typeface="Microsoft YaHei" panose="020B0503020204020204" pitchFamily="34" charset="-122"/>
              </a:rPr>
              <a:t>ACO </a:t>
            </a:r>
            <a:r>
              <a:rPr lang="zh-CN" altLang="en-US" sz="1400">
                <a:solidFill>
                  <a:srgbClr val="222222"/>
                </a:solidFill>
                <a:latin typeface="Microsoft YaHei" panose="020B0503020204020204" pitchFamily="34" charset="-122"/>
              </a:rPr>
              <a:t>和 </a:t>
            </a:r>
            <a:r>
              <a:rPr lang="en-US" altLang="zh-CN" sz="1400">
                <a:solidFill>
                  <a:srgbClr val="222222"/>
                </a:solidFill>
                <a:latin typeface="Microsoft YaHei" panose="020B0503020204020204" pitchFamily="34" charset="-122"/>
              </a:rPr>
              <a:t>RLFR</a:t>
            </a:r>
            <a:r>
              <a:rPr lang="zh-CN" altLang="en-US" sz="1400">
                <a:solidFill>
                  <a:srgbClr val="222222"/>
                </a:solidFill>
                <a:latin typeface="Microsoft YaHei" panose="020B0503020204020204" pitchFamily="34" charset="-122"/>
              </a:rPr>
              <a:t>。</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考察无人机数量、通信范围和飞行速度变化。</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结果表明，</a:t>
            </a:r>
            <a:r>
              <a:rPr lang="en-US" altLang="zh-CN" sz="1400">
                <a:solidFill>
                  <a:srgbClr val="222222"/>
                </a:solidFill>
                <a:latin typeface="Microsoft YaHei" panose="020B0503020204020204" pitchFamily="34" charset="-122"/>
              </a:rPr>
              <a:t>LEADR </a:t>
            </a:r>
            <a:r>
              <a:rPr lang="zh-CN" altLang="en-US" sz="1400">
                <a:solidFill>
                  <a:srgbClr val="222222"/>
                </a:solidFill>
                <a:latin typeface="Microsoft YaHei" panose="020B0503020204020204" pitchFamily="34" charset="-122"/>
              </a:rPr>
              <a:t>在多种动态条件下维持较高吞吐和较低丢包率，同时改善能量均衡并延长网络服务周期。</a:t>
            </a:r>
          </a:p>
        </p:txBody>
      </p:sp>
      <p:sp>
        <p:nvSpPr>
          <p:cNvPr id="11" name="矩形 10">
            <a:extLst>
              <a:ext uri="{FF2B5EF4-FFF2-40B4-BE49-F238E27FC236}">
                <a16:creationId xmlns:a16="http://schemas.microsoft.com/office/drawing/2014/main" id="{A011B6F6-BCDE-B512-29AD-10B06F30F150}"/>
              </a:ext>
            </a:extLst>
          </p:cNvPr>
          <p:cNvSpPr/>
          <p:nvPr/>
        </p:nvSpPr>
        <p:spPr>
          <a:xfrm>
            <a:off x="4089400" y="1168400"/>
            <a:ext cx="3556000" cy="2159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63A5A0D-8D42-AC89-59A6-2DF4CC9C33B9}"/>
              </a:ext>
            </a:extLst>
          </p:cNvPr>
          <p:cNvSpPr/>
          <p:nvPr/>
        </p:nvSpPr>
        <p:spPr>
          <a:xfrm>
            <a:off x="4191000" y="12700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7476394E-D2CD-DCB0-95C8-F0B9B4580380}"/>
              </a:ext>
            </a:extLst>
          </p:cNvPr>
          <p:cNvSpPr txBox="1"/>
          <p:nvPr/>
        </p:nvSpPr>
        <p:spPr>
          <a:xfrm>
            <a:off x="4279900" y="13335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吞吐量</a:t>
            </a:r>
          </a:p>
        </p:txBody>
      </p:sp>
      <p:pic>
        <p:nvPicPr>
          <p:cNvPr id="15" name="图片 14">
            <a:extLst>
              <a:ext uri="{FF2B5EF4-FFF2-40B4-BE49-F238E27FC236}">
                <a16:creationId xmlns:a16="http://schemas.microsoft.com/office/drawing/2014/main" id="{B4D40DE3-6FA2-4EEA-FF9B-EF169E7DC72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241963" y="1600200"/>
            <a:ext cx="3250874" cy="1600200"/>
          </a:xfrm>
          <a:prstGeom prst="rect">
            <a:avLst/>
          </a:prstGeom>
        </p:spPr>
      </p:pic>
      <p:sp>
        <p:nvSpPr>
          <p:cNvPr id="16" name="矩形 15">
            <a:extLst>
              <a:ext uri="{FF2B5EF4-FFF2-40B4-BE49-F238E27FC236}">
                <a16:creationId xmlns:a16="http://schemas.microsoft.com/office/drawing/2014/main" id="{81513601-E71A-43D9-6E03-C772EC26ED66}"/>
              </a:ext>
            </a:extLst>
          </p:cNvPr>
          <p:cNvSpPr/>
          <p:nvPr/>
        </p:nvSpPr>
        <p:spPr>
          <a:xfrm>
            <a:off x="8128000" y="1168400"/>
            <a:ext cx="3556000" cy="2159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04AFF954-68C2-8897-019B-8CFB81DA8150}"/>
              </a:ext>
            </a:extLst>
          </p:cNvPr>
          <p:cNvSpPr/>
          <p:nvPr/>
        </p:nvSpPr>
        <p:spPr>
          <a:xfrm>
            <a:off x="8229600" y="12700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12765850-E2E9-78E2-572F-E5BE3BE2C3B5}"/>
              </a:ext>
            </a:extLst>
          </p:cNvPr>
          <p:cNvSpPr txBox="1"/>
          <p:nvPr/>
        </p:nvSpPr>
        <p:spPr>
          <a:xfrm>
            <a:off x="8318500" y="13335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丢包率</a:t>
            </a:r>
          </a:p>
        </p:txBody>
      </p:sp>
      <p:pic>
        <p:nvPicPr>
          <p:cNvPr id="20" name="图片 19">
            <a:extLst>
              <a:ext uri="{FF2B5EF4-FFF2-40B4-BE49-F238E27FC236}">
                <a16:creationId xmlns:a16="http://schemas.microsoft.com/office/drawing/2014/main" id="{392EAA22-82CF-2183-C44B-A4BBA6ABF6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86240" y="1600200"/>
            <a:ext cx="3239520" cy="1600200"/>
          </a:xfrm>
          <a:prstGeom prst="rect">
            <a:avLst/>
          </a:prstGeom>
        </p:spPr>
      </p:pic>
      <p:sp>
        <p:nvSpPr>
          <p:cNvPr id="21" name="矩形 20">
            <a:extLst>
              <a:ext uri="{FF2B5EF4-FFF2-40B4-BE49-F238E27FC236}">
                <a16:creationId xmlns:a16="http://schemas.microsoft.com/office/drawing/2014/main" id="{CD6E3DE1-F4DC-21B5-6FA6-5C9FDEF8CBEB}"/>
              </a:ext>
            </a:extLst>
          </p:cNvPr>
          <p:cNvSpPr/>
          <p:nvPr/>
        </p:nvSpPr>
        <p:spPr>
          <a:xfrm>
            <a:off x="4089400" y="3810000"/>
            <a:ext cx="3556000" cy="2159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7FE115D-374F-3A99-1B6E-6F16471D904D}"/>
              </a:ext>
            </a:extLst>
          </p:cNvPr>
          <p:cNvSpPr/>
          <p:nvPr/>
        </p:nvSpPr>
        <p:spPr>
          <a:xfrm>
            <a:off x="4191000" y="39116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00D8D69-4730-E438-B737-6EC338E5285B}"/>
              </a:ext>
            </a:extLst>
          </p:cNvPr>
          <p:cNvSpPr txBox="1"/>
          <p:nvPr/>
        </p:nvSpPr>
        <p:spPr>
          <a:xfrm>
            <a:off x="4279900" y="39751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能量均衡</a:t>
            </a:r>
          </a:p>
        </p:txBody>
      </p:sp>
      <p:pic>
        <p:nvPicPr>
          <p:cNvPr id="25" name="图片 24">
            <a:extLst>
              <a:ext uri="{FF2B5EF4-FFF2-40B4-BE49-F238E27FC236}">
                <a16:creationId xmlns:a16="http://schemas.microsoft.com/office/drawing/2014/main" id="{C28123E4-57AE-A758-82F3-0CA0AC3D144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247640" y="4241800"/>
            <a:ext cx="3239520" cy="1600200"/>
          </a:xfrm>
          <a:prstGeom prst="rect">
            <a:avLst/>
          </a:prstGeom>
        </p:spPr>
      </p:pic>
      <p:sp>
        <p:nvSpPr>
          <p:cNvPr id="26" name="矩形 25">
            <a:extLst>
              <a:ext uri="{FF2B5EF4-FFF2-40B4-BE49-F238E27FC236}">
                <a16:creationId xmlns:a16="http://schemas.microsoft.com/office/drawing/2014/main" id="{1A26F51D-3CFE-C7B8-72C7-55A3BB7A2E4E}"/>
              </a:ext>
            </a:extLst>
          </p:cNvPr>
          <p:cNvSpPr/>
          <p:nvPr/>
        </p:nvSpPr>
        <p:spPr>
          <a:xfrm>
            <a:off x="8128000" y="3810000"/>
            <a:ext cx="3556000" cy="2159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EFE925AF-2B0E-B481-F7F3-2C26434FC6E5}"/>
              </a:ext>
            </a:extLst>
          </p:cNvPr>
          <p:cNvSpPr/>
          <p:nvPr/>
        </p:nvSpPr>
        <p:spPr>
          <a:xfrm>
            <a:off x="8229600" y="39116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5731DF6E-6D3E-DD3B-01B8-89785746B7E2}"/>
              </a:ext>
            </a:extLst>
          </p:cNvPr>
          <p:cNvSpPr txBox="1"/>
          <p:nvPr/>
        </p:nvSpPr>
        <p:spPr>
          <a:xfrm>
            <a:off x="8318500" y="39751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生命周期</a:t>
            </a:r>
          </a:p>
        </p:txBody>
      </p:sp>
      <p:pic>
        <p:nvPicPr>
          <p:cNvPr id="30" name="图片 29">
            <a:extLst>
              <a:ext uri="{FF2B5EF4-FFF2-40B4-BE49-F238E27FC236}">
                <a16:creationId xmlns:a16="http://schemas.microsoft.com/office/drawing/2014/main" id="{20DCDFA5-8010-E5D5-34EC-7552A4EEFDA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280564" y="4241800"/>
            <a:ext cx="3250874" cy="1600200"/>
          </a:xfrm>
          <a:prstGeom prst="rect">
            <a:avLst/>
          </a:prstGeom>
        </p:spPr>
      </p:pic>
    </p:spTree>
    <p:extLst>
      <p:ext uri="{BB962C8B-B14F-4D97-AF65-F5344CB8AC3E}">
        <p14:creationId xmlns:p14="http://schemas.microsoft.com/office/powerpoint/2010/main" val="248735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A30F85A-70D7-3B8D-B06D-396DDBF2EAC0}"/>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397007E7-CB3C-1C46-8E4B-3818E9F49EC4}"/>
              </a:ext>
            </a:extLst>
          </p:cNvPr>
          <p:cNvSpPr txBox="1"/>
          <p:nvPr/>
        </p:nvSpPr>
        <p:spPr>
          <a:xfrm>
            <a:off x="381000" y="165100"/>
            <a:ext cx="9334500" cy="338554"/>
          </a:xfrm>
          <a:prstGeom prst="rect">
            <a:avLst/>
          </a:prstGeom>
          <a:noFill/>
        </p:spPr>
        <p:txBody>
          <a:bodyPr vert="horz" wrap="square" lIns="0" tIns="0" rIns="0" bIns="0" rtlCol="0">
            <a:spAutoFit/>
          </a:bodyPr>
          <a:lstStyle/>
          <a:p>
            <a:r>
              <a:rPr lang="en-US" altLang="zh-CN" sz="2200" b="1">
                <a:solidFill>
                  <a:srgbClr val="FFFFFF"/>
                </a:solidFill>
                <a:latin typeface="Microsoft YaHei" panose="020B0503020204020204" pitchFamily="34" charset="-122"/>
              </a:rPr>
              <a:t>RQ2 </a:t>
            </a:r>
            <a:r>
              <a:rPr lang="zh-CN" altLang="en-US" sz="2200" b="1">
                <a:solidFill>
                  <a:srgbClr val="FFFFFF"/>
                </a:solidFill>
                <a:latin typeface="Microsoft YaHei" panose="020B0503020204020204" pitchFamily="34" charset="-122"/>
              </a:rPr>
              <a:t>选择性语义通信</a:t>
            </a:r>
          </a:p>
        </p:txBody>
      </p:sp>
      <p:sp>
        <p:nvSpPr>
          <p:cNvPr id="4" name="文本框 3">
            <a:extLst>
              <a:ext uri="{FF2B5EF4-FFF2-40B4-BE49-F238E27FC236}">
                <a16:creationId xmlns:a16="http://schemas.microsoft.com/office/drawing/2014/main" id="{7422737C-FCEF-414E-E3D0-63FA768A259A}"/>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979E237D-AD1B-417F-69C0-D99DC42E2136}"/>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08</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25636212-2585-8892-A2AC-B363D95A7DD3}"/>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22D6FC93-D6B0-3F05-98FF-8195B4E18F14}"/>
              </a:ext>
            </a:extLst>
          </p:cNvPr>
          <p:cNvSpPr/>
          <p:nvPr/>
        </p:nvSpPr>
        <p:spPr>
          <a:xfrm>
            <a:off x="533400" y="1168400"/>
            <a:ext cx="3619500" cy="1295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86673B0-0B00-E043-A1D6-08DF1D662A4E}"/>
              </a:ext>
            </a:extLst>
          </p:cNvPr>
          <p:cNvSpPr/>
          <p:nvPr/>
        </p:nvSpPr>
        <p:spPr>
          <a:xfrm>
            <a:off x="533400" y="1168400"/>
            <a:ext cx="123063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94D9635C-A6AE-F2D4-8860-8EEF9B7DB547}"/>
              </a:ext>
            </a:extLst>
          </p:cNvPr>
          <p:cNvSpPr txBox="1"/>
          <p:nvPr/>
        </p:nvSpPr>
        <p:spPr>
          <a:xfrm>
            <a:off x="762000" y="1447800"/>
            <a:ext cx="31623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问题背景</a:t>
            </a:r>
          </a:p>
        </p:txBody>
      </p:sp>
      <p:sp>
        <p:nvSpPr>
          <p:cNvPr id="10" name="文本框 9">
            <a:extLst>
              <a:ext uri="{FF2B5EF4-FFF2-40B4-BE49-F238E27FC236}">
                <a16:creationId xmlns:a16="http://schemas.microsoft.com/office/drawing/2014/main" id="{1B3E1107-6AF1-BDEF-F07C-D8687AB04AEB}"/>
              </a:ext>
            </a:extLst>
          </p:cNvPr>
          <p:cNvSpPr txBox="1"/>
          <p:nvPr/>
        </p:nvSpPr>
        <p:spPr>
          <a:xfrm>
            <a:off x="762000" y="1993900"/>
            <a:ext cx="31623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多智能体视觉推理服务中，单个智能体通常只能获得局部观测。全量通信会带来冗余和成本。</a:t>
            </a:r>
          </a:p>
        </p:txBody>
      </p:sp>
      <p:sp>
        <p:nvSpPr>
          <p:cNvPr id="11" name="矩形 10">
            <a:extLst>
              <a:ext uri="{FF2B5EF4-FFF2-40B4-BE49-F238E27FC236}">
                <a16:creationId xmlns:a16="http://schemas.microsoft.com/office/drawing/2014/main" id="{12AEFFF8-930A-CA8C-4E4A-E05AF5CEB000}"/>
              </a:ext>
            </a:extLst>
          </p:cNvPr>
          <p:cNvSpPr/>
          <p:nvPr/>
        </p:nvSpPr>
        <p:spPr>
          <a:xfrm>
            <a:off x="533400" y="2819400"/>
            <a:ext cx="3619500" cy="1295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C27FE1F6-B2EA-DC4F-B827-74D867E0390B}"/>
              </a:ext>
            </a:extLst>
          </p:cNvPr>
          <p:cNvSpPr/>
          <p:nvPr/>
        </p:nvSpPr>
        <p:spPr>
          <a:xfrm>
            <a:off x="533400" y="2819400"/>
            <a:ext cx="123063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CFCAAF56-6735-7FB0-B3CF-346FE309A2C0}"/>
              </a:ext>
            </a:extLst>
          </p:cNvPr>
          <p:cNvSpPr txBox="1"/>
          <p:nvPr/>
        </p:nvSpPr>
        <p:spPr>
          <a:xfrm>
            <a:off x="762000" y="3098800"/>
            <a:ext cx="31623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研究问题</a:t>
            </a:r>
          </a:p>
        </p:txBody>
      </p:sp>
      <p:sp>
        <p:nvSpPr>
          <p:cNvPr id="14" name="文本框 13">
            <a:extLst>
              <a:ext uri="{FF2B5EF4-FFF2-40B4-BE49-F238E27FC236}">
                <a16:creationId xmlns:a16="http://schemas.microsoft.com/office/drawing/2014/main" id="{60F87CFD-74FC-09D2-AB29-83350D00CB39}"/>
              </a:ext>
            </a:extLst>
          </p:cNvPr>
          <p:cNvSpPr txBox="1"/>
          <p:nvPr/>
        </p:nvSpPr>
        <p:spPr>
          <a:xfrm>
            <a:off x="762000" y="3644900"/>
            <a:ext cx="31623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在有限通信预算、时延和链路可靠性约束下，选择哪条语义消息、发送给谁，并采用何种语义粒度。</a:t>
            </a:r>
          </a:p>
        </p:txBody>
      </p:sp>
      <p:sp>
        <p:nvSpPr>
          <p:cNvPr id="15" name="矩形 14">
            <a:extLst>
              <a:ext uri="{FF2B5EF4-FFF2-40B4-BE49-F238E27FC236}">
                <a16:creationId xmlns:a16="http://schemas.microsoft.com/office/drawing/2014/main" id="{D9C69E0E-C0AD-62F3-28B6-590A61D71F7F}"/>
              </a:ext>
            </a:extLst>
          </p:cNvPr>
          <p:cNvSpPr/>
          <p:nvPr/>
        </p:nvSpPr>
        <p:spPr>
          <a:xfrm>
            <a:off x="533400" y="4470400"/>
            <a:ext cx="3619500" cy="1295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BD17344C-3517-2A71-C670-353F260A6DE6}"/>
              </a:ext>
            </a:extLst>
          </p:cNvPr>
          <p:cNvSpPr/>
          <p:nvPr/>
        </p:nvSpPr>
        <p:spPr>
          <a:xfrm>
            <a:off x="533400" y="4470400"/>
            <a:ext cx="123063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74C77EB6-9B67-BA51-17EA-829B86347431}"/>
              </a:ext>
            </a:extLst>
          </p:cNvPr>
          <p:cNvSpPr txBox="1"/>
          <p:nvPr/>
        </p:nvSpPr>
        <p:spPr>
          <a:xfrm>
            <a:off x="762000" y="4749800"/>
            <a:ext cx="31623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解决思路</a:t>
            </a:r>
          </a:p>
        </p:txBody>
      </p:sp>
      <p:sp>
        <p:nvSpPr>
          <p:cNvPr id="18" name="文本框 17">
            <a:extLst>
              <a:ext uri="{FF2B5EF4-FFF2-40B4-BE49-F238E27FC236}">
                <a16:creationId xmlns:a16="http://schemas.microsoft.com/office/drawing/2014/main" id="{5FF3FBEC-0A3C-C3B5-FBC6-7262922B1461}"/>
              </a:ext>
            </a:extLst>
          </p:cNvPr>
          <p:cNvSpPr txBox="1"/>
          <p:nvPr/>
        </p:nvSpPr>
        <p:spPr>
          <a:xfrm>
            <a:off x="762000" y="5295900"/>
            <a:ext cx="31623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用冻结 </a:t>
            </a:r>
            <a:r>
              <a:rPr lang="en-US" altLang="zh-CN" sz="1400">
                <a:solidFill>
                  <a:srgbClr val="222222"/>
                </a:solidFill>
                <a:latin typeface="Microsoft YaHei" panose="020B0503020204020204" pitchFamily="34" charset="-122"/>
              </a:rPr>
              <a:t>VLM/LLM </a:t>
            </a:r>
            <a:r>
              <a:rPr lang="zh-CN" altLang="en-US" sz="1400">
                <a:solidFill>
                  <a:srgbClr val="222222"/>
                </a:solidFill>
                <a:latin typeface="Microsoft YaHei" panose="020B0503020204020204" pitchFamily="34" charset="-122"/>
              </a:rPr>
              <a:t>离线构造语义轨迹，再用链路感知强化学习策略进行选择性通信。</a:t>
            </a:r>
          </a:p>
        </p:txBody>
      </p:sp>
      <p:sp>
        <p:nvSpPr>
          <p:cNvPr id="19" name="矩形 18">
            <a:extLst>
              <a:ext uri="{FF2B5EF4-FFF2-40B4-BE49-F238E27FC236}">
                <a16:creationId xmlns:a16="http://schemas.microsoft.com/office/drawing/2014/main" id="{A480BEA1-08E6-4FC4-5333-DE5927AC9CF5}"/>
              </a:ext>
            </a:extLst>
          </p:cNvPr>
          <p:cNvSpPr/>
          <p:nvPr/>
        </p:nvSpPr>
        <p:spPr>
          <a:xfrm>
            <a:off x="4572000" y="1168400"/>
            <a:ext cx="6985000" cy="45974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6FC58E6F-5426-19EF-7685-765BC221AEB4}"/>
              </a:ext>
            </a:extLst>
          </p:cNvPr>
          <p:cNvSpPr/>
          <p:nvPr/>
        </p:nvSpPr>
        <p:spPr>
          <a:xfrm>
            <a:off x="4673600" y="12700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170FC571-7870-6E91-3069-204452240D27}"/>
              </a:ext>
            </a:extLst>
          </p:cNvPr>
          <p:cNvSpPr txBox="1"/>
          <p:nvPr/>
        </p:nvSpPr>
        <p:spPr>
          <a:xfrm>
            <a:off x="4762500" y="1333500"/>
            <a:ext cx="1727200" cy="307777"/>
          </a:xfrm>
          <a:prstGeom prst="rect">
            <a:avLst/>
          </a:prstGeom>
          <a:noFill/>
        </p:spPr>
        <p:txBody>
          <a:bodyPr vert="horz" wrap="square" lIns="0" tIns="0" rIns="0" bIns="0" rtlCol="0">
            <a:spAutoFit/>
          </a:bodyPr>
          <a:lstStyle/>
          <a:p>
            <a:pPr algn="ctr"/>
            <a:r>
              <a:rPr lang="en-US" altLang="zh-CN" sz="1000" b="1">
                <a:solidFill>
                  <a:srgbClr val="1E4976"/>
                </a:solidFill>
                <a:latin typeface="Microsoft YaHei" panose="020B0503020204020204" pitchFamily="34" charset="-122"/>
              </a:rPr>
              <a:t>EviComRL </a:t>
            </a:r>
            <a:r>
              <a:rPr lang="zh-CN" altLang="en-US" sz="1000" b="1">
                <a:solidFill>
                  <a:srgbClr val="1E4976"/>
                </a:solidFill>
                <a:latin typeface="Microsoft YaHei" panose="020B0503020204020204" pitchFamily="34" charset="-122"/>
              </a:rPr>
              <a:t>离线语义轨迹构造与策略学习流程</a:t>
            </a:r>
          </a:p>
        </p:txBody>
      </p:sp>
      <p:pic>
        <p:nvPicPr>
          <p:cNvPr id="23" name="图片 22">
            <a:extLst>
              <a:ext uri="{FF2B5EF4-FFF2-40B4-BE49-F238E27FC236}">
                <a16:creationId xmlns:a16="http://schemas.microsoft.com/office/drawing/2014/main" id="{807616A9-D02F-239B-D506-11CAC87450E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699000" y="1772749"/>
            <a:ext cx="6731000" cy="3693502"/>
          </a:xfrm>
          <a:prstGeom prst="rect">
            <a:avLst/>
          </a:prstGeom>
        </p:spPr>
      </p:pic>
    </p:spTree>
    <p:extLst>
      <p:ext uri="{BB962C8B-B14F-4D97-AF65-F5344CB8AC3E}">
        <p14:creationId xmlns:p14="http://schemas.microsoft.com/office/powerpoint/2010/main" val="3155576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D4E9040-C466-C3A3-E31D-A75CD4C780A8}"/>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37F68C50-6382-F378-0DB0-04EB30F6F342}"/>
              </a:ext>
            </a:extLst>
          </p:cNvPr>
          <p:cNvSpPr txBox="1"/>
          <p:nvPr/>
        </p:nvSpPr>
        <p:spPr>
          <a:xfrm>
            <a:off x="381000" y="165100"/>
            <a:ext cx="9334500" cy="338554"/>
          </a:xfrm>
          <a:prstGeom prst="rect">
            <a:avLst/>
          </a:prstGeom>
          <a:noFill/>
        </p:spPr>
        <p:txBody>
          <a:bodyPr vert="horz" wrap="square" lIns="0" tIns="0" rIns="0" bIns="0" rtlCol="0">
            <a:spAutoFit/>
          </a:bodyPr>
          <a:lstStyle/>
          <a:p>
            <a:r>
              <a:rPr lang="en-US" altLang="zh-CN" sz="2200" b="1">
                <a:solidFill>
                  <a:srgbClr val="FFFFFF"/>
                </a:solidFill>
                <a:latin typeface="Microsoft YaHei" panose="020B0503020204020204" pitchFamily="34" charset="-122"/>
              </a:rPr>
              <a:t>EviComRL </a:t>
            </a:r>
            <a:r>
              <a:rPr lang="zh-CN" altLang="en-US" sz="2200" b="1">
                <a:solidFill>
                  <a:srgbClr val="FFFFFF"/>
                </a:solidFill>
                <a:latin typeface="Microsoft YaHei" panose="020B0503020204020204" pitchFamily="34" charset="-122"/>
              </a:rPr>
              <a:t>方法设计</a:t>
            </a:r>
          </a:p>
        </p:txBody>
      </p:sp>
      <p:sp>
        <p:nvSpPr>
          <p:cNvPr id="4" name="文本框 3">
            <a:extLst>
              <a:ext uri="{FF2B5EF4-FFF2-40B4-BE49-F238E27FC236}">
                <a16:creationId xmlns:a16="http://schemas.microsoft.com/office/drawing/2014/main" id="{9255A9AE-97ED-5E60-B4B5-EA9D2A1C76CD}"/>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E7B5D3F3-60F4-297B-4E94-0D91FE63B167}"/>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09</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DCD62745-1453-E049-E432-942CBC9824BA}"/>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EC8CCAB3-6A26-B54B-DA03-1F5152FB4ED3}"/>
              </a:ext>
            </a:extLst>
          </p:cNvPr>
          <p:cNvSpPr/>
          <p:nvPr/>
        </p:nvSpPr>
        <p:spPr>
          <a:xfrm>
            <a:off x="660400" y="1193800"/>
            <a:ext cx="4953000" cy="37592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7C93ED2-508C-D03E-745A-7BD1CBB54F8F}"/>
              </a:ext>
            </a:extLst>
          </p:cNvPr>
          <p:cNvSpPr/>
          <p:nvPr/>
        </p:nvSpPr>
        <p:spPr>
          <a:xfrm>
            <a:off x="660400" y="1193800"/>
            <a:ext cx="16840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C26015FB-4C19-20E7-D8CC-4665F5973A11}"/>
              </a:ext>
            </a:extLst>
          </p:cNvPr>
          <p:cNvSpPr txBox="1"/>
          <p:nvPr/>
        </p:nvSpPr>
        <p:spPr>
          <a:xfrm>
            <a:off x="889000" y="1473200"/>
            <a:ext cx="4495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离线语义轨迹构造</a:t>
            </a:r>
          </a:p>
        </p:txBody>
      </p:sp>
      <p:sp>
        <p:nvSpPr>
          <p:cNvPr id="10" name="文本框 9">
            <a:extLst>
              <a:ext uri="{FF2B5EF4-FFF2-40B4-BE49-F238E27FC236}">
                <a16:creationId xmlns:a16="http://schemas.microsoft.com/office/drawing/2014/main" id="{3018B8A8-542B-AE6D-92AD-5362E99E2853}"/>
              </a:ext>
            </a:extLst>
          </p:cNvPr>
          <p:cNvSpPr txBox="1"/>
          <p:nvPr/>
        </p:nvSpPr>
        <p:spPr>
          <a:xfrm>
            <a:off x="889000" y="2019300"/>
            <a:ext cx="4495800" cy="1077218"/>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冻结 </a:t>
            </a:r>
            <a:r>
              <a:rPr lang="en-US" altLang="zh-CN" sz="1400">
                <a:solidFill>
                  <a:srgbClr val="222222"/>
                </a:solidFill>
                <a:latin typeface="Microsoft YaHei" panose="020B0503020204020204" pitchFamily="34" charset="-122"/>
              </a:rPr>
              <a:t>VLM/LLM </a:t>
            </a:r>
            <a:r>
              <a:rPr lang="zh-CN" altLang="en-US" sz="1400">
                <a:solidFill>
                  <a:srgbClr val="222222"/>
                </a:solidFill>
                <a:latin typeface="Microsoft YaHei" panose="020B0503020204020204" pitchFamily="34" charset="-122"/>
              </a:rPr>
              <a:t>生成全图可见性标签、局部语义证据、多粒度候选消息和接收方信念增量。</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训练阶段不再调用大模型，所有策略作用于同一批语义证据和信念更新，从而降低成本并提升可复现性。</a:t>
            </a:r>
          </a:p>
        </p:txBody>
      </p:sp>
      <p:sp>
        <p:nvSpPr>
          <p:cNvPr id="11" name="矩形 10">
            <a:extLst>
              <a:ext uri="{FF2B5EF4-FFF2-40B4-BE49-F238E27FC236}">
                <a16:creationId xmlns:a16="http://schemas.microsoft.com/office/drawing/2014/main" id="{075CB1E1-54C9-C8E1-50E4-C88D3B969E53}"/>
              </a:ext>
            </a:extLst>
          </p:cNvPr>
          <p:cNvSpPr/>
          <p:nvPr/>
        </p:nvSpPr>
        <p:spPr>
          <a:xfrm>
            <a:off x="6578600" y="1193800"/>
            <a:ext cx="4953000" cy="37592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0482B08-316F-C99E-8B63-BEF16093D1D4}"/>
              </a:ext>
            </a:extLst>
          </p:cNvPr>
          <p:cNvSpPr/>
          <p:nvPr/>
        </p:nvSpPr>
        <p:spPr>
          <a:xfrm>
            <a:off x="6578600" y="1193800"/>
            <a:ext cx="16840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8A0F44D2-E8AE-FC27-33D1-7739782B254B}"/>
              </a:ext>
            </a:extLst>
          </p:cNvPr>
          <p:cNvSpPr txBox="1"/>
          <p:nvPr/>
        </p:nvSpPr>
        <p:spPr>
          <a:xfrm>
            <a:off x="6807200" y="1473200"/>
            <a:ext cx="4495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链路感知策略学习</a:t>
            </a:r>
          </a:p>
        </p:txBody>
      </p:sp>
      <p:sp>
        <p:nvSpPr>
          <p:cNvPr id="14" name="文本框 13">
            <a:extLst>
              <a:ext uri="{FF2B5EF4-FFF2-40B4-BE49-F238E27FC236}">
                <a16:creationId xmlns:a16="http://schemas.microsoft.com/office/drawing/2014/main" id="{9208FD32-0942-2DC1-C90F-3D42A73FD62D}"/>
              </a:ext>
            </a:extLst>
          </p:cNvPr>
          <p:cNvSpPr txBox="1"/>
          <p:nvPr/>
        </p:nvSpPr>
        <p:spPr>
          <a:xfrm>
            <a:off x="6807200" y="2019300"/>
            <a:ext cx="4495800" cy="1077218"/>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候选消息特征同时包含语义价值、发送方证据、接收方需求、消息粒度、链路可靠性和已选历史。</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策略采用 </a:t>
            </a:r>
            <a:r>
              <a:rPr lang="en-US" altLang="zh-CN" sz="1400">
                <a:solidFill>
                  <a:srgbClr val="222222"/>
                </a:solidFill>
                <a:latin typeface="Microsoft YaHei" panose="020B0503020204020204" pitchFamily="34" charset="-122"/>
              </a:rPr>
              <a:t>graph-history masked actor-critic PPO</a:t>
            </a:r>
            <a:r>
              <a:rPr lang="zh-CN" altLang="en-US" sz="1400">
                <a:solidFill>
                  <a:srgbClr val="222222"/>
                </a:solidFill>
                <a:latin typeface="Microsoft YaHei" panose="020B0503020204020204" pitchFamily="34" charset="-122"/>
              </a:rPr>
              <a:t>，在动作掩码和奖励约束下学习选择性通信。</a:t>
            </a:r>
          </a:p>
        </p:txBody>
      </p:sp>
      <p:cxnSp>
        <p:nvCxnSpPr>
          <p:cNvPr id="15" name="直接连接符 14">
            <a:extLst>
              <a:ext uri="{FF2B5EF4-FFF2-40B4-BE49-F238E27FC236}">
                <a16:creationId xmlns:a16="http://schemas.microsoft.com/office/drawing/2014/main" id="{F191B871-E11F-E1D4-14D1-56CC00ED0A78}"/>
              </a:ext>
            </a:extLst>
          </p:cNvPr>
          <p:cNvCxnSpPr/>
          <p:nvPr/>
        </p:nvCxnSpPr>
        <p:spPr>
          <a:xfrm>
            <a:off x="5689600" y="2921000"/>
            <a:ext cx="787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6" name="矩形 15">
            <a:extLst>
              <a:ext uri="{FF2B5EF4-FFF2-40B4-BE49-F238E27FC236}">
                <a16:creationId xmlns:a16="http://schemas.microsoft.com/office/drawing/2014/main" id="{A5089D0D-0E03-4C26-22C6-146D1B9A0EF7}"/>
              </a:ext>
            </a:extLst>
          </p:cNvPr>
          <p:cNvSpPr/>
          <p:nvPr/>
        </p:nvSpPr>
        <p:spPr>
          <a:xfrm>
            <a:off x="2095500" y="5334000"/>
            <a:ext cx="8001000" cy="7366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4FD74261-6AD0-8585-4AAB-014201D07D53}"/>
              </a:ext>
            </a:extLst>
          </p:cNvPr>
          <p:cNvSpPr/>
          <p:nvPr/>
        </p:nvSpPr>
        <p:spPr>
          <a:xfrm>
            <a:off x="2095500" y="5334000"/>
            <a:ext cx="19050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D0561071-ECC9-6562-8A43-CBFA10BBFE0C}"/>
              </a:ext>
            </a:extLst>
          </p:cNvPr>
          <p:cNvSpPr txBox="1"/>
          <p:nvPr/>
        </p:nvSpPr>
        <p:spPr>
          <a:xfrm>
            <a:off x="2298700" y="5562600"/>
            <a:ext cx="990600" cy="215444"/>
          </a:xfrm>
          <a:prstGeom prst="rect">
            <a:avLst/>
          </a:prstGeom>
          <a:noFill/>
        </p:spPr>
        <p:txBody>
          <a:bodyPr vert="horz" wrap="square" lIns="0" tIns="0" rIns="0" bIns="0" rtlCol="0">
            <a:spAutoFit/>
          </a:bodyPr>
          <a:lstStyle/>
          <a:p>
            <a:r>
              <a:rPr lang="zh-CN" altLang="en-US" sz="1400" b="1">
                <a:solidFill>
                  <a:srgbClr val="1E4976"/>
                </a:solidFill>
                <a:latin typeface="Microsoft YaHei" panose="020B0503020204020204" pitchFamily="34" charset="-122"/>
              </a:rPr>
              <a:t>目标</a:t>
            </a:r>
          </a:p>
        </p:txBody>
      </p:sp>
      <p:sp>
        <p:nvSpPr>
          <p:cNvPr id="19" name="文本框 18">
            <a:extLst>
              <a:ext uri="{FF2B5EF4-FFF2-40B4-BE49-F238E27FC236}">
                <a16:creationId xmlns:a16="http://schemas.microsoft.com/office/drawing/2014/main" id="{B354DBD5-B0C4-0DDB-F500-BE7C4A56AA50}"/>
              </a:ext>
            </a:extLst>
          </p:cNvPr>
          <p:cNvSpPr txBox="1"/>
          <p:nvPr/>
        </p:nvSpPr>
        <p:spPr>
          <a:xfrm>
            <a:off x="3340100" y="5524500"/>
            <a:ext cx="6527800" cy="184666"/>
          </a:xfrm>
          <a:prstGeom prst="rect">
            <a:avLst/>
          </a:prstGeom>
          <a:noFill/>
        </p:spPr>
        <p:txBody>
          <a:bodyPr vert="horz" wrap="square" lIns="0" tIns="0" rIns="0" bIns="0" rtlCol="0">
            <a:spAutoFit/>
          </a:bodyPr>
          <a:lstStyle/>
          <a:p>
            <a:r>
              <a:rPr lang="zh-CN" altLang="en-US" sz="1200">
                <a:solidFill>
                  <a:srgbClr val="222222"/>
                </a:solidFill>
                <a:latin typeface="Microsoft YaHei" panose="020B0503020204020204" pitchFamily="34" charset="-122"/>
              </a:rPr>
              <a:t>在有限通信资源下，使语义消息选择同时考虑推理质量、消息成本、通信时延和送达可靠性。</a:t>
            </a:r>
          </a:p>
        </p:txBody>
      </p:sp>
    </p:spTree>
    <p:extLst>
      <p:ext uri="{BB962C8B-B14F-4D97-AF65-F5344CB8AC3E}">
        <p14:creationId xmlns:p14="http://schemas.microsoft.com/office/powerpoint/2010/main" val="3176615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6FA512D-7D21-9A46-F0BF-19C2A42B73EF}"/>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09C20F28-6CD9-64BA-9A47-75EE9032CCD3}"/>
              </a:ext>
            </a:extLst>
          </p:cNvPr>
          <p:cNvSpPr txBox="1"/>
          <p:nvPr/>
        </p:nvSpPr>
        <p:spPr>
          <a:xfrm>
            <a:off x="381000" y="165100"/>
            <a:ext cx="9334500" cy="338554"/>
          </a:xfrm>
          <a:prstGeom prst="rect">
            <a:avLst/>
          </a:prstGeom>
          <a:noFill/>
        </p:spPr>
        <p:txBody>
          <a:bodyPr vert="horz" wrap="square" lIns="0" tIns="0" rIns="0" bIns="0" rtlCol="0">
            <a:spAutoFit/>
          </a:bodyPr>
          <a:lstStyle/>
          <a:p>
            <a:r>
              <a:rPr lang="en-US" altLang="zh-CN" sz="2200" b="1">
                <a:solidFill>
                  <a:srgbClr val="FFFFFF"/>
                </a:solidFill>
                <a:latin typeface="Microsoft YaHei" panose="020B0503020204020204" pitchFamily="34" charset="-122"/>
              </a:rPr>
              <a:t>RQ2 </a:t>
            </a:r>
            <a:r>
              <a:rPr lang="zh-CN" altLang="en-US" sz="2200" b="1">
                <a:solidFill>
                  <a:srgbClr val="FFFFFF"/>
                </a:solidFill>
                <a:latin typeface="Microsoft YaHei" panose="020B0503020204020204" pitchFamily="34" charset="-122"/>
              </a:rPr>
              <a:t>实验进展</a:t>
            </a:r>
          </a:p>
        </p:txBody>
      </p:sp>
      <p:sp>
        <p:nvSpPr>
          <p:cNvPr id="4" name="文本框 3">
            <a:extLst>
              <a:ext uri="{FF2B5EF4-FFF2-40B4-BE49-F238E27FC236}">
                <a16:creationId xmlns:a16="http://schemas.microsoft.com/office/drawing/2014/main" id="{CE0CEBDE-4B66-D740-DC78-CCEF30B1995F}"/>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196E7B97-3EA6-8CE2-4FAC-6A6C52FDA36C}"/>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10</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15A70B29-6F98-6208-D4CF-4AD95ED3FA28}"/>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4BF2F517-7B58-CFB3-2D1B-685B0A65DC00}"/>
              </a:ext>
            </a:extLst>
          </p:cNvPr>
          <p:cNvSpPr/>
          <p:nvPr/>
        </p:nvSpPr>
        <p:spPr>
          <a:xfrm>
            <a:off x="533400" y="1092200"/>
            <a:ext cx="5207000" cy="3175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081E04A-D261-D425-6704-2717228BB173}"/>
              </a:ext>
            </a:extLst>
          </p:cNvPr>
          <p:cNvSpPr/>
          <p:nvPr/>
        </p:nvSpPr>
        <p:spPr>
          <a:xfrm>
            <a:off x="635000" y="11938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136B3C7-DFDE-C525-22FC-C0C0565A9F33}"/>
              </a:ext>
            </a:extLst>
          </p:cNvPr>
          <p:cNvSpPr txBox="1"/>
          <p:nvPr/>
        </p:nvSpPr>
        <p:spPr>
          <a:xfrm>
            <a:off x="723900" y="12573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主设置 </a:t>
            </a:r>
            <a:r>
              <a:rPr lang="en-US" altLang="zh-CN" sz="1000" b="1">
                <a:solidFill>
                  <a:srgbClr val="1E4976"/>
                </a:solidFill>
                <a:latin typeface="Microsoft YaHei" panose="020B0503020204020204" pitchFamily="34" charset="-122"/>
              </a:rPr>
              <a:t>Accuracy</a:t>
            </a:r>
            <a:endParaRPr lang="zh-CN" altLang="en-US" sz="1000" b="1">
              <a:solidFill>
                <a:srgbClr val="1E4976"/>
              </a:solidFill>
              <a:latin typeface="Microsoft YaHei" panose="020B0503020204020204" pitchFamily="34" charset="-122"/>
            </a:endParaRPr>
          </a:p>
        </p:txBody>
      </p:sp>
      <p:pic>
        <p:nvPicPr>
          <p:cNvPr id="11" name="图片 10">
            <a:extLst>
              <a:ext uri="{FF2B5EF4-FFF2-40B4-BE49-F238E27FC236}">
                <a16:creationId xmlns:a16="http://schemas.microsoft.com/office/drawing/2014/main" id="{2855E2A7-F990-EB23-59A0-5978B7DD17A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60400" y="1607152"/>
            <a:ext cx="4953000" cy="2449897"/>
          </a:xfrm>
          <a:prstGeom prst="rect">
            <a:avLst/>
          </a:prstGeom>
        </p:spPr>
      </p:pic>
      <p:sp>
        <p:nvSpPr>
          <p:cNvPr id="12" name="矩形 11">
            <a:extLst>
              <a:ext uri="{FF2B5EF4-FFF2-40B4-BE49-F238E27FC236}">
                <a16:creationId xmlns:a16="http://schemas.microsoft.com/office/drawing/2014/main" id="{D4FF683D-8EA1-3CAD-C611-CCA41883D3EC}"/>
              </a:ext>
            </a:extLst>
          </p:cNvPr>
          <p:cNvSpPr/>
          <p:nvPr/>
        </p:nvSpPr>
        <p:spPr>
          <a:xfrm>
            <a:off x="6324600" y="1092200"/>
            <a:ext cx="5207000" cy="3175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0E4E08D-F8B0-9C73-5991-D4EDE4BF0902}"/>
              </a:ext>
            </a:extLst>
          </p:cNvPr>
          <p:cNvSpPr/>
          <p:nvPr/>
        </p:nvSpPr>
        <p:spPr>
          <a:xfrm>
            <a:off x="6426200" y="11938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DE04FE3E-01E9-3B78-28E0-E60B6AA92624}"/>
              </a:ext>
            </a:extLst>
          </p:cNvPr>
          <p:cNvSpPr txBox="1"/>
          <p:nvPr/>
        </p:nvSpPr>
        <p:spPr>
          <a:xfrm>
            <a:off x="6515100" y="12573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质量</a:t>
            </a:r>
            <a:r>
              <a:rPr lang="en-US" altLang="zh-CN" sz="1000" b="1">
                <a:solidFill>
                  <a:srgbClr val="1E4976"/>
                </a:solidFill>
                <a:latin typeface="Microsoft YaHei" panose="020B0503020204020204" pitchFamily="34" charset="-122"/>
              </a:rPr>
              <a:t>--</a:t>
            </a:r>
            <a:r>
              <a:rPr lang="zh-CN" altLang="en-US" sz="1000" b="1">
                <a:solidFill>
                  <a:srgbClr val="1E4976"/>
                </a:solidFill>
                <a:latin typeface="Microsoft YaHei" panose="020B0503020204020204" pitchFamily="34" charset="-122"/>
              </a:rPr>
              <a:t>成本折中</a:t>
            </a:r>
          </a:p>
        </p:txBody>
      </p:sp>
      <p:pic>
        <p:nvPicPr>
          <p:cNvPr id="16" name="图片 15">
            <a:extLst>
              <a:ext uri="{FF2B5EF4-FFF2-40B4-BE49-F238E27FC236}">
                <a16:creationId xmlns:a16="http://schemas.microsoft.com/office/drawing/2014/main" id="{CB9ADAAC-0481-2E1E-79A1-576484F7E42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32809" y="1524000"/>
            <a:ext cx="3990582" cy="2616200"/>
          </a:xfrm>
          <a:prstGeom prst="rect">
            <a:avLst/>
          </a:prstGeom>
        </p:spPr>
      </p:pic>
      <p:sp>
        <p:nvSpPr>
          <p:cNvPr id="17" name="矩形 16">
            <a:extLst>
              <a:ext uri="{FF2B5EF4-FFF2-40B4-BE49-F238E27FC236}">
                <a16:creationId xmlns:a16="http://schemas.microsoft.com/office/drawing/2014/main" id="{B8E68CB0-4061-4E3F-BAE0-EF9F84230590}"/>
              </a:ext>
            </a:extLst>
          </p:cNvPr>
          <p:cNvSpPr/>
          <p:nvPr/>
        </p:nvSpPr>
        <p:spPr>
          <a:xfrm>
            <a:off x="533400" y="4648200"/>
            <a:ext cx="3302000" cy="13462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FDC95326-124E-7EFE-6A92-AA5DBB31A4C4}"/>
              </a:ext>
            </a:extLst>
          </p:cNvPr>
          <p:cNvSpPr/>
          <p:nvPr/>
        </p:nvSpPr>
        <p:spPr>
          <a:xfrm>
            <a:off x="533400" y="4648200"/>
            <a:ext cx="11226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90D20D22-3926-CD31-7D9F-2201E3FBDD63}"/>
              </a:ext>
            </a:extLst>
          </p:cNvPr>
          <p:cNvSpPr txBox="1"/>
          <p:nvPr/>
        </p:nvSpPr>
        <p:spPr>
          <a:xfrm>
            <a:off x="762000" y="4927600"/>
            <a:ext cx="284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完整实验</a:t>
            </a:r>
          </a:p>
        </p:txBody>
      </p:sp>
      <p:sp>
        <p:nvSpPr>
          <p:cNvPr id="20" name="文本框 19">
            <a:extLst>
              <a:ext uri="{FF2B5EF4-FFF2-40B4-BE49-F238E27FC236}">
                <a16:creationId xmlns:a16="http://schemas.microsoft.com/office/drawing/2014/main" id="{F606FA87-2643-AFD2-BD7D-EA95A512FD50}"/>
              </a:ext>
            </a:extLst>
          </p:cNvPr>
          <p:cNvSpPr txBox="1"/>
          <p:nvPr/>
        </p:nvSpPr>
        <p:spPr>
          <a:xfrm>
            <a:off x="762000" y="5473700"/>
            <a:ext cx="2844800" cy="646331"/>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基于约 </a:t>
            </a:r>
            <a:r>
              <a:rPr lang="en-US" altLang="zh-CN" sz="1400">
                <a:solidFill>
                  <a:srgbClr val="222222"/>
                </a:solidFill>
                <a:latin typeface="Microsoft YaHei" panose="020B0503020204020204" pitchFamily="34" charset="-122"/>
              </a:rPr>
              <a:t>3000 </a:t>
            </a:r>
            <a:r>
              <a:rPr lang="zh-CN" altLang="en-US" sz="1400">
                <a:solidFill>
                  <a:srgbClr val="222222"/>
                </a:solidFill>
                <a:latin typeface="Microsoft YaHei" panose="020B0503020204020204" pitchFamily="34" charset="-122"/>
              </a:rPr>
              <a:t>条语义轨迹，完成主设置、智能体数量、通信预算和关键模块消融实验。</a:t>
            </a:r>
          </a:p>
        </p:txBody>
      </p:sp>
      <p:sp>
        <p:nvSpPr>
          <p:cNvPr id="21" name="矩形 20">
            <a:extLst>
              <a:ext uri="{FF2B5EF4-FFF2-40B4-BE49-F238E27FC236}">
                <a16:creationId xmlns:a16="http://schemas.microsoft.com/office/drawing/2014/main" id="{BB9942B6-2B8B-E799-FD11-365492CB19FF}"/>
              </a:ext>
            </a:extLst>
          </p:cNvPr>
          <p:cNvSpPr/>
          <p:nvPr/>
        </p:nvSpPr>
        <p:spPr>
          <a:xfrm>
            <a:off x="4445000" y="4648200"/>
            <a:ext cx="3302000" cy="13462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BA46B52-6752-3BD2-A6EC-78D9BF8B63FD}"/>
              </a:ext>
            </a:extLst>
          </p:cNvPr>
          <p:cNvSpPr/>
          <p:nvPr/>
        </p:nvSpPr>
        <p:spPr>
          <a:xfrm>
            <a:off x="4445000" y="4648200"/>
            <a:ext cx="11226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3C44D1D6-9AB1-21BE-6A22-7F0AF1D210CF}"/>
              </a:ext>
            </a:extLst>
          </p:cNvPr>
          <p:cNvSpPr txBox="1"/>
          <p:nvPr/>
        </p:nvSpPr>
        <p:spPr>
          <a:xfrm>
            <a:off x="4673600" y="4927600"/>
            <a:ext cx="284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主要结果</a:t>
            </a:r>
          </a:p>
        </p:txBody>
      </p:sp>
      <p:sp>
        <p:nvSpPr>
          <p:cNvPr id="24" name="文本框 23">
            <a:extLst>
              <a:ext uri="{FF2B5EF4-FFF2-40B4-BE49-F238E27FC236}">
                <a16:creationId xmlns:a16="http://schemas.microsoft.com/office/drawing/2014/main" id="{C7A50FD7-A6C8-A981-7F8A-EC9BBA466D52}"/>
              </a:ext>
            </a:extLst>
          </p:cNvPr>
          <p:cNvSpPr txBox="1"/>
          <p:nvPr/>
        </p:nvSpPr>
        <p:spPr>
          <a:xfrm>
            <a:off x="4673600" y="5473700"/>
            <a:ext cx="2844800" cy="861774"/>
          </a:xfrm>
          <a:prstGeom prst="rect">
            <a:avLst/>
          </a:prstGeom>
          <a:noFill/>
        </p:spPr>
        <p:txBody>
          <a:bodyPr vert="horz" wrap="square" lIns="0" tIns="0" rIns="0" bIns="0" rtlCol="0">
            <a:spAutoFit/>
          </a:bodyPr>
          <a:lstStyle/>
          <a:p>
            <a:r>
              <a:rPr lang="en-US" altLang="zh-CN" sz="1400">
                <a:solidFill>
                  <a:srgbClr val="222222"/>
                </a:solidFill>
                <a:latin typeface="Microsoft YaHei" panose="020B0503020204020204" pitchFamily="34" charset="-122"/>
              </a:rPr>
              <a:t>EviComRL </a:t>
            </a:r>
            <a:r>
              <a:rPr lang="zh-CN" altLang="en-US" sz="1400">
                <a:solidFill>
                  <a:srgbClr val="222222"/>
                </a:solidFill>
                <a:latin typeface="Microsoft YaHei" panose="020B0503020204020204" pitchFamily="34" charset="-122"/>
              </a:rPr>
              <a:t>在 </a:t>
            </a:r>
            <a:r>
              <a:rPr lang="en-US" altLang="zh-CN" sz="1400">
                <a:solidFill>
                  <a:srgbClr val="222222"/>
                </a:solidFill>
                <a:latin typeface="Microsoft YaHei" panose="020B0503020204020204" pitchFamily="34" charset="-122"/>
              </a:rPr>
              <a:t>Accuracy</a:t>
            </a:r>
            <a:r>
              <a:rPr lang="zh-CN" altLang="en-US" sz="1400">
                <a:solidFill>
                  <a:srgbClr val="222222"/>
                </a:solidFill>
                <a:latin typeface="Microsoft YaHei" panose="020B0503020204020204" pitchFamily="34" charset="-122"/>
              </a:rPr>
              <a:t>、</a:t>
            </a:r>
            <a:r>
              <a:rPr lang="en-US" altLang="zh-CN" sz="1400">
                <a:solidFill>
                  <a:srgbClr val="222222"/>
                </a:solidFill>
                <a:latin typeface="Microsoft YaHei" panose="020B0503020204020204" pitchFamily="34" charset="-122"/>
              </a:rPr>
              <a:t>Balanced Accuracy</a:t>
            </a:r>
            <a:r>
              <a:rPr lang="zh-CN" altLang="en-US" sz="1400">
                <a:solidFill>
                  <a:srgbClr val="222222"/>
                </a:solidFill>
                <a:latin typeface="Microsoft YaHei" panose="020B0503020204020204" pitchFamily="34" charset="-122"/>
              </a:rPr>
              <a:t>、</a:t>
            </a:r>
            <a:r>
              <a:rPr lang="en-US" altLang="zh-CN" sz="1400">
                <a:solidFill>
                  <a:srgbClr val="222222"/>
                </a:solidFill>
                <a:latin typeface="Microsoft YaHei" panose="020B0503020204020204" pitchFamily="34" charset="-122"/>
              </a:rPr>
              <a:t>Macro-F1 </a:t>
            </a:r>
            <a:r>
              <a:rPr lang="zh-CN" altLang="en-US" sz="1400">
                <a:solidFill>
                  <a:srgbClr val="222222"/>
                </a:solidFill>
                <a:latin typeface="Microsoft YaHei" panose="020B0503020204020204" pitchFamily="34" charset="-122"/>
              </a:rPr>
              <a:t>和 </a:t>
            </a:r>
            <a:r>
              <a:rPr lang="en-US" altLang="zh-CN" sz="1400">
                <a:solidFill>
                  <a:srgbClr val="222222"/>
                </a:solidFill>
                <a:latin typeface="Microsoft YaHei" panose="020B0503020204020204" pitchFamily="34" charset="-122"/>
              </a:rPr>
              <a:t>Effective Quality </a:t>
            </a:r>
            <a:r>
              <a:rPr lang="zh-CN" altLang="en-US" sz="1400">
                <a:solidFill>
                  <a:srgbClr val="222222"/>
                </a:solidFill>
                <a:latin typeface="Microsoft YaHei" panose="020B0503020204020204" pitchFamily="34" charset="-122"/>
              </a:rPr>
              <a:t>上取得当前可部署方法中的最好表现。</a:t>
            </a:r>
          </a:p>
        </p:txBody>
      </p:sp>
      <p:sp>
        <p:nvSpPr>
          <p:cNvPr id="25" name="矩形 24">
            <a:extLst>
              <a:ext uri="{FF2B5EF4-FFF2-40B4-BE49-F238E27FC236}">
                <a16:creationId xmlns:a16="http://schemas.microsoft.com/office/drawing/2014/main" id="{30B87AB5-8CE4-65F7-5860-36923CE0BF02}"/>
              </a:ext>
            </a:extLst>
          </p:cNvPr>
          <p:cNvSpPr/>
          <p:nvPr/>
        </p:nvSpPr>
        <p:spPr>
          <a:xfrm>
            <a:off x="8356600" y="4648200"/>
            <a:ext cx="3175000" cy="13462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D23F9BEE-7192-F380-8002-F32E047AFF86}"/>
              </a:ext>
            </a:extLst>
          </p:cNvPr>
          <p:cNvSpPr/>
          <p:nvPr/>
        </p:nvSpPr>
        <p:spPr>
          <a:xfrm>
            <a:off x="8356600" y="4648200"/>
            <a:ext cx="10795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C28E49D8-488F-75ED-315E-1CE74029A10A}"/>
              </a:ext>
            </a:extLst>
          </p:cNvPr>
          <p:cNvSpPr txBox="1"/>
          <p:nvPr/>
        </p:nvSpPr>
        <p:spPr>
          <a:xfrm>
            <a:off x="8585200" y="4927600"/>
            <a:ext cx="2717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仍需优化</a:t>
            </a:r>
          </a:p>
        </p:txBody>
      </p:sp>
      <p:sp>
        <p:nvSpPr>
          <p:cNvPr id="28" name="文本框 27">
            <a:extLst>
              <a:ext uri="{FF2B5EF4-FFF2-40B4-BE49-F238E27FC236}">
                <a16:creationId xmlns:a16="http://schemas.microsoft.com/office/drawing/2014/main" id="{76EC17D8-6516-0936-4D96-8926D3078832}"/>
              </a:ext>
            </a:extLst>
          </p:cNvPr>
          <p:cNvSpPr txBox="1"/>
          <p:nvPr/>
        </p:nvSpPr>
        <p:spPr>
          <a:xfrm>
            <a:off x="8585200" y="5473700"/>
            <a:ext cx="2717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通信成本约束、停止策略和链路风险建模仍有进一步校准空间。</a:t>
            </a:r>
          </a:p>
        </p:txBody>
      </p:sp>
    </p:spTree>
    <p:extLst>
      <p:ext uri="{BB962C8B-B14F-4D97-AF65-F5344CB8AC3E}">
        <p14:creationId xmlns:p14="http://schemas.microsoft.com/office/powerpoint/2010/main" val="2904834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0914C131-B9AB-8FE3-CB89-398772CF0534}"/>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449CB113-70DE-0614-AE39-C13E9F811894}"/>
              </a:ext>
            </a:extLst>
          </p:cNvPr>
          <p:cNvSpPr txBox="1"/>
          <p:nvPr/>
        </p:nvSpPr>
        <p:spPr>
          <a:xfrm>
            <a:off x="381000" y="165100"/>
            <a:ext cx="5461000" cy="338554"/>
          </a:xfrm>
          <a:prstGeom prst="rect">
            <a:avLst/>
          </a:prstGeom>
          <a:noFill/>
        </p:spPr>
        <p:txBody>
          <a:bodyPr vert="horz" wrap="square" lIns="0" tIns="0" rIns="0" bIns="0" rtlCol="0">
            <a:spAutoFit/>
          </a:bodyPr>
          <a:lstStyle/>
          <a:p>
            <a:r>
              <a:rPr lang="zh-CN" altLang="en-US" sz="2200" b="1">
                <a:solidFill>
                  <a:srgbClr val="FFFFFF"/>
                </a:solidFill>
                <a:latin typeface="Microsoft YaHei" panose="020B0503020204020204" pitchFamily="34" charset="-122"/>
              </a:rPr>
              <a:t>存在问题与后续研究</a:t>
            </a:r>
          </a:p>
        </p:txBody>
      </p:sp>
      <p:sp>
        <p:nvSpPr>
          <p:cNvPr id="24" name="文本框 23">
            <a:extLst>
              <a:ext uri="{FF2B5EF4-FFF2-40B4-BE49-F238E27FC236}">
                <a16:creationId xmlns:a16="http://schemas.microsoft.com/office/drawing/2014/main" id="{ADF59F8B-E42A-C13C-A95B-9AECF38ED796}"/>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25" name="文本框 24">
            <a:extLst>
              <a:ext uri="{FF2B5EF4-FFF2-40B4-BE49-F238E27FC236}">
                <a16:creationId xmlns:a16="http://schemas.microsoft.com/office/drawing/2014/main" id="{E57B1483-3275-3176-F6DA-9F50ED527B89}"/>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26" name="文本框 25">
            <a:extLst>
              <a:ext uri="{FF2B5EF4-FFF2-40B4-BE49-F238E27FC236}">
                <a16:creationId xmlns:a16="http://schemas.microsoft.com/office/drawing/2014/main" id="{0488C8D5-E3F1-5518-6720-742D1F471DD6}"/>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11</a:t>
            </a:r>
            <a:endParaRPr lang="zh-CN" altLang="en-US" sz="1000">
              <a:solidFill>
                <a:srgbClr val="8CA0B3"/>
              </a:solidFill>
              <a:latin typeface="Microsoft YaHei" panose="020B0503020204020204" pitchFamily="34" charset="-122"/>
            </a:endParaRPr>
          </a:p>
        </p:txBody>
      </p:sp>
      <p:sp>
        <p:nvSpPr>
          <p:cNvPr id="27" name="矩形 26">
            <a:extLst>
              <a:ext uri="{FF2B5EF4-FFF2-40B4-BE49-F238E27FC236}">
                <a16:creationId xmlns:a16="http://schemas.microsoft.com/office/drawing/2014/main" id="{32F51079-971C-31F6-4743-6CEAD3C52321}"/>
              </a:ext>
            </a:extLst>
          </p:cNvPr>
          <p:cNvSpPr/>
          <p:nvPr/>
        </p:nvSpPr>
        <p:spPr>
          <a:xfrm>
            <a:off x="635000" y="1168400"/>
            <a:ext cx="3429000" cy="4191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885B0A93-CD21-BB96-3685-1BAAEDCB91DD}"/>
              </a:ext>
            </a:extLst>
          </p:cNvPr>
          <p:cNvSpPr/>
          <p:nvPr/>
        </p:nvSpPr>
        <p:spPr>
          <a:xfrm>
            <a:off x="635000" y="1168400"/>
            <a:ext cx="13030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6FCB3BBA-3A48-BA78-903C-2EAE729E51DE}"/>
              </a:ext>
            </a:extLst>
          </p:cNvPr>
          <p:cNvSpPr txBox="1"/>
          <p:nvPr/>
        </p:nvSpPr>
        <p:spPr>
          <a:xfrm>
            <a:off x="863600" y="1473200"/>
            <a:ext cx="2971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已完成工作的边界</a:t>
            </a:r>
          </a:p>
        </p:txBody>
      </p:sp>
      <p:sp>
        <p:nvSpPr>
          <p:cNvPr id="30" name="文本框 29">
            <a:extLst>
              <a:ext uri="{FF2B5EF4-FFF2-40B4-BE49-F238E27FC236}">
                <a16:creationId xmlns:a16="http://schemas.microsoft.com/office/drawing/2014/main" id="{7F3970E0-4977-AE4B-B74E-FDA22B8C4A02}"/>
              </a:ext>
            </a:extLst>
          </p:cNvPr>
          <p:cNvSpPr txBox="1"/>
          <p:nvPr/>
        </p:nvSpPr>
        <p:spPr>
          <a:xfrm>
            <a:off x="863600" y="2057400"/>
            <a:ext cx="2971800" cy="1477328"/>
          </a:xfrm>
          <a:prstGeom prst="rect">
            <a:avLst/>
          </a:prstGeom>
          <a:noFill/>
        </p:spPr>
        <p:txBody>
          <a:bodyPr vert="horz" wrap="square" lIns="0" tIns="0" rIns="0" bIns="0" rtlCol="0">
            <a:spAutoFit/>
          </a:bodyPr>
          <a:lstStyle/>
          <a:p>
            <a:r>
              <a:rPr lang="en-US" altLang="zh-CN" sz="1200">
                <a:solidFill>
                  <a:srgbClr val="222222"/>
                </a:solidFill>
                <a:latin typeface="Microsoft YaHei" panose="020B0503020204020204" pitchFamily="34" charset="-122"/>
              </a:rPr>
              <a:t>LEADR </a:t>
            </a:r>
            <a:r>
              <a:rPr lang="zh-CN" altLang="en-US" sz="1200">
                <a:solidFill>
                  <a:srgbClr val="222222"/>
                </a:solidFill>
                <a:latin typeface="Microsoft YaHei" panose="020B0503020204020204" pitchFamily="34" charset="-122"/>
              </a:rPr>
              <a:t>关注物理链路上的功率、能量与队列动态，解决服务数据转发问题。</a:t>
            </a:r>
          </a:p>
          <a:p>
            <a:endParaRPr lang="zh-CN" altLang="en-US" sz="1200">
              <a:solidFill>
                <a:srgbClr val="222222"/>
              </a:solidFill>
              <a:latin typeface="Microsoft YaHei" panose="020B0503020204020204" pitchFamily="34" charset="-122"/>
            </a:endParaRPr>
          </a:p>
          <a:p>
            <a:r>
              <a:rPr lang="en-US" altLang="zh-CN" sz="1200">
                <a:solidFill>
                  <a:srgbClr val="222222"/>
                </a:solidFill>
                <a:latin typeface="Microsoft YaHei" panose="020B0503020204020204" pitchFamily="34" charset="-122"/>
              </a:rPr>
              <a:t>EviComRL </a:t>
            </a:r>
            <a:r>
              <a:rPr lang="zh-CN" altLang="en-US" sz="1200">
                <a:solidFill>
                  <a:srgbClr val="222222"/>
                </a:solidFill>
                <a:latin typeface="Microsoft YaHei" panose="020B0503020204020204" pitchFamily="34" charset="-122"/>
              </a:rPr>
              <a:t>关注语义消息选择，当前链路条件主要由简化模型给出。</a:t>
            </a:r>
          </a:p>
          <a:p>
            <a:endParaRPr lang="zh-CN" altLang="en-US" sz="1200">
              <a:solidFill>
                <a:srgbClr val="222222"/>
              </a:solidFill>
              <a:latin typeface="Microsoft YaHei" panose="020B0503020204020204" pitchFamily="34" charset="-122"/>
            </a:endParaRPr>
          </a:p>
          <a:p>
            <a:r>
              <a:rPr lang="zh-CN" altLang="en-US" sz="1200">
                <a:solidFill>
                  <a:srgbClr val="222222"/>
                </a:solidFill>
                <a:latin typeface="Microsoft YaHei" panose="020B0503020204020204" pitchFamily="34" charset="-122"/>
              </a:rPr>
              <a:t>后续需要把链路层的功率开销、能量状态和链路演化引入语义层评估。</a:t>
            </a:r>
          </a:p>
        </p:txBody>
      </p:sp>
      <p:sp>
        <p:nvSpPr>
          <p:cNvPr id="31" name="文本框 30">
            <a:extLst>
              <a:ext uri="{FF2B5EF4-FFF2-40B4-BE49-F238E27FC236}">
                <a16:creationId xmlns:a16="http://schemas.microsoft.com/office/drawing/2014/main" id="{B7690A79-0182-C808-B4AB-A35C2D210893}"/>
              </a:ext>
            </a:extLst>
          </p:cNvPr>
          <p:cNvSpPr txBox="1"/>
          <p:nvPr/>
        </p:nvSpPr>
        <p:spPr>
          <a:xfrm>
            <a:off x="4597400" y="1193800"/>
            <a:ext cx="30480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后续连接方式</a:t>
            </a:r>
          </a:p>
        </p:txBody>
      </p:sp>
      <p:sp>
        <p:nvSpPr>
          <p:cNvPr id="32" name="矩形 31">
            <a:extLst>
              <a:ext uri="{FF2B5EF4-FFF2-40B4-BE49-F238E27FC236}">
                <a16:creationId xmlns:a16="http://schemas.microsoft.com/office/drawing/2014/main" id="{DC7594A6-DFAC-98CD-3155-38F22F29B01A}"/>
              </a:ext>
            </a:extLst>
          </p:cNvPr>
          <p:cNvSpPr/>
          <p:nvPr/>
        </p:nvSpPr>
        <p:spPr>
          <a:xfrm>
            <a:off x="4597400" y="1600200"/>
            <a:ext cx="6286500" cy="15240"/>
          </a:xfrm>
          <a:prstGeom prst="rect">
            <a:avLst/>
          </a:prstGeom>
          <a:solidFill>
            <a:srgbClr val="D5D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402B06B5-CA92-D09F-459F-732CEAF42972}"/>
              </a:ext>
            </a:extLst>
          </p:cNvPr>
          <p:cNvSpPr/>
          <p:nvPr/>
        </p:nvSpPr>
        <p:spPr>
          <a:xfrm>
            <a:off x="4572000" y="2133600"/>
            <a:ext cx="1841500" cy="1498600"/>
          </a:xfrm>
          <a:prstGeom prst="rect">
            <a:avLst/>
          </a:prstGeom>
          <a:solidFill>
            <a:srgbClr val="F3F5F7"/>
          </a:solidFill>
          <a:ln w="1143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06AFAD53-9744-CDBA-2B0D-88CD5DF8CC9E}"/>
              </a:ext>
            </a:extLst>
          </p:cNvPr>
          <p:cNvSpPr txBox="1"/>
          <p:nvPr/>
        </p:nvSpPr>
        <p:spPr>
          <a:xfrm>
            <a:off x="4699000" y="2387600"/>
            <a:ext cx="1587500" cy="230832"/>
          </a:xfrm>
          <a:prstGeom prst="rect">
            <a:avLst/>
          </a:prstGeom>
          <a:noFill/>
        </p:spPr>
        <p:txBody>
          <a:bodyPr vert="horz" wrap="square" lIns="0" tIns="0" rIns="0" bIns="0" rtlCol="0">
            <a:spAutoFit/>
          </a:bodyPr>
          <a:lstStyle/>
          <a:p>
            <a:pPr algn="ctr"/>
            <a:r>
              <a:rPr lang="en-US" altLang="zh-CN" sz="1500" b="1">
                <a:solidFill>
                  <a:srgbClr val="1E4976"/>
                </a:solidFill>
                <a:latin typeface="Microsoft YaHei" panose="020B0503020204020204" pitchFamily="34" charset="-122"/>
              </a:rPr>
              <a:t>LEADR </a:t>
            </a:r>
            <a:r>
              <a:rPr lang="zh-CN" altLang="en-US" sz="1500" b="1">
                <a:solidFill>
                  <a:srgbClr val="1E4976"/>
                </a:solidFill>
                <a:latin typeface="Microsoft YaHei" panose="020B0503020204020204" pitchFamily="34" charset="-122"/>
              </a:rPr>
              <a:t>输出</a:t>
            </a:r>
          </a:p>
        </p:txBody>
      </p:sp>
      <p:sp>
        <p:nvSpPr>
          <p:cNvPr id="35" name="文本框 34">
            <a:extLst>
              <a:ext uri="{FF2B5EF4-FFF2-40B4-BE49-F238E27FC236}">
                <a16:creationId xmlns:a16="http://schemas.microsoft.com/office/drawing/2014/main" id="{1C6E9C33-915F-245D-E8B8-C3EB3E6DDD03}"/>
              </a:ext>
            </a:extLst>
          </p:cNvPr>
          <p:cNvSpPr txBox="1"/>
          <p:nvPr/>
        </p:nvSpPr>
        <p:spPr>
          <a:xfrm>
            <a:off x="4724400" y="2844800"/>
            <a:ext cx="1536700" cy="615553"/>
          </a:xfrm>
          <a:prstGeom prst="rect">
            <a:avLst/>
          </a:prstGeom>
          <a:noFill/>
        </p:spPr>
        <p:txBody>
          <a:bodyPr vert="horz" wrap="square" lIns="0" tIns="0" rIns="0" bIns="0" rtlCol="0">
            <a:spAutoFit/>
          </a:bodyPr>
          <a:lstStyle/>
          <a:p>
            <a:pPr algn="ctr"/>
            <a:r>
              <a:rPr lang="zh-CN" altLang="en-US" sz="1000">
                <a:solidFill>
                  <a:srgbClr val="222222"/>
                </a:solidFill>
                <a:latin typeface="Microsoft YaHei" panose="020B0503020204020204" pitchFamily="34" charset="-122"/>
              </a:rPr>
              <a:t>链路质量</a:t>
            </a:r>
          </a:p>
          <a:p>
            <a:pPr algn="ctr"/>
            <a:r>
              <a:rPr lang="zh-CN" altLang="en-US" sz="1000">
                <a:solidFill>
                  <a:srgbClr val="222222"/>
                </a:solidFill>
                <a:latin typeface="Microsoft YaHei" panose="020B0503020204020204" pitchFamily="34" charset="-122"/>
              </a:rPr>
              <a:t>功率控制</a:t>
            </a:r>
          </a:p>
          <a:p>
            <a:pPr algn="ctr"/>
            <a:r>
              <a:rPr lang="zh-CN" altLang="en-US" sz="1000">
                <a:solidFill>
                  <a:srgbClr val="222222"/>
                </a:solidFill>
                <a:latin typeface="Microsoft YaHei" panose="020B0503020204020204" pitchFamily="34" charset="-122"/>
              </a:rPr>
              <a:t>节点能量</a:t>
            </a:r>
          </a:p>
          <a:p>
            <a:pPr algn="ctr"/>
            <a:r>
              <a:rPr lang="zh-CN" altLang="en-US" sz="1000">
                <a:solidFill>
                  <a:srgbClr val="222222"/>
                </a:solidFill>
                <a:latin typeface="Microsoft YaHei" panose="020B0503020204020204" pitchFamily="34" charset="-122"/>
              </a:rPr>
              <a:t>存活状态</a:t>
            </a:r>
          </a:p>
        </p:txBody>
      </p:sp>
      <p:sp>
        <p:nvSpPr>
          <p:cNvPr id="36" name="矩形 35">
            <a:extLst>
              <a:ext uri="{FF2B5EF4-FFF2-40B4-BE49-F238E27FC236}">
                <a16:creationId xmlns:a16="http://schemas.microsoft.com/office/drawing/2014/main" id="{153BB055-BCC2-C3DE-38E8-A4F0D697CD4B}"/>
              </a:ext>
            </a:extLst>
          </p:cNvPr>
          <p:cNvSpPr/>
          <p:nvPr/>
        </p:nvSpPr>
        <p:spPr>
          <a:xfrm>
            <a:off x="7137400" y="1905000"/>
            <a:ext cx="2095500" cy="1955800"/>
          </a:xfrm>
          <a:prstGeom prst="rect">
            <a:avLst/>
          </a:prstGeom>
          <a:solidFill>
            <a:srgbClr val="EEF3F7"/>
          </a:solidFill>
          <a:ln w="1143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597AE2E0-B644-FC14-0757-FD8C58CADAE5}"/>
              </a:ext>
            </a:extLst>
          </p:cNvPr>
          <p:cNvSpPr txBox="1"/>
          <p:nvPr/>
        </p:nvSpPr>
        <p:spPr>
          <a:xfrm>
            <a:off x="7264400" y="2159000"/>
            <a:ext cx="18415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约束映射</a:t>
            </a:r>
          </a:p>
        </p:txBody>
      </p:sp>
      <p:sp>
        <p:nvSpPr>
          <p:cNvPr id="38" name="文本框 37">
            <a:extLst>
              <a:ext uri="{FF2B5EF4-FFF2-40B4-BE49-F238E27FC236}">
                <a16:creationId xmlns:a16="http://schemas.microsoft.com/office/drawing/2014/main" id="{BB37F420-4D48-3AC0-E4A3-3A6232A4F192}"/>
              </a:ext>
            </a:extLst>
          </p:cNvPr>
          <p:cNvSpPr txBox="1"/>
          <p:nvPr/>
        </p:nvSpPr>
        <p:spPr>
          <a:xfrm>
            <a:off x="7289800" y="2616200"/>
            <a:ext cx="1790700" cy="615553"/>
          </a:xfrm>
          <a:prstGeom prst="rect">
            <a:avLst/>
          </a:prstGeom>
          <a:noFill/>
        </p:spPr>
        <p:txBody>
          <a:bodyPr vert="horz" wrap="square" lIns="0" tIns="0" rIns="0" bIns="0" rtlCol="0">
            <a:spAutoFit/>
          </a:bodyPr>
          <a:lstStyle/>
          <a:p>
            <a:pPr algn="ctr"/>
            <a:r>
              <a:rPr lang="zh-CN" altLang="en-US" sz="1000">
                <a:solidFill>
                  <a:srgbClr val="222222"/>
                </a:solidFill>
                <a:latin typeface="Microsoft YaHei" panose="020B0503020204020204" pitchFamily="34" charset="-122"/>
              </a:rPr>
              <a:t>送达概率</a:t>
            </a:r>
          </a:p>
          <a:p>
            <a:pPr algn="ctr"/>
            <a:r>
              <a:rPr lang="zh-CN" altLang="en-US" sz="1000">
                <a:solidFill>
                  <a:srgbClr val="222222"/>
                </a:solidFill>
                <a:latin typeface="Microsoft YaHei" panose="020B0503020204020204" pitchFamily="34" charset="-122"/>
              </a:rPr>
              <a:t>传输时延</a:t>
            </a:r>
          </a:p>
          <a:p>
            <a:pPr algn="ctr"/>
            <a:r>
              <a:rPr lang="zh-CN" altLang="en-US" sz="1000">
                <a:solidFill>
                  <a:srgbClr val="222222"/>
                </a:solidFill>
                <a:latin typeface="Microsoft YaHei" panose="020B0503020204020204" pitchFamily="34" charset="-122"/>
              </a:rPr>
              <a:t>丢包风险</a:t>
            </a:r>
          </a:p>
          <a:p>
            <a:pPr algn="ctr"/>
            <a:r>
              <a:rPr lang="zh-CN" altLang="en-US" sz="1000">
                <a:solidFill>
                  <a:srgbClr val="222222"/>
                </a:solidFill>
                <a:latin typeface="Microsoft YaHei" panose="020B0503020204020204" pitchFamily="34" charset="-122"/>
              </a:rPr>
              <a:t>能耗成本</a:t>
            </a:r>
          </a:p>
        </p:txBody>
      </p:sp>
      <p:sp>
        <p:nvSpPr>
          <p:cNvPr id="39" name="矩形 38">
            <a:extLst>
              <a:ext uri="{FF2B5EF4-FFF2-40B4-BE49-F238E27FC236}">
                <a16:creationId xmlns:a16="http://schemas.microsoft.com/office/drawing/2014/main" id="{5E876D9F-A269-1024-8712-53EB6143B818}"/>
              </a:ext>
            </a:extLst>
          </p:cNvPr>
          <p:cNvSpPr/>
          <p:nvPr/>
        </p:nvSpPr>
        <p:spPr>
          <a:xfrm>
            <a:off x="9956800" y="2133600"/>
            <a:ext cx="1841500" cy="1498600"/>
          </a:xfrm>
          <a:prstGeom prst="rect">
            <a:avLst/>
          </a:prstGeom>
          <a:solidFill>
            <a:srgbClr val="F3F5F7"/>
          </a:solidFill>
          <a:ln w="1143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F6A1505B-5D8D-8445-FD47-49006DC1EBD6}"/>
              </a:ext>
            </a:extLst>
          </p:cNvPr>
          <p:cNvSpPr txBox="1"/>
          <p:nvPr/>
        </p:nvSpPr>
        <p:spPr>
          <a:xfrm>
            <a:off x="10083800" y="2387600"/>
            <a:ext cx="15875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语义通信评估</a:t>
            </a:r>
          </a:p>
        </p:txBody>
      </p:sp>
      <p:sp>
        <p:nvSpPr>
          <p:cNvPr id="41" name="文本框 40">
            <a:extLst>
              <a:ext uri="{FF2B5EF4-FFF2-40B4-BE49-F238E27FC236}">
                <a16:creationId xmlns:a16="http://schemas.microsoft.com/office/drawing/2014/main" id="{F6DBAB8F-C444-81BB-E281-5C43FFB565B9}"/>
              </a:ext>
            </a:extLst>
          </p:cNvPr>
          <p:cNvSpPr txBox="1"/>
          <p:nvPr/>
        </p:nvSpPr>
        <p:spPr>
          <a:xfrm>
            <a:off x="10109200" y="2844800"/>
            <a:ext cx="1536700" cy="615553"/>
          </a:xfrm>
          <a:prstGeom prst="rect">
            <a:avLst/>
          </a:prstGeom>
          <a:noFill/>
        </p:spPr>
        <p:txBody>
          <a:bodyPr vert="horz" wrap="square" lIns="0" tIns="0" rIns="0" bIns="0" rtlCol="0">
            <a:spAutoFit/>
          </a:bodyPr>
          <a:lstStyle/>
          <a:p>
            <a:pPr algn="ctr"/>
            <a:r>
              <a:rPr lang="zh-CN" altLang="en-US" sz="1000">
                <a:solidFill>
                  <a:srgbClr val="222222"/>
                </a:solidFill>
                <a:latin typeface="Microsoft YaHei" panose="020B0503020204020204" pitchFamily="34" charset="-122"/>
              </a:rPr>
              <a:t>消息选择</a:t>
            </a:r>
          </a:p>
          <a:p>
            <a:pPr algn="ctr"/>
            <a:r>
              <a:rPr lang="zh-CN" altLang="en-US" sz="1000">
                <a:solidFill>
                  <a:srgbClr val="222222"/>
                </a:solidFill>
                <a:latin typeface="Microsoft YaHei" panose="020B0503020204020204" pitchFamily="34" charset="-122"/>
              </a:rPr>
              <a:t>信念更新</a:t>
            </a:r>
          </a:p>
          <a:p>
            <a:pPr algn="ctr"/>
            <a:r>
              <a:rPr lang="zh-CN" altLang="en-US" sz="1000">
                <a:solidFill>
                  <a:srgbClr val="222222"/>
                </a:solidFill>
                <a:latin typeface="Microsoft YaHei" panose="020B0503020204020204" pitchFamily="34" charset="-122"/>
              </a:rPr>
              <a:t>质量</a:t>
            </a:r>
            <a:r>
              <a:rPr lang="en-US" altLang="zh-CN" sz="1000">
                <a:solidFill>
                  <a:srgbClr val="222222"/>
                </a:solidFill>
                <a:latin typeface="Microsoft YaHei" panose="020B0503020204020204" pitchFamily="34" charset="-122"/>
              </a:rPr>
              <a:t>--</a:t>
            </a:r>
            <a:r>
              <a:rPr lang="zh-CN" altLang="en-US" sz="1000">
                <a:solidFill>
                  <a:srgbClr val="222222"/>
                </a:solidFill>
                <a:latin typeface="Microsoft YaHei" panose="020B0503020204020204" pitchFamily="34" charset="-122"/>
              </a:rPr>
              <a:t>成本</a:t>
            </a:r>
          </a:p>
          <a:p>
            <a:pPr algn="ctr"/>
            <a:r>
              <a:rPr lang="zh-CN" altLang="en-US" sz="1000">
                <a:solidFill>
                  <a:srgbClr val="222222"/>
                </a:solidFill>
                <a:latin typeface="Microsoft YaHei" panose="020B0503020204020204" pitchFamily="34" charset="-122"/>
              </a:rPr>
              <a:t>鲁棒性</a:t>
            </a:r>
          </a:p>
        </p:txBody>
      </p:sp>
      <p:cxnSp>
        <p:nvCxnSpPr>
          <p:cNvPr id="42" name="直接连接符 41">
            <a:extLst>
              <a:ext uri="{FF2B5EF4-FFF2-40B4-BE49-F238E27FC236}">
                <a16:creationId xmlns:a16="http://schemas.microsoft.com/office/drawing/2014/main" id="{98D789B8-E656-EFC6-B837-1D51A1FE95CD}"/>
              </a:ext>
            </a:extLst>
          </p:cNvPr>
          <p:cNvCxnSpPr/>
          <p:nvPr/>
        </p:nvCxnSpPr>
        <p:spPr>
          <a:xfrm>
            <a:off x="6413500" y="2882900"/>
            <a:ext cx="723900" cy="0"/>
          </a:xfrm>
          <a:prstGeom prst="line">
            <a:avLst/>
          </a:prstGeom>
          <a:ln w="19050">
            <a:solidFill>
              <a:srgbClr val="7C8792"/>
            </a:solidFill>
            <a:tailEnd type="arrow"/>
          </a:ln>
        </p:spPr>
        <p:style>
          <a:lnRef idx="2">
            <a:schemeClr val="accent1"/>
          </a:lnRef>
          <a:fillRef idx="0">
            <a:schemeClr val="accent1"/>
          </a:fillRef>
          <a:effectRef idx="1">
            <a:schemeClr val="accent1"/>
          </a:effectRef>
          <a:fontRef idx="minor">
            <a:schemeClr val="tx1"/>
          </a:fontRef>
        </p:style>
      </p:cxnSp>
      <p:cxnSp>
        <p:nvCxnSpPr>
          <p:cNvPr id="43" name="直接连接符 42">
            <a:extLst>
              <a:ext uri="{FF2B5EF4-FFF2-40B4-BE49-F238E27FC236}">
                <a16:creationId xmlns:a16="http://schemas.microsoft.com/office/drawing/2014/main" id="{242ADFF1-9D0E-7568-BAB5-CD0CD0FBF767}"/>
              </a:ext>
            </a:extLst>
          </p:cNvPr>
          <p:cNvCxnSpPr/>
          <p:nvPr/>
        </p:nvCxnSpPr>
        <p:spPr>
          <a:xfrm>
            <a:off x="9232900" y="2882900"/>
            <a:ext cx="723900" cy="0"/>
          </a:xfrm>
          <a:prstGeom prst="line">
            <a:avLst/>
          </a:prstGeom>
          <a:ln w="1905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44" name="矩形 43">
            <a:extLst>
              <a:ext uri="{FF2B5EF4-FFF2-40B4-BE49-F238E27FC236}">
                <a16:creationId xmlns:a16="http://schemas.microsoft.com/office/drawing/2014/main" id="{1A0E00B3-B5A5-AC59-5EDB-400BCC991A11}"/>
              </a:ext>
            </a:extLst>
          </p:cNvPr>
          <p:cNvSpPr/>
          <p:nvPr/>
        </p:nvSpPr>
        <p:spPr>
          <a:xfrm>
            <a:off x="4826000" y="4165600"/>
            <a:ext cx="6667500" cy="965200"/>
          </a:xfrm>
          <a:prstGeom prst="rect">
            <a:avLst/>
          </a:prstGeom>
          <a:solidFill>
            <a:srgbClr val="F8FAFC"/>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66DA1D13-3CEE-CB48-6B6E-22A64AC0F090}"/>
              </a:ext>
            </a:extLst>
          </p:cNvPr>
          <p:cNvSpPr txBox="1"/>
          <p:nvPr/>
        </p:nvSpPr>
        <p:spPr>
          <a:xfrm>
            <a:off x="5181600" y="4419600"/>
            <a:ext cx="1219200" cy="230832"/>
          </a:xfrm>
          <a:prstGeom prst="rect">
            <a:avLst/>
          </a:prstGeom>
          <a:noFill/>
        </p:spPr>
        <p:txBody>
          <a:bodyPr vert="horz" wrap="square" lIns="0" tIns="0" rIns="0" bIns="0" rtlCol="0">
            <a:spAutoFit/>
          </a:bodyPr>
          <a:lstStyle/>
          <a:p>
            <a:r>
              <a:rPr lang="zh-CN" altLang="en-US" sz="1500" b="1">
                <a:solidFill>
                  <a:srgbClr val="1E4976"/>
                </a:solidFill>
                <a:latin typeface="Microsoft YaHei" panose="020B0503020204020204" pitchFamily="34" charset="-122"/>
              </a:rPr>
              <a:t>研究目标</a:t>
            </a:r>
          </a:p>
        </p:txBody>
      </p:sp>
      <p:sp>
        <p:nvSpPr>
          <p:cNvPr id="46" name="文本框 45">
            <a:extLst>
              <a:ext uri="{FF2B5EF4-FFF2-40B4-BE49-F238E27FC236}">
                <a16:creationId xmlns:a16="http://schemas.microsoft.com/office/drawing/2014/main" id="{7B40A9A3-0F50-96B9-E89F-F2526B608684}"/>
              </a:ext>
            </a:extLst>
          </p:cNvPr>
          <p:cNvSpPr txBox="1"/>
          <p:nvPr/>
        </p:nvSpPr>
        <p:spPr>
          <a:xfrm>
            <a:off x="6413500" y="4394200"/>
            <a:ext cx="4699000" cy="369332"/>
          </a:xfrm>
          <a:prstGeom prst="rect">
            <a:avLst/>
          </a:prstGeom>
          <a:noFill/>
        </p:spPr>
        <p:txBody>
          <a:bodyPr vert="horz" wrap="square" lIns="0" tIns="0" rIns="0" bIns="0" rtlCol="0">
            <a:spAutoFit/>
          </a:bodyPr>
          <a:lstStyle/>
          <a:p>
            <a:r>
              <a:rPr lang="zh-CN" altLang="en-US" sz="1200">
                <a:solidFill>
                  <a:srgbClr val="222222"/>
                </a:solidFill>
                <a:latin typeface="Microsoft YaHei" panose="020B0503020204020204" pitchFamily="34" charset="-122"/>
              </a:rPr>
              <a:t>在动态链路质量与能量约束下，重新评估选择性语义通信策略的有效性、成本收益和鲁棒性。</a:t>
            </a:r>
          </a:p>
        </p:txBody>
      </p:sp>
      <p:sp>
        <p:nvSpPr>
          <p:cNvPr id="47" name="矩形 46">
            <a:extLst>
              <a:ext uri="{FF2B5EF4-FFF2-40B4-BE49-F238E27FC236}">
                <a16:creationId xmlns:a16="http://schemas.microsoft.com/office/drawing/2014/main" id="{89435C86-C2D1-4320-7CDD-02D27BA1A01C}"/>
              </a:ext>
            </a:extLst>
          </p:cNvPr>
          <p:cNvSpPr/>
          <p:nvPr/>
        </p:nvSpPr>
        <p:spPr>
          <a:xfrm>
            <a:off x="4826000" y="5410200"/>
            <a:ext cx="2032000" cy="635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345FF462-374F-0E2D-8897-D8DD5D95DCA6}"/>
              </a:ext>
            </a:extLst>
          </p:cNvPr>
          <p:cNvSpPr/>
          <p:nvPr/>
        </p:nvSpPr>
        <p:spPr>
          <a:xfrm>
            <a:off x="4826000" y="5410200"/>
            <a:ext cx="77216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93437830-D24D-98CD-F7AC-FB8BA9642241}"/>
              </a:ext>
            </a:extLst>
          </p:cNvPr>
          <p:cNvSpPr txBox="1"/>
          <p:nvPr/>
        </p:nvSpPr>
        <p:spPr>
          <a:xfrm>
            <a:off x="5054600" y="5715000"/>
            <a:ext cx="157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链路</a:t>
            </a:r>
            <a:r>
              <a:rPr lang="en-US" altLang="zh-CN" b="1">
                <a:solidFill>
                  <a:srgbClr val="1E4976"/>
                </a:solidFill>
                <a:latin typeface="Microsoft YaHei" panose="020B0503020204020204" pitchFamily="34" charset="-122"/>
              </a:rPr>
              <a:t>/</a:t>
            </a:r>
            <a:r>
              <a:rPr lang="zh-CN" altLang="en-US" b="1">
                <a:solidFill>
                  <a:srgbClr val="1E4976"/>
                </a:solidFill>
                <a:latin typeface="Microsoft YaHei" panose="020B0503020204020204" pitchFamily="34" charset="-122"/>
              </a:rPr>
              <a:t>能量映射</a:t>
            </a:r>
          </a:p>
        </p:txBody>
      </p:sp>
      <p:sp>
        <p:nvSpPr>
          <p:cNvPr id="50" name="文本框 49">
            <a:extLst>
              <a:ext uri="{FF2B5EF4-FFF2-40B4-BE49-F238E27FC236}">
                <a16:creationId xmlns:a16="http://schemas.microsoft.com/office/drawing/2014/main" id="{D7072DAC-49D4-5E48-7060-292C25570390}"/>
              </a:ext>
            </a:extLst>
          </p:cNvPr>
          <p:cNvSpPr txBox="1"/>
          <p:nvPr/>
        </p:nvSpPr>
        <p:spPr>
          <a:xfrm>
            <a:off x="5054600" y="5778500"/>
            <a:ext cx="1574800" cy="307777"/>
          </a:xfrm>
          <a:prstGeom prst="rect">
            <a:avLst/>
          </a:prstGeom>
          <a:noFill/>
        </p:spPr>
        <p:txBody>
          <a:bodyPr vert="horz" wrap="square" lIns="0" tIns="0" rIns="0" bIns="0" rtlCol="0">
            <a:spAutoFit/>
          </a:bodyPr>
          <a:lstStyle/>
          <a:p>
            <a:pPr algn="ctr"/>
            <a:r>
              <a:rPr lang="zh-CN" altLang="en-US" sz="1000">
                <a:solidFill>
                  <a:srgbClr val="222222"/>
                </a:solidFill>
                <a:latin typeface="Microsoft YaHei" panose="020B0503020204020204" pitchFamily="34" charset="-122"/>
              </a:rPr>
              <a:t>把物理链路状态转化为语义消息约束</a:t>
            </a:r>
          </a:p>
        </p:txBody>
      </p:sp>
      <p:sp>
        <p:nvSpPr>
          <p:cNvPr id="51" name="矩形 50">
            <a:extLst>
              <a:ext uri="{FF2B5EF4-FFF2-40B4-BE49-F238E27FC236}">
                <a16:creationId xmlns:a16="http://schemas.microsoft.com/office/drawing/2014/main" id="{FE94E02D-A278-DCDC-EB65-7C9109FAEB88}"/>
              </a:ext>
            </a:extLst>
          </p:cNvPr>
          <p:cNvSpPr/>
          <p:nvPr/>
        </p:nvSpPr>
        <p:spPr>
          <a:xfrm>
            <a:off x="7175500" y="5410200"/>
            <a:ext cx="2032000" cy="635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E8863B80-A3CA-2200-5FBA-A6B19C7F732A}"/>
              </a:ext>
            </a:extLst>
          </p:cNvPr>
          <p:cNvSpPr/>
          <p:nvPr/>
        </p:nvSpPr>
        <p:spPr>
          <a:xfrm>
            <a:off x="7175500" y="5410200"/>
            <a:ext cx="77216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B1BDEDEE-D702-31A6-2205-DA05F7FF357B}"/>
              </a:ext>
            </a:extLst>
          </p:cNvPr>
          <p:cNvSpPr txBox="1"/>
          <p:nvPr/>
        </p:nvSpPr>
        <p:spPr>
          <a:xfrm>
            <a:off x="7404100" y="5715000"/>
            <a:ext cx="157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策略重评估</a:t>
            </a:r>
          </a:p>
        </p:txBody>
      </p:sp>
      <p:sp>
        <p:nvSpPr>
          <p:cNvPr id="54" name="文本框 53">
            <a:extLst>
              <a:ext uri="{FF2B5EF4-FFF2-40B4-BE49-F238E27FC236}">
                <a16:creationId xmlns:a16="http://schemas.microsoft.com/office/drawing/2014/main" id="{96652BAF-DCDC-6D06-8CB1-DB0F74BFCA3F}"/>
              </a:ext>
            </a:extLst>
          </p:cNvPr>
          <p:cNvSpPr txBox="1"/>
          <p:nvPr/>
        </p:nvSpPr>
        <p:spPr>
          <a:xfrm>
            <a:off x="7404100" y="5778500"/>
            <a:ext cx="1574800" cy="307777"/>
          </a:xfrm>
          <a:prstGeom prst="rect">
            <a:avLst/>
          </a:prstGeom>
          <a:noFill/>
        </p:spPr>
        <p:txBody>
          <a:bodyPr vert="horz" wrap="square" lIns="0" tIns="0" rIns="0" bIns="0" rtlCol="0">
            <a:spAutoFit/>
          </a:bodyPr>
          <a:lstStyle/>
          <a:p>
            <a:pPr algn="ctr"/>
            <a:r>
              <a:rPr lang="zh-CN" altLang="en-US" sz="1000">
                <a:solidFill>
                  <a:srgbClr val="222222"/>
                </a:solidFill>
                <a:latin typeface="Microsoft YaHei" panose="020B0503020204020204" pitchFamily="34" charset="-122"/>
              </a:rPr>
              <a:t>比较 </a:t>
            </a:r>
            <a:r>
              <a:rPr lang="en-US" altLang="zh-CN" sz="1000">
                <a:solidFill>
                  <a:srgbClr val="222222"/>
                </a:solidFill>
                <a:latin typeface="Microsoft YaHei" panose="020B0503020204020204" pitchFamily="34" charset="-122"/>
              </a:rPr>
              <a:t>EviComRL </a:t>
            </a:r>
            <a:r>
              <a:rPr lang="zh-CN" altLang="en-US" sz="1000">
                <a:solidFill>
                  <a:srgbClr val="222222"/>
                </a:solidFill>
                <a:latin typeface="Microsoft YaHei" panose="020B0503020204020204" pitchFamily="34" charset="-122"/>
              </a:rPr>
              <a:t>与可部署基线方法</a:t>
            </a:r>
          </a:p>
        </p:txBody>
      </p:sp>
      <p:sp>
        <p:nvSpPr>
          <p:cNvPr id="55" name="矩形 54">
            <a:extLst>
              <a:ext uri="{FF2B5EF4-FFF2-40B4-BE49-F238E27FC236}">
                <a16:creationId xmlns:a16="http://schemas.microsoft.com/office/drawing/2014/main" id="{6C882D9E-64AF-6CF7-02BC-42C85533EF62}"/>
              </a:ext>
            </a:extLst>
          </p:cNvPr>
          <p:cNvSpPr/>
          <p:nvPr/>
        </p:nvSpPr>
        <p:spPr>
          <a:xfrm>
            <a:off x="9525000" y="5410200"/>
            <a:ext cx="2032000" cy="635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17CAC530-3DBB-D1E6-7B68-619BDB42B2C0}"/>
              </a:ext>
            </a:extLst>
          </p:cNvPr>
          <p:cNvSpPr/>
          <p:nvPr/>
        </p:nvSpPr>
        <p:spPr>
          <a:xfrm>
            <a:off x="9525000" y="5410200"/>
            <a:ext cx="77216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47768DB4-9A8B-F3E3-6F77-2B316286D69A}"/>
              </a:ext>
            </a:extLst>
          </p:cNvPr>
          <p:cNvSpPr txBox="1"/>
          <p:nvPr/>
        </p:nvSpPr>
        <p:spPr>
          <a:xfrm>
            <a:off x="9753600" y="5715000"/>
            <a:ext cx="157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鲁棒性分析</a:t>
            </a:r>
          </a:p>
        </p:txBody>
      </p:sp>
      <p:sp>
        <p:nvSpPr>
          <p:cNvPr id="58" name="文本框 57">
            <a:extLst>
              <a:ext uri="{FF2B5EF4-FFF2-40B4-BE49-F238E27FC236}">
                <a16:creationId xmlns:a16="http://schemas.microsoft.com/office/drawing/2014/main" id="{1CAA2F28-A40D-723E-8015-27902B4694B6}"/>
              </a:ext>
            </a:extLst>
          </p:cNvPr>
          <p:cNvSpPr txBox="1"/>
          <p:nvPr/>
        </p:nvSpPr>
        <p:spPr>
          <a:xfrm>
            <a:off x="9753600" y="5778500"/>
            <a:ext cx="1574800" cy="307777"/>
          </a:xfrm>
          <a:prstGeom prst="rect">
            <a:avLst/>
          </a:prstGeom>
          <a:noFill/>
        </p:spPr>
        <p:txBody>
          <a:bodyPr vert="horz" wrap="square" lIns="0" tIns="0" rIns="0" bIns="0" rtlCol="0">
            <a:spAutoFit/>
          </a:bodyPr>
          <a:lstStyle/>
          <a:p>
            <a:pPr algn="ctr"/>
            <a:r>
              <a:rPr lang="zh-CN" altLang="en-US" sz="1000">
                <a:solidFill>
                  <a:srgbClr val="222222"/>
                </a:solidFill>
                <a:latin typeface="Microsoft YaHei" panose="020B0503020204020204" pitchFamily="34" charset="-122"/>
              </a:rPr>
              <a:t>观察质量、成本和资源收紧下的变化</a:t>
            </a:r>
          </a:p>
        </p:txBody>
      </p:sp>
    </p:spTree>
    <p:extLst>
      <p:ext uri="{BB962C8B-B14F-4D97-AF65-F5344CB8AC3E}">
        <p14:creationId xmlns:p14="http://schemas.microsoft.com/office/powerpoint/2010/main" val="3478268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FA93342-A578-0E2A-2E5F-582BB2758D4E}"/>
              </a:ext>
            </a:extLst>
          </p:cNvPr>
          <p:cNvSpPr/>
          <p:nvPr/>
        </p:nvSpPr>
        <p:spPr>
          <a:xfrm>
            <a:off x="0" y="0"/>
            <a:ext cx="12192000" cy="685800"/>
          </a:xfrm>
          <a:prstGeom prst="rect">
            <a:avLst/>
          </a:prstGeom>
          <a:solidFill>
            <a:srgbClr val="087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652DF57-9443-84ED-54D1-F3BE2BF73619}"/>
              </a:ext>
            </a:extLst>
          </p:cNvPr>
          <p:cNvSpPr txBox="1"/>
          <p:nvPr/>
        </p:nvSpPr>
        <p:spPr>
          <a:xfrm>
            <a:off x="381000" y="165100"/>
            <a:ext cx="9334500" cy="338554"/>
          </a:xfrm>
          <a:prstGeom prst="rect">
            <a:avLst/>
          </a:prstGeom>
          <a:noFill/>
        </p:spPr>
        <p:txBody>
          <a:bodyPr vert="horz" wrap="square" lIns="0" tIns="0" rIns="0" bIns="0" rtlCol="0">
            <a:spAutoFit/>
          </a:bodyPr>
          <a:lstStyle/>
          <a:p>
            <a:r>
              <a:rPr lang="zh-CN" altLang="en-US" sz="2200" b="1">
                <a:solidFill>
                  <a:srgbClr val="FFFFFF"/>
                </a:solidFill>
                <a:latin typeface="Microsoft YaHei" panose="020B0503020204020204" pitchFamily="34" charset="-122"/>
              </a:rPr>
              <a:t>后期计划与预期成果</a:t>
            </a:r>
          </a:p>
        </p:txBody>
      </p:sp>
      <p:sp>
        <p:nvSpPr>
          <p:cNvPr id="4" name="文本框 3">
            <a:extLst>
              <a:ext uri="{FF2B5EF4-FFF2-40B4-BE49-F238E27FC236}">
                <a16:creationId xmlns:a16="http://schemas.microsoft.com/office/drawing/2014/main" id="{62EF670F-B342-3845-8516-FB46286B66DB}"/>
              </a:ext>
            </a:extLst>
          </p:cNvPr>
          <p:cNvSpPr txBox="1"/>
          <p:nvPr/>
        </p:nvSpPr>
        <p:spPr>
          <a:xfrm>
            <a:off x="9906000" y="215900"/>
            <a:ext cx="1905000" cy="169277"/>
          </a:xfrm>
          <a:prstGeom prst="rect">
            <a:avLst/>
          </a:prstGeom>
          <a:noFill/>
        </p:spPr>
        <p:txBody>
          <a:bodyPr vert="horz" wrap="square" lIns="0" tIns="0" rIns="0" bIns="0" rtlCol="0">
            <a:spAutoFit/>
          </a:bodyPr>
          <a:lstStyle/>
          <a:p>
            <a:pPr algn="r"/>
            <a:r>
              <a:rPr lang="zh-CN" altLang="en-US" sz="1100">
                <a:solidFill>
                  <a:srgbClr val="E7F3FA"/>
                </a:solidFill>
                <a:latin typeface="Microsoft YaHei" panose="020B0503020204020204" pitchFamily="34" charset="-122"/>
              </a:rPr>
              <a:t>硕士学位中期报告</a:t>
            </a:r>
          </a:p>
        </p:txBody>
      </p:sp>
      <p:sp>
        <p:nvSpPr>
          <p:cNvPr id="5" name="文本框 4">
            <a:extLst>
              <a:ext uri="{FF2B5EF4-FFF2-40B4-BE49-F238E27FC236}">
                <a16:creationId xmlns:a16="http://schemas.microsoft.com/office/drawing/2014/main" id="{2266307D-DCE6-56AC-3680-F439C4C7ED01}"/>
              </a:ext>
            </a:extLst>
          </p:cNvPr>
          <p:cNvSpPr txBox="1"/>
          <p:nvPr/>
        </p:nvSpPr>
        <p:spPr>
          <a:xfrm>
            <a:off x="11366500" y="6413500"/>
            <a:ext cx="431800" cy="153888"/>
          </a:xfrm>
          <a:prstGeom prst="rect">
            <a:avLst/>
          </a:prstGeom>
          <a:noFill/>
        </p:spPr>
        <p:txBody>
          <a:bodyPr vert="horz" wrap="square" lIns="0" tIns="0" rIns="0" bIns="0" rtlCol="0">
            <a:spAutoFit/>
          </a:bodyPr>
          <a:lstStyle/>
          <a:p>
            <a:pPr algn="r"/>
            <a:r>
              <a:rPr lang="en-US" altLang="zh-CN" sz="1000">
                <a:solidFill>
                  <a:srgbClr val="8CA0B3"/>
                </a:solidFill>
                <a:latin typeface="Microsoft YaHei" panose="020B0503020204020204" pitchFamily="34" charset="-122"/>
              </a:rPr>
              <a:t>12</a:t>
            </a:r>
            <a:endParaRPr lang="zh-CN" altLang="en-US" sz="1000">
              <a:solidFill>
                <a:srgbClr val="8CA0B3"/>
              </a:solidFill>
              <a:latin typeface="Microsoft YaHei" panose="020B0503020204020204" pitchFamily="34" charset="-122"/>
            </a:endParaRPr>
          </a:p>
        </p:txBody>
      </p:sp>
      <p:sp>
        <p:nvSpPr>
          <p:cNvPr id="6" name="文本框 5">
            <a:extLst>
              <a:ext uri="{FF2B5EF4-FFF2-40B4-BE49-F238E27FC236}">
                <a16:creationId xmlns:a16="http://schemas.microsoft.com/office/drawing/2014/main" id="{BF99C812-BA8D-EBE3-E166-69873856A9BC}"/>
              </a:ext>
            </a:extLst>
          </p:cNvPr>
          <p:cNvSpPr txBox="1"/>
          <p:nvPr/>
        </p:nvSpPr>
        <p:spPr>
          <a:xfrm>
            <a:off x="381000" y="6413500"/>
            <a:ext cx="1778000" cy="153888"/>
          </a:xfrm>
          <a:prstGeom prst="rect">
            <a:avLst/>
          </a:prstGeom>
          <a:noFill/>
        </p:spPr>
        <p:txBody>
          <a:bodyPr vert="horz" wrap="square" lIns="0" tIns="0" rIns="0" bIns="0" rtlCol="0">
            <a:spAutoFit/>
          </a:bodyPr>
          <a:lstStyle/>
          <a:p>
            <a:r>
              <a:rPr lang="zh-CN" altLang="en-US" sz="1000">
                <a:solidFill>
                  <a:srgbClr val="8CA0B3"/>
                </a:solidFill>
                <a:latin typeface="Microsoft YaHei" panose="020B0503020204020204" pitchFamily="34" charset="-122"/>
              </a:rPr>
              <a:t>硕士学位中期报告</a:t>
            </a:r>
          </a:p>
        </p:txBody>
      </p:sp>
      <p:sp>
        <p:nvSpPr>
          <p:cNvPr id="7" name="矩形 6">
            <a:extLst>
              <a:ext uri="{FF2B5EF4-FFF2-40B4-BE49-F238E27FC236}">
                <a16:creationId xmlns:a16="http://schemas.microsoft.com/office/drawing/2014/main" id="{956E2D42-9B99-0A74-E55C-6A9800A98146}"/>
              </a:ext>
            </a:extLst>
          </p:cNvPr>
          <p:cNvSpPr/>
          <p:nvPr/>
        </p:nvSpPr>
        <p:spPr>
          <a:xfrm>
            <a:off x="660400" y="14224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2190568-1392-7290-0D81-FE3063A2E66B}"/>
              </a:ext>
            </a:extLst>
          </p:cNvPr>
          <p:cNvSpPr txBox="1"/>
          <p:nvPr/>
        </p:nvSpPr>
        <p:spPr>
          <a:xfrm>
            <a:off x="774700" y="16764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2026.07--2026.08</a:t>
            </a:r>
            <a:endParaRPr lang="zh-CN" altLang="en-US" sz="1200" b="1">
              <a:solidFill>
                <a:srgbClr val="1E4976"/>
              </a:solidFill>
              <a:latin typeface="Microsoft YaHei" panose="020B0503020204020204" pitchFamily="34" charset="-122"/>
            </a:endParaRPr>
          </a:p>
        </p:txBody>
      </p:sp>
      <p:sp>
        <p:nvSpPr>
          <p:cNvPr id="9" name="文本框 8">
            <a:extLst>
              <a:ext uri="{FF2B5EF4-FFF2-40B4-BE49-F238E27FC236}">
                <a16:creationId xmlns:a16="http://schemas.microsoft.com/office/drawing/2014/main" id="{86FE54A4-D363-63B9-FFA2-D05723ACE9DF}"/>
              </a:ext>
            </a:extLst>
          </p:cNvPr>
          <p:cNvSpPr txBox="1"/>
          <p:nvPr/>
        </p:nvSpPr>
        <p:spPr>
          <a:xfrm>
            <a:off x="800100" y="21844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统一评估框架与链路、能量状态映射设计</a:t>
            </a:r>
          </a:p>
        </p:txBody>
      </p:sp>
      <p:cxnSp>
        <p:nvCxnSpPr>
          <p:cNvPr id="10" name="直接连接符 9">
            <a:extLst>
              <a:ext uri="{FF2B5EF4-FFF2-40B4-BE49-F238E27FC236}">
                <a16:creationId xmlns:a16="http://schemas.microsoft.com/office/drawing/2014/main" id="{A8FED376-7F72-188E-27D8-64D748A8D734}"/>
              </a:ext>
            </a:extLst>
          </p:cNvPr>
          <p:cNvCxnSpPr/>
          <p:nvPr/>
        </p:nvCxnSpPr>
        <p:spPr>
          <a:xfrm>
            <a:off x="2540000" y="2260600"/>
            <a:ext cx="279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1" name="矩形 10">
            <a:extLst>
              <a:ext uri="{FF2B5EF4-FFF2-40B4-BE49-F238E27FC236}">
                <a16:creationId xmlns:a16="http://schemas.microsoft.com/office/drawing/2014/main" id="{7C199279-B987-9C37-47D0-5BAF0FE31888}"/>
              </a:ext>
            </a:extLst>
          </p:cNvPr>
          <p:cNvSpPr/>
          <p:nvPr/>
        </p:nvSpPr>
        <p:spPr>
          <a:xfrm>
            <a:off x="2857500" y="14224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F7C6560F-9485-8C00-E7CF-2F43F507C70A}"/>
              </a:ext>
            </a:extLst>
          </p:cNvPr>
          <p:cNvSpPr txBox="1"/>
          <p:nvPr/>
        </p:nvSpPr>
        <p:spPr>
          <a:xfrm>
            <a:off x="2971800" y="16764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2026.09--2026.10</a:t>
            </a:r>
            <a:endParaRPr lang="zh-CN" altLang="en-US" sz="1200" b="1">
              <a:solidFill>
                <a:srgbClr val="1E4976"/>
              </a:solidFill>
              <a:latin typeface="Microsoft YaHei" panose="020B0503020204020204" pitchFamily="34" charset="-122"/>
            </a:endParaRPr>
          </a:p>
        </p:txBody>
      </p:sp>
      <p:sp>
        <p:nvSpPr>
          <p:cNvPr id="13" name="文本框 12">
            <a:extLst>
              <a:ext uri="{FF2B5EF4-FFF2-40B4-BE49-F238E27FC236}">
                <a16:creationId xmlns:a16="http://schemas.microsoft.com/office/drawing/2014/main" id="{8A2774EE-BC8B-FFAD-A82C-81E3C1D0F908}"/>
              </a:ext>
            </a:extLst>
          </p:cNvPr>
          <p:cNvSpPr txBox="1"/>
          <p:nvPr/>
        </p:nvSpPr>
        <p:spPr>
          <a:xfrm>
            <a:off x="2997200" y="21844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动态链路质量与能量约束下的主实验</a:t>
            </a:r>
          </a:p>
        </p:txBody>
      </p:sp>
      <p:cxnSp>
        <p:nvCxnSpPr>
          <p:cNvPr id="14" name="直接连接符 13">
            <a:extLst>
              <a:ext uri="{FF2B5EF4-FFF2-40B4-BE49-F238E27FC236}">
                <a16:creationId xmlns:a16="http://schemas.microsoft.com/office/drawing/2014/main" id="{B952F588-C1B7-B3A5-E48E-03D08851DD41}"/>
              </a:ext>
            </a:extLst>
          </p:cNvPr>
          <p:cNvCxnSpPr/>
          <p:nvPr/>
        </p:nvCxnSpPr>
        <p:spPr>
          <a:xfrm>
            <a:off x="4737100" y="2260600"/>
            <a:ext cx="279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5" name="矩形 14">
            <a:extLst>
              <a:ext uri="{FF2B5EF4-FFF2-40B4-BE49-F238E27FC236}">
                <a16:creationId xmlns:a16="http://schemas.microsoft.com/office/drawing/2014/main" id="{F9371E49-B5DF-8BA7-3E4F-8734113508F0}"/>
              </a:ext>
            </a:extLst>
          </p:cNvPr>
          <p:cNvSpPr/>
          <p:nvPr/>
        </p:nvSpPr>
        <p:spPr>
          <a:xfrm>
            <a:off x="5054600" y="14224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BD33F3F6-6F77-B0DB-DDC9-EC6B739665CC}"/>
              </a:ext>
            </a:extLst>
          </p:cNvPr>
          <p:cNvSpPr txBox="1"/>
          <p:nvPr/>
        </p:nvSpPr>
        <p:spPr>
          <a:xfrm>
            <a:off x="5168900" y="16764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2026.10--2026.11</a:t>
            </a:r>
            <a:endParaRPr lang="zh-CN" altLang="en-US" sz="1200" b="1">
              <a:solidFill>
                <a:srgbClr val="1E4976"/>
              </a:solidFill>
              <a:latin typeface="Microsoft YaHei" panose="020B0503020204020204" pitchFamily="34" charset="-122"/>
            </a:endParaRPr>
          </a:p>
        </p:txBody>
      </p:sp>
      <p:sp>
        <p:nvSpPr>
          <p:cNvPr id="17" name="文本框 16">
            <a:extLst>
              <a:ext uri="{FF2B5EF4-FFF2-40B4-BE49-F238E27FC236}">
                <a16:creationId xmlns:a16="http://schemas.microsoft.com/office/drawing/2014/main" id="{A0D1CBD1-7C6B-8D17-B000-C7EE90D7465D}"/>
              </a:ext>
            </a:extLst>
          </p:cNvPr>
          <p:cNvSpPr txBox="1"/>
          <p:nvPr/>
        </p:nvSpPr>
        <p:spPr>
          <a:xfrm>
            <a:off x="5194300" y="21844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结果分析、指标整理和章节撰写</a:t>
            </a:r>
          </a:p>
        </p:txBody>
      </p:sp>
      <p:cxnSp>
        <p:nvCxnSpPr>
          <p:cNvPr id="18" name="直接连接符 17">
            <a:extLst>
              <a:ext uri="{FF2B5EF4-FFF2-40B4-BE49-F238E27FC236}">
                <a16:creationId xmlns:a16="http://schemas.microsoft.com/office/drawing/2014/main" id="{4886A5DD-6476-FBB3-CD2F-9F292942272F}"/>
              </a:ext>
            </a:extLst>
          </p:cNvPr>
          <p:cNvCxnSpPr/>
          <p:nvPr/>
        </p:nvCxnSpPr>
        <p:spPr>
          <a:xfrm>
            <a:off x="6934200" y="2260600"/>
            <a:ext cx="279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9" name="矩形 18">
            <a:extLst>
              <a:ext uri="{FF2B5EF4-FFF2-40B4-BE49-F238E27FC236}">
                <a16:creationId xmlns:a16="http://schemas.microsoft.com/office/drawing/2014/main" id="{4FB4A1D6-B314-36C9-17CA-B73CB7397CFD}"/>
              </a:ext>
            </a:extLst>
          </p:cNvPr>
          <p:cNvSpPr/>
          <p:nvPr/>
        </p:nvSpPr>
        <p:spPr>
          <a:xfrm>
            <a:off x="7251700" y="14224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84CD560-4AAD-0B72-35D7-95D7C81DE34A}"/>
              </a:ext>
            </a:extLst>
          </p:cNvPr>
          <p:cNvSpPr txBox="1"/>
          <p:nvPr/>
        </p:nvSpPr>
        <p:spPr>
          <a:xfrm>
            <a:off x="7366000" y="16764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2026.11--2026.12</a:t>
            </a:r>
            <a:endParaRPr lang="zh-CN" altLang="en-US" sz="1200" b="1">
              <a:solidFill>
                <a:srgbClr val="1E4976"/>
              </a:solidFill>
              <a:latin typeface="Microsoft YaHei" panose="020B0503020204020204" pitchFamily="34" charset="-122"/>
            </a:endParaRPr>
          </a:p>
        </p:txBody>
      </p:sp>
      <p:sp>
        <p:nvSpPr>
          <p:cNvPr id="21" name="文本框 20">
            <a:extLst>
              <a:ext uri="{FF2B5EF4-FFF2-40B4-BE49-F238E27FC236}">
                <a16:creationId xmlns:a16="http://schemas.microsoft.com/office/drawing/2014/main" id="{C49CDCA8-8761-2763-6801-FEF32C9FC363}"/>
              </a:ext>
            </a:extLst>
          </p:cNvPr>
          <p:cNvSpPr txBox="1"/>
          <p:nvPr/>
        </p:nvSpPr>
        <p:spPr>
          <a:xfrm>
            <a:off x="7391400" y="21844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学位论文初稿和相关成果整理</a:t>
            </a:r>
          </a:p>
        </p:txBody>
      </p:sp>
      <p:cxnSp>
        <p:nvCxnSpPr>
          <p:cNvPr id="22" name="直接连接符 21">
            <a:extLst>
              <a:ext uri="{FF2B5EF4-FFF2-40B4-BE49-F238E27FC236}">
                <a16:creationId xmlns:a16="http://schemas.microsoft.com/office/drawing/2014/main" id="{23AE278D-FDB6-81FA-FABC-36666E8371C4}"/>
              </a:ext>
            </a:extLst>
          </p:cNvPr>
          <p:cNvCxnSpPr/>
          <p:nvPr/>
        </p:nvCxnSpPr>
        <p:spPr>
          <a:xfrm>
            <a:off x="9131300" y="2260600"/>
            <a:ext cx="279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23" name="矩形 22">
            <a:extLst>
              <a:ext uri="{FF2B5EF4-FFF2-40B4-BE49-F238E27FC236}">
                <a16:creationId xmlns:a16="http://schemas.microsoft.com/office/drawing/2014/main" id="{1136239E-8378-C4F4-CFE4-25DF53E61A89}"/>
              </a:ext>
            </a:extLst>
          </p:cNvPr>
          <p:cNvSpPr/>
          <p:nvPr/>
        </p:nvSpPr>
        <p:spPr>
          <a:xfrm>
            <a:off x="9448800" y="14224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56F9097E-7AA7-3296-45F0-12BCA47DF5DF}"/>
              </a:ext>
            </a:extLst>
          </p:cNvPr>
          <p:cNvSpPr txBox="1"/>
          <p:nvPr/>
        </p:nvSpPr>
        <p:spPr>
          <a:xfrm>
            <a:off x="9563100" y="16764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2026.12--2027.01</a:t>
            </a:r>
            <a:endParaRPr lang="zh-CN" altLang="en-US" sz="1200" b="1">
              <a:solidFill>
                <a:srgbClr val="1E4976"/>
              </a:solidFill>
              <a:latin typeface="Microsoft YaHei" panose="020B0503020204020204" pitchFamily="34" charset="-122"/>
            </a:endParaRPr>
          </a:p>
        </p:txBody>
      </p:sp>
      <p:sp>
        <p:nvSpPr>
          <p:cNvPr id="25" name="文本框 24">
            <a:extLst>
              <a:ext uri="{FF2B5EF4-FFF2-40B4-BE49-F238E27FC236}">
                <a16:creationId xmlns:a16="http://schemas.microsoft.com/office/drawing/2014/main" id="{ECEDEBD0-6AFE-D06C-6F38-D243ECCFA5FC}"/>
              </a:ext>
            </a:extLst>
          </p:cNvPr>
          <p:cNvSpPr txBox="1"/>
          <p:nvPr/>
        </p:nvSpPr>
        <p:spPr>
          <a:xfrm>
            <a:off x="9588500" y="21844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论文修改、查重与送审准备</a:t>
            </a:r>
          </a:p>
        </p:txBody>
      </p:sp>
      <p:sp>
        <p:nvSpPr>
          <p:cNvPr id="26" name="矩形 25">
            <a:extLst>
              <a:ext uri="{FF2B5EF4-FFF2-40B4-BE49-F238E27FC236}">
                <a16:creationId xmlns:a16="http://schemas.microsoft.com/office/drawing/2014/main" id="{F16D1C10-866F-8359-613A-A812A1BAA313}"/>
              </a:ext>
            </a:extLst>
          </p:cNvPr>
          <p:cNvSpPr/>
          <p:nvPr/>
        </p:nvSpPr>
        <p:spPr>
          <a:xfrm>
            <a:off x="990600" y="3759200"/>
            <a:ext cx="3175000" cy="1524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C974425B-45AF-DD17-C6BF-FAC5DE034E3F}"/>
              </a:ext>
            </a:extLst>
          </p:cNvPr>
          <p:cNvSpPr/>
          <p:nvPr/>
        </p:nvSpPr>
        <p:spPr>
          <a:xfrm>
            <a:off x="990600" y="3759200"/>
            <a:ext cx="10795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5B76F7B6-72E2-FE1A-E567-4F09365A3E8E}"/>
              </a:ext>
            </a:extLst>
          </p:cNvPr>
          <p:cNvSpPr txBox="1"/>
          <p:nvPr/>
        </p:nvSpPr>
        <p:spPr>
          <a:xfrm>
            <a:off x="1219200" y="4038600"/>
            <a:ext cx="2717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预期成果一</a:t>
            </a:r>
          </a:p>
        </p:txBody>
      </p:sp>
      <p:sp>
        <p:nvSpPr>
          <p:cNvPr id="29" name="文本框 28">
            <a:extLst>
              <a:ext uri="{FF2B5EF4-FFF2-40B4-BE49-F238E27FC236}">
                <a16:creationId xmlns:a16="http://schemas.microsoft.com/office/drawing/2014/main" id="{35260E44-E6E3-BD4A-B7BB-437F9AD0317D}"/>
              </a:ext>
            </a:extLst>
          </p:cNvPr>
          <p:cNvSpPr txBox="1"/>
          <p:nvPr/>
        </p:nvSpPr>
        <p:spPr>
          <a:xfrm>
            <a:off x="1219200" y="4584700"/>
            <a:ext cx="2717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完成链路质量、能量状态和语义消息选择之间的统一建模。</a:t>
            </a:r>
          </a:p>
        </p:txBody>
      </p:sp>
      <p:sp>
        <p:nvSpPr>
          <p:cNvPr id="30" name="矩形 29">
            <a:extLst>
              <a:ext uri="{FF2B5EF4-FFF2-40B4-BE49-F238E27FC236}">
                <a16:creationId xmlns:a16="http://schemas.microsoft.com/office/drawing/2014/main" id="{06308661-F4AE-2E1E-18B5-F4C9AE05B875}"/>
              </a:ext>
            </a:extLst>
          </p:cNvPr>
          <p:cNvSpPr/>
          <p:nvPr/>
        </p:nvSpPr>
        <p:spPr>
          <a:xfrm>
            <a:off x="4495800" y="3759200"/>
            <a:ext cx="3175000" cy="1524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55D92E4E-C3F8-F6AE-8514-62287C006621}"/>
              </a:ext>
            </a:extLst>
          </p:cNvPr>
          <p:cNvSpPr/>
          <p:nvPr/>
        </p:nvSpPr>
        <p:spPr>
          <a:xfrm>
            <a:off x="4495800" y="3759200"/>
            <a:ext cx="10795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931A0E95-DF14-D53C-78A3-39C8B976262A}"/>
              </a:ext>
            </a:extLst>
          </p:cNvPr>
          <p:cNvSpPr txBox="1"/>
          <p:nvPr/>
        </p:nvSpPr>
        <p:spPr>
          <a:xfrm>
            <a:off x="4724400" y="4038600"/>
            <a:ext cx="2717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预期成果二</a:t>
            </a:r>
          </a:p>
        </p:txBody>
      </p:sp>
      <p:sp>
        <p:nvSpPr>
          <p:cNvPr id="33" name="文本框 32">
            <a:extLst>
              <a:ext uri="{FF2B5EF4-FFF2-40B4-BE49-F238E27FC236}">
                <a16:creationId xmlns:a16="http://schemas.microsoft.com/office/drawing/2014/main" id="{4F821EAD-18A4-B6C5-153B-CECBFF38B0F3}"/>
              </a:ext>
            </a:extLst>
          </p:cNvPr>
          <p:cNvSpPr txBox="1"/>
          <p:nvPr/>
        </p:nvSpPr>
        <p:spPr>
          <a:xfrm>
            <a:off x="4724400" y="4584700"/>
            <a:ext cx="2717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得到 </a:t>
            </a:r>
            <a:r>
              <a:rPr lang="en-US" altLang="zh-CN" sz="1400">
                <a:solidFill>
                  <a:srgbClr val="222222"/>
                </a:solidFill>
                <a:latin typeface="Microsoft YaHei" panose="020B0503020204020204" pitchFamily="34" charset="-122"/>
              </a:rPr>
              <a:t>EviComRL </a:t>
            </a:r>
            <a:r>
              <a:rPr lang="zh-CN" altLang="en-US" sz="1400">
                <a:solidFill>
                  <a:srgbClr val="222222"/>
                </a:solidFill>
                <a:latin typeface="Microsoft YaHei" panose="020B0503020204020204" pitchFamily="34" charset="-122"/>
              </a:rPr>
              <a:t>在实际传输约束下的鲁棒性分析结论。</a:t>
            </a:r>
          </a:p>
        </p:txBody>
      </p:sp>
      <p:sp>
        <p:nvSpPr>
          <p:cNvPr id="34" name="矩形 33">
            <a:extLst>
              <a:ext uri="{FF2B5EF4-FFF2-40B4-BE49-F238E27FC236}">
                <a16:creationId xmlns:a16="http://schemas.microsoft.com/office/drawing/2014/main" id="{0B4A13DD-67DB-8AEC-E46E-46C4C0A098D6}"/>
              </a:ext>
            </a:extLst>
          </p:cNvPr>
          <p:cNvSpPr/>
          <p:nvPr/>
        </p:nvSpPr>
        <p:spPr>
          <a:xfrm>
            <a:off x="8001000" y="3759200"/>
            <a:ext cx="3175000" cy="1524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1AC96B35-18EE-3A38-CE05-2F7E9F8BBA95}"/>
              </a:ext>
            </a:extLst>
          </p:cNvPr>
          <p:cNvSpPr/>
          <p:nvPr/>
        </p:nvSpPr>
        <p:spPr>
          <a:xfrm>
            <a:off x="8001000" y="3759200"/>
            <a:ext cx="10795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F381BFD9-2A81-2256-6652-4498D7EB9716}"/>
              </a:ext>
            </a:extLst>
          </p:cNvPr>
          <p:cNvSpPr txBox="1"/>
          <p:nvPr/>
        </p:nvSpPr>
        <p:spPr>
          <a:xfrm>
            <a:off x="8229600" y="4038600"/>
            <a:ext cx="2717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预期成果三</a:t>
            </a:r>
          </a:p>
        </p:txBody>
      </p:sp>
      <p:sp>
        <p:nvSpPr>
          <p:cNvPr id="37" name="文本框 36">
            <a:extLst>
              <a:ext uri="{FF2B5EF4-FFF2-40B4-BE49-F238E27FC236}">
                <a16:creationId xmlns:a16="http://schemas.microsoft.com/office/drawing/2014/main" id="{0E55E9F2-7807-D84B-4CEA-D8DAF51F8DAE}"/>
              </a:ext>
            </a:extLst>
          </p:cNvPr>
          <p:cNvSpPr txBox="1"/>
          <p:nvPr/>
        </p:nvSpPr>
        <p:spPr>
          <a:xfrm>
            <a:off x="8229600" y="4584700"/>
            <a:ext cx="2717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完成学位论文整体撰写，并形成具备投稿条件的后续研究工作。</a:t>
            </a:r>
          </a:p>
        </p:txBody>
      </p:sp>
      <p:sp>
        <p:nvSpPr>
          <p:cNvPr id="38" name="文本框 37">
            <a:extLst>
              <a:ext uri="{FF2B5EF4-FFF2-40B4-BE49-F238E27FC236}">
                <a16:creationId xmlns:a16="http://schemas.microsoft.com/office/drawing/2014/main" id="{90E069B0-1EEE-D1A5-320F-9ED89D41EA58}"/>
              </a:ext>
            </a:extLst>
          </p:cNvPr>
          <p:cNvSpPr txBox="1"/>
          <p:nvPr/>
        </p:nvSpPr>
        <p:spPr>
          <a:xfrm>
            <a:off x="4508500" y="5969000"/>
            <a:ext cx="3175000" cy="276999"/>
          </a:xfrm>
          <a:prstGeom prst="rect">
            <a:avLst/>
          </a:prstGeom>
          <a:noFill/>
        </p:spPr>
        <p:txBody>
          <a:bodyPr vert="horz" wrap="square" lIns="0" tIns="0" rIns="0" bIns="0" rtlCol="0">
            <a:spAutoFit/>
          </a:bodyPr>
          <a:lstStyle/>
          <a:p>
            <a:pPr algn="ctr"/>
            <a:r>
              <a:rPr lang="zh-CN" altLang="en-US" b="1">
                <a:solidFill>
                  <a:srgbClr val="1E4976"/>
                </a:solidFill>
                <a:latin typeface="Microsoft YaHei" panose="020B0503020204020204" pitchFamily="34" charset="-122"/>
              </a:rPr>
              <a:t>请各位老师批评指正</a:t>
            </a:r>
          </a:p>
        </p:txBody>
      </p:sp>
    </p:spTree>
    <p:extLst>
      <p:ext uri="{BB962C8B-B14F-4D97-AF65-F5344CB8AC3E}">
        <p14:creationId xmlns:p14="http://schemas.microsoft.com/office/powerpoint/2010/main" val="15512832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1461</Words>
  <Application>Microsoft Office PowerPoint</Application>
  <PresentationFormat>宽屏</PresentationFormat>
  <Paragraphs>203</Paragraphs>
  <Slides>12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等线</vt:lpstr>
      <vt:lpstr>等线 Light</vt:lpstr>
      <vt:lpstr>Microsoft YaHei</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一凡 李</dc:creator>
  <cp:lastModifiedBy>一凡 李</cp:lastModifiedBy>
  <cp:revision>2</cp:revision>
  <dcterms:created xsi:type="dcterms:W3CDTF">2026-06-23T15:43:13Z</dcterms:created>
  <dcterms:modified xsi:type="dcterms:W3CDTF">2026-06-23T18:36:01Z</dcterms:modified>
</cp:coreProperties>
</file>